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80" r:id="rId23"/>
    <p:sldId id="281" r:id="rId24"/>
    <p:sldId id="282" r:id="rId25"/>
    <p:sldId id="283" r:id="rId26"/>
    <p:sldId id="284" r:id="rId27"/>
    <p:sldId id="303" r:id="rId28"/>
    <p:sldId id="304" r:id="rId29"/>
    <p:sldId id="305" r:id="rId30"/>
    <p:sldId id="285" r:id="rId31"/>
    <p:sldId id="286" r:id="rId32"/>
    <p:sldId id="307" r:id="rId33"/>
    <p:sldId id="308" r:id="rId34"/>
    <p:sldId id="309" r:id="rId35"/>
    <p:sldId id="310" r:id="rId36"/>
    <p:sldId id="287" r:id="rId37"/>
    <p:sldId id="291" r:id="rId38"/>
    <p:sldId id="288" r:id="rId39"/>
    <p:sldId id="311" r:id="rId40"/>
    <p:sldId id="312" r:id="rId41"/>
    <p:sldId id="313" r:id="rId42"/>
    <p:sldId id="314" r:id="rId43"/>
    <p:sldId id="315" r:id="rId44"/>
    <p:sldId id="317" r:id="rId45"/>
    <p:sldId id="294" r:id="rId46"/>
    <p:sldId id="295" r:id="rId47"/>
    <p:sldId id="296" r:id="rId48"/>
    <p:sldId id="318" r:id="rId49"/>
    <p:sldId id="319" r:id="rId50"/>
    <p:sldId id="320" r:id="rId51"/>
    <p:sldId id="321" r:id="rId52"/>
    <p:sldId id="322" r:id="rId53"/>
    <p:sldId id="297" r:id="rId54"/>
    <p:sldId id="298" r:id="rId55"/>
    <p:sldId id="299" r:id="rId56"/>
    <p:sldId id="323" r:id="rId57"/>
    <p:sldId id="324" r:id="rId58"/>
    <p:sldId id="325" r:id="rId59"/>
    <p:sldId id="326" r:id="rId60"/>
    <p:sldId id="300" r:id="rId61"/>
    <p:sldId id="301" r:id="rId62"/>
    <p:sldId id="302" r:id="rId63"/>
    <p:sldId id="327" r:id="rId64"/>
    <p:sldId id="328" r:id="rId65"/>
    <p:sldId id="329" r:id="rId66"/>
    <p:sldId id="330" r:id="rId67"/>
    <p:sldId id="331" r:id="rId68"/>
    <p:sldId id="332" r:id="rId6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2" Type="http://schemas.openxmlformats.org/officeDocument/2006/relationships/tableStyles" Target="tableStyles.xml"/><Relationship Id="rId71" Type="http://schemas.openxmlformats.org/officeDocument/2006/relationships/viewProps" Target="viewProps.xml"/><Relationship Id="rId70" Type="http://schemas.openxmlformats.org/officeDocument/2006/relationships/presProps" Target="presProps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87.xml"/><Relationship Id="rId1" Type="http://schemas.openxmlformats.org/officeDocument/2006/relationships/tags" Target="../tags/tag8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93.xml"/><Relationship Id="rId1" Type="http://schemas.openxmlformats.org/officeDocument/2006/relationships/tags" Target="../tags/tag9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95.xml"/><Relationship Id="rId1" Type="http://schemas.openxmlformats.org/officeDocument/2006/relationships/tags" Target="../tags/tag9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99.xml"/><Relationship Id="rId1" Type="http://schemas.openxmlformats.org/officeDocument/2006/relationships/tags" Target="../tags/tag9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01.xml"/><Relationship Id="rId1" Type="http://schemas.openxmlformats.org/officeDocument/2006/relationships/tags" Target="../tags/tag10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05.xml"/><Relationship Id="rId1" Type="http://schemas.openxmlformats.org/officeDocument/2006/relationships/tags" Target="../tags/tag104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" Type="http://schemas.openxmlformats.org/officeDocument/2006/relationships/tags" Target="../tags/tag10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10.xml"/><Relationship Id="rId1" Type="http://schemas.openxmlformats.org/officeDocument/2006/relationships/tags" Target="../tags/tag109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tags" Target="../tags/tag1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15.xml"/><Relationship Id="rId1" Type="http://schemas.openxmlformats.org/officeDocument/2006/relationships/tags" Target="../tags/tag1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17.xml"/><Relationship Id="rId1" Type="http://schemas.openxmlformats.org/officeDocument/2006/relationships/tags" Target="../tags/tag11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19.xml"/><Relationship Id="rId1" Type="http://schemas.openxmlformats.org/officeDocument/2006/relationships/tags" Target="../tags/tag1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21.xml"/><Relationship Id="rId1" Type="http://schemas.openxmlformats.org/officeDocument/2006/relationships/tags" Target="../tags/tag12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23.xml"/><Relationship Id="rId1" Type="http://schemas.openxmlformats.org/officeDocument/2006/relationships/tags" Target="../tags/tag12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25.xml"/><Relationship Id="rId1" Type="http://schemas.openxmlformats.org/officeDocument/2006/relationships/tags" Target="../tags/tag124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8.xml"/><Relationship Id="rId2" Type="http://schemas.openxmlformats.org/officeDocument/2006/relationships/tags" Target="../tags/tag127.xml"/><Relationship Id="rId1" Type="http://schemas.openxmlformats.org/officeDocument/2006/relationships/tags" Target="../tags/tag12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30.xml"/><Relationship Id="rId1" Type="http://schemas.openxmlformats.org/officeDocument/2006/relationships/tags" Target="../tags/tag12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32.xml"/><Relationship Id="rId1" Type="http://schemas.openxmlformats.org/officeDocument/2006/relationships/tags" Target="../tags/tag13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34.xml"/><Relationship Id="rId1" Type="http://schemas.openxmlformats.org/officeDocument/2006/relationships/tags" Target="../tags/tag13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36.xml"/><Relationship Id="rId1" Type="http://schemas.openxmlformats.org/officeDocument/2006/relationships/tags" Target="../tags/tag13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38.xml"/><Relationship Id="rId1" Type="http://schemas.openxmlformats.org/officeDocument/2006/relationships/tags" Target="../tags/tag137.xml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" Type="http://schemas.openxmlformats.org/officeDocument/2006/relationships/tags" Target="../tags/tag139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143.xml"/><Relationship Id="rId2" Type="http://schemas.openxmlformats.org/officeDocument/2006/relationships/image" Target="../media/image1.png"/><Relationship Id="rId1" Type="http://schemas.openxmlformats.org/officeDocument/2006/relationships/tags" Target="../tags/tag14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45.xml"/><Relationship Id="rId1" Type="http://schemas.openxmlformats.org/officeDocument/2006/relationships/tags" Target="../tags/tag14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47.xml"/><Relationship Id="rId1" Type="http://schemas.openxmlformats.org/officeDocument/2006/relationships/tags" Target="../tags/tag14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49.xml"/><Relationship Id="rId1" Type="http://schemas.openxmlformats.org/officeDocument/2006/relationships/tags" Target="../tags/tag14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51.xml"/><Relationship Id="rId1" Type="http://schemas.openxmlformats.org/officeDocument/2006/relationships/tags" Target="../tags/tag15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53.xml"/><Relationship Id="rId1" Type="http://schemas.openxmlformats.org/officeDocument/2006/relationships/tags" Target="../tags/tag15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55.xml"/><Relationship Id="rId1" Type="http://schemas.openxmlformats.org/officeDocument/2006/relationships/tags" Target="../tags/tag154.xml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58.xml"/><Relationship Id="rId2" Type="http://schemas.openxmlformats.org/officeDocument/2006/relationships/tags" Target="../tags/tag157.xml"/><Relationship Id="rId1" Type="http://schemas.openxmlformats.org/officeDocument/2006/relationships/tags" Target="../tags/tag15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60.xml"/><Relationship Id="rId1" Type="http://schemas.openxmlformats.org/officeDocument/2006/relationships/tags" Target="../tags/tag15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62.xml"/><Relationship Id="rId1" Type="http://schemas.openxmlformats.org/officeDocument/2006/relationships/tags" Target="../tags/tag16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64.xml"/><Relationship Id="rId1" Type="http://schemas.openxmlformats.org/officeDocument/2006/relationships/tags" Target="../tags/tag16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66.xml"/><Relationship Id="rId1" Type="http://schemas.openxmlformats.org/officeDocument/2006/relationships/tags" Target="../tags/tag16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68.xml"/><Relationship Id="rId1" Type="http://schemas.openxmlformats.org/officeDocument/2006/relationships/tags" Target="../tags/tag16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70.xml"/><Relationship Id="rId1" Type="http://schemas.openxmlformats.org/officeDocument/2006/relationships/tags" Target="../tags/tag169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72.xml"/><Relationship Id="rId1" Type="http://schemas.openxmlformats.org/officeDocument/2006/relationships/tags" Target="../tags/tag17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74.xml"/><Relationship Id="rId1" Type="http://schemas.openxmlformats.org/officeDocument/2006/relationships/tags" Target="../tags/tag173.xml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77.xml"/><Relationship Id="rId2" Type="http://schemas.openxmlformats.org/officeDocument/2006/relationships/tags" Target="../tags/tag176.xml"/><Relationship Id="rId1" Type="http://schemas.openxmlformats.org/officeDocument/2006/relationships/tags" Target="../tags/tag17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79.xml"/><Relationship Id="rId1" Type="http://schemas.openxmlformats.org/officeDocument/2006/relationships/tags" Target="../tags/tag178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81.xml"/><Relationship Id="rId1" Type="http://schemas.openxmlformats.org/officeDocument/2006/relationships/tags" Target="../tags/tag180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83.xml"/><Relationship Id="rId1" Type="http://schemas.openxmlformats.org/officeDocument/2006/relationships/tags" Target="../tags/tag18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85.xml"/><Relationship Id="rId1" Type="http://schemas.openxmlformats.org/officeDocument/2006/relationships/tags" Target="../tags/tag18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87.xml"/><Relationship Id="rId1" Type="http://schemas.openxmlformats.org/officeDocument/2006/relationships/tags" Target="../tags/tag18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89.xml"/><Relationship Id="rId1" Type="http://schemas.openxmlformats.org/officeDocument/2006/relationships/tags" Target="../tags/tag188.xml"/></Relationships>
</file>

<file path=ppt/slides/_rels/slide5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92.xml"/><Relationship Id="rId2" Type="http://schemas.openxmlformats.org/officeDocument/2006/relationships/tags" Target="../tags/tag191.xml"/><Relationship Id="rId1" Type="http://schemas.openxmlformats.org/officeDocument/2006/relationships/tags" Target="../tags/tag190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94.xml"/><Relationship Id="rId1" Type="http://schemas.openxmlformats.org/officeDocument/2006/relationships/tags" Target="../tags/tag19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96.xml"/><Relationship Id="rId1" Type="http://schemas.openxmlformats.org/officeDocument/2006/relationships/tags" Target="../tags/tag195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98.xml"/><Relationship Id="rId1" Type="http://schemas.openxmlformats.org/officeDocument/2006/relationships/tags" Target="../tags/tag19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200.xml"/><Relationship Id="rId1" Type="http://schemas.openxmlformats.org/officeDocument/2006/relationships/tags" Target="../tags/tag199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202.xml"/><Relationship Id="rId1" Type="http://schemas.openxmlformats.org/officeDocument/2006/relationships/tags" Target="../tags/tag20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204.xml"/><Relationship Id="rId1" Type="http://schemas.openxmlformats.org/officeDocument/2006/relationships/tags" Target="../tags/tag20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206.xml"/><Relationship Id="rId1" Type="http://schemas.openxmlformats.org/officeDocument/2006/relationships/tags" Target="../tags/tag205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208.xml"/><Relationship Id="rId1" Type="http://schemas.openxmlformats.org/officeDocument/2006/relationships/tags" Target="../tags/tag20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 sz="4000" b="1"/>
              <a:t>Embedded C Coding Standard</a:t>
            </a:r>
            <a:endParaRPr lang="en-US" altLang="en-US" sz="4000" b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en-US" altLang="en-US" b="1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 sz="3200" b="1">
                <a:latin typeface="Times New Roman" panose="02020603050405020304" charset="0"/>
                <a:cs typeface="Times New Roman" panose="02020603050405020304" charset="0"/>
              </a:rPr>
              <a:t>Introduction</a:t>
            </a:r>
            <a:endParaRPr lang="en-US" altLang="en-US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 b="1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charset="0"/>
                <a:cs typeface="Times New Roman" panose="02020603050405020304" charset="0"/>
              </a:rPr>
              <a:t>Purpose of the Standard</a:t>
            </a:r>
            <a:endParaRPr lang="en-US" altLang="en-US" b="1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IN" altLang="en-US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charset="0"/>
                <a:cs typeface="Times New Roman" panose="02020603050405020304" charset="0"/>
              </a:rPr>
              <a:t>                </a:t>
            </a:r>
            <a:r>
              <a:rPr lang="en-US" altLang="en-US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charset="0"/>
                <a:cs typeface="Times New Roman" panose="02020603050405020304" charset="0"/>
              </a:rPr>
              <a:t>The primary purpose of the coding standard is to reduce software defects in embedded systems. These standards focus on preventing bugs during development instead of fixing them later.</a:t>
            </a:r>
            <a:endParaRPr lang="en-US" altLang="en-US" b="1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charset="0"/>
                <a:cs typeface="Times New Roman" panose="02020603050405020304" charset="0"/>
              </a:rPr>
              <a:t>Reduce bugs in embedded software and firmware.</a:t>
            </a:r>
            <a:endParaRPr lang="en-US" altLang="en-US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charset="0"/>
                <a:cs typeface="Times New Roman" panose="02020603050405020304" charset="0"/>
              </a:rPr>
              <a:t>Improve reliability and maintainability.</a:t>
            </a:r>
            <a:endParaRPr lang="en-US" altLang="en-US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charset="0"/>
                <a:cs typeface="Times New Roman" panose="02020603050405020304" charset="0"/>
              </a:rPr>
              <a:t>Encourage coding practices that prevent bugs before execution.</a:t>
            </a:r>
            <a:endParaRPr lang="en-US" altLang="en-US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charset="0"/>
                <a:cs typeface="Times New Roman" panose="02020603050405020304" charset="0"/>
              </a:rPr>
              <a:t>Promote quality assurance processes.</a:t>
            </a:r>
            <a:endParaRPr lang="en-US" altLang="en-US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Benefits of Coding Standards</a:t>
            </a:r>
            <a:endParaRPr lang="en-US" alt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Coding standards help teams work consistently. They reduce confusion and improve collaboration among developers.</a:t>
            </a:r>
            <a:endParaRPr lang="en-US" altLang="en-US" b="1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Improves readability of source code.</a:t>
            </a:r>
            <a:endParaRPr lang="en-US" altLang="en-US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Enhances portability across platforms.</a:t>
            </a:r>
            <a:endParaRPr lang="en-US" altLang="en-US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Supports easier maintenance and reuse.</a:t>
            </a:r>
            <a:endParaRPr lang="en-US" altLang="en-US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Reduces time needed for code reviews and understanding peer code.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Guiding Principles</a:t>
            </a:r>
            <a:endParaRPr lang="en-US" alt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Software belongs to the organization or client.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Preventing bugs is cheaper than fixing bugs.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Static analysis and compiler checks should detect issues early.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Reliability and portability are prioritized.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  <a:sym typeface="+mn-ea"/>
              </a:rPr>
              <a:t>Principle 1: Software Ownership</a:t>
            </a:r>
            <a:endParaRPr lang="en-US" altLang="en-US" b="1">
              <a:solidFill>
                <a:schemeClr val="tx1"/>
              </a:solidFill>
              <a:sym typeface="+mn-ea"/>
            </a:endParaRPr>
          </a:p>
          <a:p>
            <a:pPr marL="0" indent="457200">
              <a:buNone/>
            </a:pPr>
            <a:r>
              <a:rPr lang="en-IN" altLang="en-US" b="1">
                <a:solidFill>
                  <a:schemeClr val="tx1"/>
                </a:solidFill>
              </a:rPr>
              <a:t>    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Embedded software is usually developed for clients or organizations. Therefore, code quality and consistency are essential.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>
              <a:buNone/>
            </a:pPr>
            <a:endParaRPr lang="en-US" altLang="en-US" b="1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>
              <a:solidFill>
                <a:schemeClr val="tx1"/>
              </a:solidFill>
              <a:highlight>
                <a:srgbClr val="FFFF00"/>
              </a:highlight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>
            <a:normAutofit lnSpcReduction="20000"/>
          </a:bodyPr>
          <a:p>
            <a:pPr>
              <a:buFont typeface="Arial" panose="020B0604020202020204" pitchFamily="34" charset="0"/>
              <a:buChar char="•"/>
            </a:pP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Developers do not personally own the software.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Software should be written professionally.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Focus on maintainability and teamwork.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Principle 3: Variability in C Language</a:t>
            </a:r>
            <a:endParaRPr lang="en-US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sym typeface="+mn-ea"/>
              </a:rPr>
              <a:t>Careful coding practices are required to ensure portability across embedded platforms.</a:t>
            </a:r>
            <a:endParaRPr lang="en-US" altLang="en-US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sym typeface="+mn-ea"/>
              </a:rPr>
              <a:t>C language behavior may vary across compilers.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sym typeface="+mn-ea"/>
              </a:rPr>
              <a:t>Undefined and implementation-defined behavior can reduce portability.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sym typeface="+mn-ea"/>
              </a:rPr>
              <a:t>Programs may behave differently on different systems.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Principle 2: Bug Prevention</a:t>
            </a:r>
            <a:endParaRPr lang="en-US" altLang="en-US" b="1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Automated tools help developers identify coding mistakes early during development.</a:t>
            </a:r>
            <a:endParaRPr lang="en-US" altLang="en-US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Preventing defects is more cost-effective.</a:t>
            </a:r>
            <a:endParaRPr lang="en-US" altLang="en-US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Use compilers, linkers, and static analysis tools.</a:t>
            </a:r>
            <a:endParaRPr lang="en-US" altLang="en-US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Detect errors before execution.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Principle 3: Variability in C Language</a:t>
            </a:r>
            <a:endParaRPr lang="en-US" altLang="en-US" b="1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Careful coding practices are required to ensure portability across embedded platforms</a:t>
            </a:r>
            <a:r>
              <a:rPr lang="en-US" altLang="en-US" b="1">
                <a:solidFill>
                  <a:schemeClr val="tx1"/>
                </a:solidFill>
              </a:rPr>
              <a:t>.</a:t>
            </a:r>
            <a:endParaRPr lang="en-US" altLang="en-US" b="1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C language behavior may vary across compilers.</a:t>
            </a:r>
            <a:endParaRPr lang="en-US" altLang="en-US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Undefined and implementation-defined behavior can reduce portability.</a:t>
            </a:r>
            <a:endParaRPr lang="en-US" altLang="en-US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Programs may behave differently on different systems.</a:t>
            </a: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Principle 4 &amp; 5: Reliability and Maintainability</a:t>
            </a:r>
            <a:endParaRPr lang="en-US" altLang="en-US" b="1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Reliability is prioritized over convenience.</a:t>
            </a:r>
            <a:endParaRPr lang="en-US" altLang="en-US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Consistent coding practices reduce maintenance bugs.</a:t>
            </a:r>
            <a:endParaRPr lang="en-US" altLang="en-US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Use fixed-width integer types like int32_t.</a:t>
            </a:r>
            <a:endParaRPr lang="en-US" altLang="en-US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Maintain clear comments and style consistency.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Principle 6 &amp; 7: MISRA-C and Enforceability</a:t>
            </a:r>
            <a:endParaRPr lang="en-US" altLang="en-US" b="1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Enforceable rules help maintain consistent code quality across projects.</a:t>
            </a:r>
            <a:endParaRPr lang="en-US" altLang="en-US" b="1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MISRA-C guidelines are stricter but valuable.</a:t>
            </a:r>
            <a:endParaRPr lang="en-US" altLang="en-US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Coding rules should be enforceable automatically.</a:t>
            </a:r>
            <a:endParaRPr lang="en-US" altLang="en-US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Use standards that can be checked using tools.</a:t>
            </a: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 sz="2800" b="1"/>
              <a:t>Deviation Procedure</a:t>
            </a:r>
            <a:endParaRPr lang="en-US" altLang="en-US" sz="2800" b="1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All release code should conform to standards.</a:t>
            </a:r>
            <a:endParaRPr lang="en-US" altLang="en-US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Deviations require project manager approval.</a:t>
            </a:r>
            <a:endParaRPr lang="en-US" altLang="en-US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Deviations should be documented clearly.</a:t>
            </a:r>
            <a:endParaRPr lang="en-US" altLang="en-US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Alternative coding standards may be adopted at project level.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 b="1">
              <a:solidFill>
                <a:schemeClr val="tx1"/>
              </a:solidFill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IN" altLang="en-US" b="1">
                <a:solidFill>
                  <a:schemeClr val="tx1"/>
                </a:solidFill>
                <a:highlight>
                  <a:srgbClr val="FFFF00"/>
                </a:highlight>
              </a:rPr>
              <a:t>1 . </a:t>
            </a:r>
            <a:r>
              <a:rPr lang="en-US" altLang="en-US" b="1">
                <a:solidFill>
                  <a:schemeClr val="tx1"/>
                </a:solidFill>
                <a:highlight>
                  <a:srgbClr val="FFFF00"/>
                </a:highlight>
              </a:rPr>
              <a:t>General Rules</a:t>
            </a:r>
            <a:r>
              <a:rPr lang="en-IN" altLang="en-US" b="1">
                <a:solidFill>
                  <a:schemeClr val="tx1"/>
                </a:solidFill>
              </a:rPr>
              <a:t> - </a:t>
            </a:r>
            <a:r>
              <a:rPr lang="en-US" altLang="en-US" b="1">
                <a:solidFill>
                  <a:schemeClr val="tx1"/>
                </a:solidFill>
              </a:rPr>
              <a:t>Rule 1</a:t>
            </a:r>
            <a:r>
              <a:rPr lang="en-IN" altLang="en-US" b="1">
                <a:solidFill>
                  <a:schemeClr val="tx1"/>
                </a:solidFill>
              </a:rPr>
              <a:t>: </a:t>
            </a:r>
            <a:r>
              <a:rPr lang="en-US" altLang="en-US" b="1">
                <a:solidFill>
                  <a:schemeClr val="tx1"/>
                </a:solidFill>
              </a:rPr>
              <a:t> Which C?</a:t>
            </a:r>
            <a:endParaRPr lang="en-US" altLang="en-US" b="1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Use ISO C99 standard.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Restrict C++ compilers to ISO C mode.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Minimize compiler-specific extensions.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Avoid mixing C and C++ within modules.</a:t>
            </a: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>
          <a:xfrm>
            <a:off x="618560" y="784160"/>
            <a:ext cx="10972800" cy="5482800"/>
          </a:xfrm>
        </p:spPr>
        <p:txBody>
          <a:bodyPr/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Rule </a:t>
            </a:r>
            <a:r>
              <a:rPr lang="en-IN" altLang="en-US" b="1">
                <a:solidFill>
                  <a:schemeClr val="tx1"/>
                </a:solidFill>
              </a:rPr>
              <a:t>2 :</a:t>
            </a:r>
            <a:r>
              <a:rPr lang="en-US" altLang="en-US" b="1">
                <a:solidFill>
                  <a:schemeClr val="tx1"/>
                </a:solidFill>
              </a:rPr>
              <a:t> Line Widths</a:t>
            </a:r>
            <a:endParaRPr lang="en-US" altLang="en-US" b="1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Maximum line width: 80 characters.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Improves readability.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Supports printed reviews and side-by-side comparisons.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Rule 3: Braces</a:t>
            </a:r>
            <a:endParaRPr lang="en-US" altLang="en-US" b="1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Always use braces for control structures.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Prevent bugs caused by missing blocks.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Left and right braces should align consistently.</a:t>
            </a: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Rule </a:t>
            </a:r>
            <a:r>
              <a:rPr lang="en-IN" altLang="en-US" b="1">
                <a:solidFill>
                  <a:schemeClr val="tx1"/>
                </a:solidFill>
              </a:rPr>
              <a:t>4:</a:t>
            </a:r>
            <a:r>
              <a:rPr lang="en-US" altLang="en-US" b="1">
                <a:solidFill>
                  <a:schemeClr val="tx1"/>
                </a:solidFill>
              </a:rPr>
              <a:t> Parentheses</a:t>
            </a:r>
            <a:endParaRPr lang="en-US" altLang="en-US" b="1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Do not rely on operator precedence.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Use parentheses for clarity.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Improve readability and maintainability.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Rule</a:t>
            </a:r>
            <a:r>
              <a:rPr lang="en-IN" altLang="en-US" b="1">
                <a:solidFill>
                  <a:schemeClr val="tx1"/>
                </a:solidFill>
              </a:rPr>
              <a:t> </a:t>
            </a:r>
            <a:r>
              <a:rPr lang="en-US" altLang="en-US" b="1">
                <a:solidFill>
                  <a:schemeClr val="tx1"/>
                </a:solidFill>
              </a:rPr>
              <a:t>5: Common Abbreviations</a:t>
            </a:r>
            <a:endParaRPr lang="en-US" altLang="en-US" b="1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Avoid unclear abbreviations.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Maintain project-specific abbreviation documentation.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Use consistent terminology.</a:t>
            </a: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Rule 6: Casts</a:t>
            </a:r>
            <a:endParaRPr lang="en-US" altLang="en-US" b="1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Every cast should include justification.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Prevent overflow and precision issues.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Ensure portability across systems.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Rule 7: Keywords to Avoid</a:t>
            </a:r>
            <a:endParaRPr lang="en-US" altLang="en-US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Avoid Using</a:t>
            </a:r>
            <a:endParaRPr lang="en-US" altLang="en-US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altLang="en-US">
                <a:solidFill>
                  <a:schemeClr val="tx1"/>
                </a:solidFill>
              </a:rPr>
              <a:t>1. </a:t>
            </a:r>
            <a:r>
              <a:rPr lang="en-US" altLang="en-US">
                <a:solidFill>
                  <a:schemeClr val="tx1"/>
                </a:solidFill>
              </a:rPr>
              <a:t>auto</a:t>
            </a:r>
            <a:r>
              <a:rPr lang="en-IN" altLang="en-US">
                <a:solidFill>
                  <a:schemeClr val="tx1"/>
                </a:solidFill>
              </a:rPr>
              <a:t> 2. </a:t>
            </a:r>
            <a:r>
              <a:rPr lang="en-US" altLang="en-US">
                <a:solidFill>
                  <a:schemeClr val="tx1"/>
                </a:solidFill>
              </a:rPr>
              <a:t>register</a:t>
            </a:r>
            <a:r>
              <a:rPr lang="en-IN" altLang="en-US">
                <a:solidFill>
                  <a:schemeClr val="tx1"/>
                </a:solidFill>
              </a:rPr>
              <a:t> 3. </a:t>
            </a:r>
            <a:r>
              <a:rPr lang="en-US" altLang="en-US">
                <a:solidFill>
                  <a:schemeClr val="tx1"/>
                </a:solidFill>
              </a:rPr>
              <a:t>goto</a:t>
            </a:r>
            <a:r>
              <a:rPr lang="en-IN" altLang="en-US">
                <a:solidFill>
                  <a:schemeClr val="tx1"/>
                </a:solidFill>
              </a:rPr>
              <a:t>  4. </a:t>
            </a:r>
            <a:r>
              <a:rPr lang="en-US" altLang="en-US">
                <a:solidFill>
                  <a:schemeClr val="tx1"/>
                </a:solidFill>
              </a:rPr>
              <a:t>continue</a:t>
            </a:r>
            <a:r>
              <a:rPr lang="en-IN" altLang="en-US">
                <a:solidFill>
                  <a:schemeClr val="tx1"/>
                </a:solidFill>
              </a:rPr>
              <a:t> 5. </a:t>
            </a:r>
            <a:r>
              <a:rPr lang="en-US" altLang="en-US">
                <a:solidFill>
                  <a:schemeClr val="tx1"/>
                </a:solidFill>
              </a:rPr>
              <a:t>break outside switch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Reason</a:t>
            </a:r>
            <a:endParaRPr lang="en-US" altLang="en-US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These keywords may reduce readability and increase complexity.</a:t>
            </a: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>
            <a:normAutofit fontScale="90000" lnSpcReduction="20000"/>
          </a:bodyPr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Rule</a:t>
            </a:r>
            <a:r>
              <a:rPr lang="en-IN" altLang="en-US" b="1">
                <a:solidFill>
                  <a:schemeClr val="tx1"/>
                </a:solidFill>
              </a:rPr>
              <a:t> </a:t>
            </a:r>
            <a:r>
              <a:rPr lang="en-US" altLang="en-US" b="1">
                <a:solidFill>
                  <a:schemeClr val="tx1"/>
                </a:solidFill>
              </a:rPr>
              <a:t>8: Keywords to Use Frequently</a:t>
            </a:r>
            <a:endParaRPr lang="en-US" altLang="en-US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Important Keywords</a:t>
            </a:r>
            <a:endParaRPr lang="en-US" altLang="en-US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altLang="en-US">
                <a:solidFill>
                  <a:schemeClr val="tx1"/>
                </a:solidFill>
              </a:rPr>
              <a:t>1.</a:t>
            </a:r>
            <a:r>
              <a:rPr lang="en-US" altLang="en-US">
                <a:solidFill>
                  <a:schemeClr val="tx1"/>
                </a:solidFill>
              </a:rPr>
              <a:t>static</a:t>
            </a:r>
            <a:r>
              <a:rPr lang="en-IN" altLang="en-US">
                <a:solidFill>
                  <a:schemeClr val="tx1"/>
                </a:solidFill>
              </a:rPr>
              <a:t>  2.</a:t>
            </a:r>
            <a:r>
              <a:rPr lang="en-US" altLang="en-US">
                <a:solidFill>
                  <a:schemeClr val="tx1"/>
                </a:solidFill>
              </a:rPr>
              <a:t>const</a:t>
            </a:r>
            <a:r>
              <a:rPr lang="en-IN" altLang="en-US">
                <a:solidFill>
                  <a:schemeClr val="tx1"/>
                </a:solidFill>
              </a:rPr>
              <a:t>  3. </a:t>
            </a:r>
            <a:r>
              <a:rPr lang="en-US" altLang="en-US">
                <a:solidFill>
                  <a:schemeClr val="tx1"/>
                </a:solidFill>
              </a:rPr>
              <a:t>volatile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Benefits</a:t>
            </a:r>
            <a:endParaRPr lang="en-US" altLang="en-US" b="1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Reduces module coupling.</a:t>
            </a:r>
            <a:endParaRPr lang="en-US" altLang="en-US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Prevents unintended modification.</a:t>
            </a:r>
            <a:endParaRPr lang="en-US" altLang="en-US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Avoids optimization-related bugs.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altLang="en-US" b="1">
                <a:solidFill>
                  <a:schemeClr val="tx1"/>
                </a:solidFill>
              </a:rPr>
              <a:t>EXAMPLE:</a:t>
            </a:r>
            <a:endParaRPr lang="en-IN" altLang="en-US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/******************************************************************************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 File Name   : battery_monitor.c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 Description : Example program following Embedded C Coding Standards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 Author     </a:t>
            </a:r>
            <a:r>
              <a:rPr lang="en-IN" altLang="en-US">
                <a:solidFill>
                  <a:schemeClr val="tx1"/>
                </a:solidFill>
              </a:rPr>
              <a:t>  </a:t>
            </a:r>
            <a:r>
              <a:rPr lang="en-US" altLang="en-US">
                <a:solidFill>
                  <a:schemeClr val="tx1"/>
                </a:solidFill>
              </a:rPr>
              <a:t> : </a:t>
            </a:r>
            <a:r>
              <a:rPr lang="en-IN" altLang="en-US">
                <a:solidFill>
                  <a:schemeClr val="tx1"/>
                </a:solidFill>
              </a:rPr>
              <a:t>Harish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******************************************************************************/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#include &lt;stdint.h&gt;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#include &lt;stdbool.h&gt;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/* Rule</a:t>
            </a:r>
            <a:r>
              <a:rPr lang="en-IN" altLang="en-US">
                <a:solidFill>
                  <a:schemeClr val="tx1"/>
                </a:solidFill>
              </a:rPr>
              <a:t>  </a:t>
            </a:r>
            <a:r>
              <a:rPr lang="en-US" altLang="en-US">
                <a:solidFill>
                  <a:schemeClr val="tx1"/>
                </a:solidFill>
              </a:rPr>
              <a:t>8 - const Keyword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 Constant values should use const keyword.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 This prevents accidental modification.</a:t>
            </a:r>
            <a:r>
              <a:rPr lang="en-IN" altLang="en-US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*/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static const uint16_t MAX_BATTERY_VOLTAGE = 4200U;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static const uint16_t MIN_BATTERY_VOLTAGE = 3200U;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/* Rule </a:t>
            </a:r>
            <a:r>
              <a:rPr lang="en-IN" altLang="en-US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8 - volatile Keyword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 Volatile is used because this variable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 may be updated by an interrupt service routine.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 This prevents compiler optimization issues.</a:t>
            </a:r>
            <a:r>
              <a:rPr lang="en-IN" altLang="en-US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*/</a:t>
            </a: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static volatile uint16_t adc_battery_value = 0U;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/>
              <a:t>/* Rule</a:t>
            </a:r>
            <a:r>
              <a:rPr lang="en-IN" altLang="en-US"/>
              <a:t> </a:t>
            </a:r>
            <a:r>
              <a:rPr lang="en-US" altLang="en-US"/>
              <a:t>8 - static Keyword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* Static limits function visibility to this file only.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* This reduces module coupling. */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static uint16_t read_battery_voltage(void);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static void monitor_battery(void);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/******************************************************************************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 Function Name : main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 Description  </a:t>
            </a:r>
            <a:r>
              <a:rPr lang="en-IN" altLang="en-US">
                <a:solidFill>
                  <a:schemeClr val="tx1"/>
                </a:solidFill>
              </a:rPr>
              <a:t>   </a:t>
            </a:r>
            <a:r>
              <a:rPr lang="en-US" altLang="en-US">
                <a:solidFill>
                  <a:schemeClr val="tx1"/>
                </a:solidFill>
              </a:rPr>
              <a:t> : Main function of battery monitoring system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******************************************************************************/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int main(void)</a:t>
            </a:r>
            <a:r>
              <a:rPr lang="en-IN" altLang="en-US">
                <a:solidFill>
                  <a:srgbClr val="FF0000"/>
                </a:solidFill>
              </a:rPr>
              <a:t> </a:t>
            </a:r>
            <a:r>
              <a:rPr lang="en-US" altLang="en-US">
                <a:solidFill>
                  <a:srgbClr val="FF0000"/>
                </a:solidFill>
              </a:rPr>
              <a:t>{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/>
              <a:t>    /* Rule</a:t>
            </a:r>
            <a:r>
              <a:rPr lang="en-IN" altLang="en-US"/>
              <a:t> </a:t>
            </a:r>
            <a:r>
              <a:rPr lang="en-US" altLang="en-US"/>
              <a:t>3 - Braces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* Braces are always used even for single statements.</a:t>
            </a:r>
            <a:r>
              <a:rPr lang="en-IN" altLang="en-US"/>
              <a:t> </a:t>
            </a:r>
            <a:r>
              <a:rPr lang="en-US" altLang="en-US"/>
              <a:t> */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/* Infinite loop used in embedded systems */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</a:t>
            </a:r>
            <a:r>
              <a:rPr lang="en-US" altLang="en-US">
                <a:solidFill>
                  <a:srgbClr val="FF0000"/>
                </a:solidFill>
              </a:rPr>
              <a:t>while (true){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    monitor_battery(); }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</a:t>
            </a:r>
            <a:r>
              <a:rPr lang="en-IN" altLang="en-US">
                <a:solidFill>
                  <a:srgbClr val="FF0000"/>
                </a:solidFill>
              </a:rPr>
              <a:t>     </a:t>
            </a:r>
            <a:r>
              <a:rPr lang="en-US" altLang="en-US">
                <a:solidFill>
                  <a:srgbClr val="FF0000"/>
                </a:solidFill>
              </a:rPr>
              <a:t> return 0;</a:t>
            </a:r>
            <a:r>
              <a:rPr lang="en-IN" altLang="en-US">
                <a:solidFill>
                  <a:srgbClr val="FF0000"/>
                </a:solidFill>
              </a:rPr>
              <a:t>  </a:t>
            </a:r>
            <a:r>
              <a:rPr lang="en-US" altLang="en-US">
                <a:solidFill>
                  <a:srgbClr val="FF0000"/>
                </a:solidFill>
              </a:rPr>
              <a:t>}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/******************************************************************************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* Function Name : read_battery_voltage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* Description   </a:t>
            </a:r>
            <a:r>
              <a:rPr lang="en-IN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  </a:t>
            </a: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: Simulates ADC battery reading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******************************************************************************/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static uint16_t read_battery_voltage(void)</a:t>
            </a:r>
            <a:r>
              <a:rPr lang="en-IN" altLang="en-US">
                <a:solidFill>
                  <a:srgbClr val="FF0000"/>
                </a:solidFill>
              </a:rPr>
              <a:t> </a:t>
            </a:r>
            <a:r>
              <a:rPr lang="en-US" altLang="en-US">
                <a:solidFill>
                  <a:srgbClr val="FF0000"/>
                </a:solidFill>
              </a:rPr>
              <a:t>{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/>
              <a:t>    /* Simulated ADC value */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</a:t>
            </a:r>
            <a:r>
              <a:rPr lang="en-US" altLang="en-US">
                <a:solidFill>
                  <a:srgbClr val="FF0000"/>
                </a:solidFill>
              </a:rPr>
              <a:t>adc_battery_value = 3500U;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return adc_battery_value;</a:t>
            </a:r>
            <a:r>
              <a:rPr lang="en-IN" altLang="en-US">
                <a:solidFill>
                  <a:srgbClr val="FF0000"/>
                </a:solidFill>
              </a:rPr>
              <a:t> </a:t>
            </a:r>
            <a:r>
              <a:rPr lang="en-US" altLang="en-US">
                <a:solidFill>
                  <a:srgbClr val="FF0000"/>
                </a:solidFill>
              </a:rPr>
              <a:t>}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/******************************************************************************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 Function Name : monitor_battery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 Description   : Checks battery voltage range safely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******************************************************************************/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static void monitor_battery(void)</a:t>
            </a:r>
            <a:r>
              <a:rPr lang="en-IN" altLang="en-US">
                <a:solidFill>
                  <a:srgbClr val="FF0000"/>
                </a:solidFill>
              </a:rPr>
              <a:t> </a:t>
            </a:r>
            <a:r>
              <a:rPr lang="en-US" altLang="en-US">
                <a:solidFill>
                  <a:srgbClr val="FF0000"/>
                </a:solidFill>
              </a:rPr>
              <a:t>{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uint16_t battery_voltage;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 /* Read voltage from ADC */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 </a:t>
            </a:r>
            <a:r>
              <a:rPr lang="en-US" altLang="en-US">
                <a:solidFill>
                  <a:srgbClr val="FF0000"/>
                </a:solidFill>
              </a:rPr>
              <a:t>battery_voltage = read_battery_voltage();</a:t>
            </a:r>
            <a:endParaRPr lang="en-US" altLang="en-US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en-US"/>
              <a:t>/* Rule 4 - Parentheses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* Parentheses are used for clarity instead of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* relying on operator precedence.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* Rule 3 - Braces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* Braces are always used for control structures.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* This improves readability and prevents bugs.</a:t>
            </a:r>
            <a:r>
              <a:rPr lang="en-IN" altLang="en-US"/>
              <a:t> </a:t>
            </a:r>
            <a:r>
              <a:rPr lang="en-US" altLang="en-US"/>
              <a:t> */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</a:t>
            </a:r>
            <a:r>
              <a:rPr lang="en-US" altLang="en-US">
                <a:solidFill>
                  <a:srgbClr val="FF0000"/>
                </a:solidFill>
              </a:rPr>
              <a:t> if ((battery_voltage &gt; MIN_BATTERY_VOLTAGE) &amp;&amp;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    (battery_voltage &lt; MAX_BATTERY_VOLTAGE</a:t>
            </a:r>
            <a:r>
              <a:rPr lang="en-IN" altLang="en-US">
                <a:solidFill>
                  <a:srgbClr val="FF0000"/>
                </a:solidFill>
              </a:rPr>
              <a:t>)</a:t>
            </a:r>
            <a:r>
              <a:rPr lang="en-US" altLang="en-US">
                <a:solidFill>
                  <a:srgbClr val="FF0000"/>
                </a:solidFill>
              </a:rPr>
              <a:t> {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/* Rule 2 - Comments        * NOTE comments explain important information.*/</a:t>
            </a:r>
            <a:r>
              <a:rPr lang="en-IN" altLang="en-US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    /* NOTE</a:t>
            </a:r>
            <a:r>
              <a:rPr lang="en-IN" altLang="en-US">
                <a:solidFill>
                  <a:schemeClr val="tx1"/>
                </a:solidFill>
              </a:rPr>
              <a:t>  </a:t>
            </a:r>
            <a:r>
              <a:rPr lang="en-US" altLang="en-US">
                <a:solidFill>
                  <a:schemeClr val="tx1"/>
                </a:solidFill>
              </a:rPr>
              <a:t>  * Battery voltage is within safe operating range</a:t>
            </a:r>
            <a:r>
              <a:rPr lang="en-IN" altLang="en-US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   */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}</a:t>
            </a:r>
            <a:r>
              <a:rPr lang="en-IN" altLang="en-US">
                <a:solidFill>
                  <a:srgbClr val="FF0000"/>
                </a:solidFill>
              </a:rPr>
              <a:t> </a:t>
            </a:r>
            <a:r>
              <a:rPr lang="en-US" altLang="en-US">
                <a:solidFill>
                  <a:srgbClr val="FF0000"/>
                </a:solidFill>
              </a:rPr>
              <a:t> </a:t>
            </a:r>
            <a:endParaRPr lang="en-US" altLang="en-US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else</a:t>
            </a:r>
            <a:r>
              <a:rPr lang="en-IN" altLang="en-US">
                <a:solidFill>
                  <a:srgbClr val="FF0000"/>
                </a:solidFill>
              </a:rPr>
              <a:t> </a:t>
            </a:r>
            <a:r>
              <a:rPr lang="en-US" altLang="en-US">
                <a:solidFill>
                  <a:srgbClr val="FF0000"/>
                </a:solidFill>
              </a:rPr>
              <a:t>{</a:t>
            </a:r>
            <a:r>
              <a:rPr lang="en-IN" altLang="en-US">
                <a:solidFill>
                  <a:srgbClr val="FF0000"/>
                </a:solidFill>
              </a:rPr>
              <a:t> </a:t>
            </a:r>
            <a:r>
              <a:rPr lang="en-US" altLang="en-US"/>
              <a:t> </a:t>
            </a:r>
            <a:r>
              <a:rPr lang="en-US" altLang="en-US">
                <a:solidFill>
                  <a:schemeClr val="tx1"/>
                </a:solidFill>
              </a:rPr>
              <a:t>/* Rule 2 - Comment</a:t>
            </a:r>
            <a:r>
              <a:rPr lang="en-IN" altLang="en-US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 * WARNING comments highlight critical risks.*/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/>
              <a:t>  </a:t>
            </a:r>
            <a:r>
              <a:rPr lang="en-US" altLang="en-US">
                <a:solidFill>
                  <a:schemeClr val="tx1"/>
                </a:solidFill>
              </a:rPr>
              <a:t>/* WARNING</a:t>
            </a:r>
            <a:r>
              <a:rPr lang="en-IN" altLang="en-US">
                <a:solidFill>
                  <a:schemeClr val="tx1"/>
                </a:solidFill>
              </a:rPr>
              <a:t>: </a:t>
            </a:r>
            <a:r>
              <a:rPr lang="en-US" altLang="en-US">
                <a:solidFill>
                  <a:schemeClr val="tx1"/>
                </a:solidFill>
              </a:rPr>
              <a:t>* Battery voltage is outside safe limits</a:t>
            </a:r>
            <a:r>
              <a:rPr lang="en-IN" altLang="en-US">
                <a:solidFill>
                  <a:schemeClr val="tx1"/>
                </a:solidFill>
              </a:rPr>
              <a:t>  </a:t>
            </a:r>
            <a:r>
              <a:rPr lang="en-US" altLang="en-US">
                <a:solidFill>
                  <a:schemeClr val="tx1"/>
                </a:solidFill>
              </a:rPr>
              <a:t> * System maintenance may be required.</a:t>
            </a:r>
            <a:r>
              <a:rPr lang="en-IN" altLang="en-US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*/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/>
              <a:t>  </a:t>
            </a:r>
            <a:r>
              <a:rPr lang="en-US" altLang="en-US">
                <a:solidFill>
                  <a:srgbClr val="FF0000"/>
                </a:solidFill>
              </a:rPr>
              <a:t>  }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/* Rule 6 - Casts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  * Explicit type casting is documented carefully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  * to avoid overflow and portability issues. */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</a:t>
            </a:r>
            <a:r>
              <a:rPr lang="en-US" altLang="en-US">
                <a:solidFill>
                  <a:srgbClr val="FF0000"/>
                </a:solidFill>
              </a:rPr>
              <a:t>{   int32_t signed_voltage;</a:t>
            </a:r>
            <a:r>
              <a:rPr lang="en-IN" altLang="en-US">
                <a:solidFill>
                  <a:srgbClr val="FF0000"/>
                </a:solidFill>
              </a:rPr>
              <a:t> </a:t>
            </a:r>
            <a:endParaRPr lang="en-IN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altLang="en-US">
                <a:solidFill>
                  <a:srgbClr val="FF0000"/>
                </a:solidFill>
              </a:rPr>
              <a:t>       </a:t>
            </a:r>
            <a:r>
              <a:rPr lang="en-US" altLang="en-US">
                <a:solidFill>
                  <a:srgbClr val="FF0000"/>
                </a:solidFill>
              </a:rPr>
              <a:t>signed_voltage = (int32_t)battery_voltage;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/* Rule 2 - TODO Commen</a:t>
            </a:r>
            <a:r>
              <a:rPr lang="en-IN" altLang="en-US">
                <a:solidFill>
                  <a:schemeClr val="tx1"/>
                </a:solidFill>
              </a:rPr>
              <a:t>  </a:t>
            </a:r>
            <a:r>
              <a:rPr lang="en-US" altLang="en-US">
                <a:solidFill>
                  <a:schemeClr val="tx1"/>
                </a:solidFill>
              </a:rPr>
              <a:t>  * TODO comments indicate future work</a:t>
            </a:r>
            <a:r>
              <a:rPr lang="en-IN" altLang="en-US">
                <a:solidFill>
                  <a:schemeClr val="tx1"/>
                </a:solidFill>
              </a:rPr>
              <a:t>  </a:t>
            </a:r>
            <a:r>
              <a:rPr lang="en-US" altLang="en-US">
                <a:solidFill>
                  <a:schemeClr val="tx1"/>
                </a:solidFill>
              </a:rPr>
              <a:t> */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/* TODO</a:t>
            </a:r>
            <a:r>
              <a:rPr lang="en-IN" altLang="en-US">
                <a:solidFill>
                  <a:schemeClr val="tx1"/>
                </a:solidFill>
              </a:rPr>
              <a:t> :  </a:t>
            </a:r>
            <a:r>
              <a:rPr lang="en-US" altLang="en-US">
                <a:solidFill>
                  <a:schemeClr val="tx1"/>
                </a:solidFill>
              </a:rPr>
              <a:t>* Add fault logging mechanism in future release.</a:t>
            </a:r>
            <a:r>
              <a:rPr lang="en-IN" altLang="en-US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*/</a:t>
            </a:r>
            <a:br>
              <a:rPr lang="en-US" altLang="en-US">
                <a:solidFill>
                  <a:schemeClr val="tx1"/>
                </a:solidFill>
              </a:rPr>
            </a:br>
            <a:r>
              <a:rPr lang="en-IN" altLang="en-US">
                <a:solidFill>
                  <a:srgbClr val="FF0000"/>
                </a:solidFill>
              </a:rPr>
              <a:t>}</a:t>
            </a:r>
            <a:endParaRPr lang="en-IN" altLang="en-US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/* Rule 1.2 - Line Width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  * Lines are formatted below 80 characters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  * for readability and review purpose</a:t>
            </a:r>
            <a:r>
              <a:rPr lang="en-IN" altLang="en-US">
                <a:solidFill>
                  <a:schemeClr val="tx1"/>
                </a:solidFill>
              </a:rPr>
              <a:t>s.</a:t>
            </a:r>
            <a:r>
              <a:rPr lang="en-US" altLang="en-US">
                <a:solidFill>
                  <a:schemeClr val="tx1"/>
                </a:solidFill>
              </a:rPr>
              <a:t>     */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 /* Rule 1.5 - Common Abbreviations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  * Clear variable names like battery_voltage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  * are used instead of unclear abbreviations. *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 /* Rule 1.7 - Keywords to Avoid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  * This program avoids: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  * goto, auto, register, continue,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  * and break outside switch statements.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  */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}</a:t>
            </a:r>
            <a:endParaRPr lang="en-US" altLang="en-US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IN" altLang="en-US" sz="2800" b="1">
                <a:solidFill>
                  <a:schemeClr val="tx1"/>
                </a:solidFill>
              </a:rPr>
              <a:t>2. </a:t>
            </a:r>
            <a:r>
              <a:rPr lang="en-US" altLang="en-US" sz="2800" b="1">
                <a:solidFill>
                  <a:schemeClr val="tx1"/>
                </a:solidFill>
              </a:rPr>
              <a:t>Comments</a:t>
            </a:r>
            <a:endParaRPr lang="en-US" altLang="en-US" sz="2800" b="1">
              <a:solidFill>
                <a:schemeClr val="tx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90000" lnSpcReduction="20000"/>
          </a:bodyPr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Acceptable Comment Formats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Key Points</a:t>
            </a:r>
            <a:endParaRPr lang="en-US" altLang="en-US" b="1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Use both // and /* */ comments appropriately.</a:t>
            </a:r>
            <a:endParaRPr lang="en-US" altLang="en-US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Never nest comments.</a:t>
            </a:r>
            <a:endParaRPr lang="en-US" altLang="en-US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Do not comment out code blocks.</a:t>
            </a:r>
            <a:endParaRPr lang="en-US" altLang="en-US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Use #if 0 for temporary disabling.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rgbClr val="C00000"/>
                </a:solidFill>
              </a:rPr>
              <a:t>Writing Effective Comments</a:t>
            </a:r>
            <a:endParaRPr lang="en-US" altLang="en-US" b="1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Best Practices</a:t>
            </a:r>
            <a:endParaRPr lang="en-US" altLang="en-US" b="1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Write clear and grammatically correct comments.</a:t>
            </a:r>
            <a:endParaRPr lang="en-US" altLang="en-US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Explain WHY, not obvious details.</a:t>
            </a:r>
            <a:endParaRPr lang="en-US" altLang="en-US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Keep comments proportional to code complexity.</a:t>
            </a:r>
            <a:endParaRPr lang="en-US" altLang="en-US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Include references to external sources.</a:t>
            </a: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Special Comment Markers</a:t>
            </a:r>
            <a:r>
              <a:rPr lang="en-IN" altLang="en-US" b="1">
                <a:solidFill>
                  <a:schemeClr val="tx1"/>
                </a:solidFill>
              </a:rPr>
              <a:t>	</a:t>
            </a:r>
            <a:endParaRPr lang="en-IN" altLang="en-US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Important Tags</a:t>
            </a:r>
            <a:endParaRPr lang="en-US" altLang="en-US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WARNING</a:t>
            </a:r>
            <a:r>
              <a:rPr lang="en-IN" altLang="en-US">
                <a:solidFill>
                  <a:schemeClr val="tx1"/>
                </a:solidFill>
              </a:rPr>
              <a:t>, </a:t>
            </a:r>
            <a:r>
              <a:rPr lang="en-US" altLang="en-US">
                <a:solidFill>
                  <a:schemeClr val="tx1"/>
                </a:solidFill>
              </a:rPr>
              <a:t>NOTE</a:t>
            </a:r>
            <a:r>
              <a:rPr lang="en-IN" altLang="en-US">
                <a:solidFill>
                  <a:schemeClr val="tx1"/>
                </a:solidFill>
              </a:rPr>
              <a:t>, T</a:t>
            </a:r>
            <a:r>
              <a:rPr lang="en-US" altLang="en-US">
                <a:solidFill>
                  <a:schemeClr val="tx1"/>
                </a:solidFill>
              </a:rPr>
              <a:t>ODO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Doxygen Documentation</a:t>
            </a:r>
            <a:endParaRPr lang="en-US" altLang="en-US" b="1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Use Doxygen-compatible comments.</a:t>
            </a:r>
            <a:endParaRPr lang="en-US" altLang="en-US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Automatically generate documentation.</a:t>
            </a:r>
            <a:endParaRPr lang="en-US" altLang="en-US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Keep documentation close to source code.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IN" altLang="en-US" sz="2800" b="1">
                <a:solidFill>
                  <a:schemeClr val="tx1"/>
                </a:solidFill>
              </a:rPr>
              <a:t>3 . </a:t>
            </a:r>
            <a:r>
              <a:rPr lang="en-US" altLang="en-US" sz="2800" b="1">
                <a:solidFill>
                  <a:schemeClr val="tx1"/>
                </a:solidFill>
              </a:rPr>
              <a:t>White Space</a:t>
            </a:r>
            <a:endParaRPr lang="en-US" altLang="en-US" sz="2800" b="1">
              <a:solidFill>
                <a:schemeClr val="tx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White Space Rules Overview</a:t>
            </a:r>
            <a:endParaRPr lang="en-US" altLang="en-US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White space improves readability.</a:t>
            </a:r>
            <a:endParaRPr lang="en-US" altLang="en-US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Consistent formatting makes maintenance easier.</a:t>
            </a:r>
            <a:endParaRPr lang="en-US" altLang="en-US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Proper spacing reduces confusion in complex expressions.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Rule1: Spaces</a:t>
            </a:r>
            <a:endParaRPr lang="en-US" altLang="en-US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Consistent spacing improves readability and helps developers quickly understand code logic.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Add spaces after keywords like if, while, and return.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Binary operators should have spaces around them.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No unnecessary spaces inside parentheses.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Function calls should not contain spaces before parentheses.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Rule 1: Operators and Parentheses</a:t>
            </a:r>
            <a:endParaRPr lang="en-US" altLang="en-US" b="1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Proper operator spacing prevents ambiguity and improves code clarity.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Use spaces around operators.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No spaces beside array brackets or function parentheses.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Pointer operators should follow standard spacing rules.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Rule 2: Alignment</a:t>
            </a:r>
            <a:endParaRPr lang="en-US" altLang="en-US" b="1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Alignment creates visually organized code and improves maintainability.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Align variable names in declarations.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Align assignment operators.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Align structure members consistently.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Preprocessor directives should start in column 1.</a:t>
            </a: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Rule 3</a:t>
            </a:r>
            <a:r>
              <a:rPr lang="en-IN" altLang="en-US" b="1">
                <a:solidFill>
                  <a:schemeClr val="tx1"/>
                </a:solidFill>
              </a:rPr>
              <a:t>:</a:t>
            </a:r>
            <a:r>
              <a:rPr lang="en-US" altLang="en-US" b="1">
                <a:solidFill>
                  <a:schemeClr val="tx1"/>
                </a:solidFill>
              </a:rPr>
              <a:t> Blank Lines</a:t>
            </a:r>
            <a:endParaRPr lang="en-US" altLang="en-US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Blank lines separate logical sections and make code easier to scan during reviews.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One statement per line.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Add blank lines around logical code blocks.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Source files should end with a blank line.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Rule 4: Indentation</a:t>
            </a:r>
            <a:endParaRPr lang="en-US" altLang="en-US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Proper indentation improves structure visibility and reduces nesting confusion.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Use 4 spaces for indentation.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Indent case blocks inside switch.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Indent wrapped lines clearly.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Rule 5: Tabs</a:t>
            </a:r>
            <a:endParaRPr lang="en-US" altLang="en-US" b="1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Tab characters should never be used in source code.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Use spaces instead of tabs for consistent formatting.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Prevents alignment issues across different editors and IDEs.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Rule 6: Linefeeds</a:t>
            </a:r>
            <a:endParaRPr lang="en-US" altLang="en-US" b="1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Source code lines should end with LF (0x0A).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Maintain consistent line ending format across the project.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Prevents compatibility issues between operating systems.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Benefits of Proper White Space</a:t>
            </a:r>
            <a:endParaRPr lang="en-US" altLang="en-US" b="1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Makes reviews easier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Encourages consistent coding style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Reduces maintenance effort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>
            <a:normAutofit fontScale="80000"/>
          </a:bodyPr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#include &lt;stdint.h&gt;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#include &lt;stdbool.h&gt;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#define MAX_TEMP 100U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/* Rule 4 - Indentation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* 4 spaces are used consistently</a:t>
            </a:r>
            <a:r>
              <a:rPr lang="en-IN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*/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void monitor_temperature(void)</a:t>
            </a:r>
            <a:r>
              <a:rPr lang="en-IN" altLang="en-US">
                <a:solidFill>
                  <a:srgbClr val="FF0000"/>
                </a:solidFill>
              </a:rPr>
              <a:t> </a:t>
            </a:r>
            <a:r>
              <a:rPr lang="en-US" altLang="en-US">
                <a:solidFill>
                  <a:srgbClr val="FF0000"/>
                </a:solidFill>
              </a:rPr>
              <a:t>{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uint16_t temperature;</a:t>
            </a:r>
            <a:br>
              <a:rPr lang="en-US" altLang="en-US">
                <a:solidFill>
                  <a:srgbClr val="FF0000"/>
                </a:solidFill>
              </a:rPr>
            </a:b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/* Rule 3 - Blank Lines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    * Blank lines separate logical sections. */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temperature = 75U;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 /* Rule 1 - Spaces</a:t>
            </a:r>
            <a:endParaRPr lang="en-US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     * Spaces are used after keywords and</a:t>
            </a:r>
            <a:r>
              <a:rPr lang="en-I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 * around operators for readability.</a:t>
            </a:r>
            <a:endParaRPr lang="en-US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* No unnecessary spaces inside parentheses.*/</a:t>
            </a:r>
            <a:endParaRPr lang="en-US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endParaRPr lang="en-US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>
            <a:normAutofit fontScale="90000"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r>
              <a:rPr lang="en-US" altLang="en-US">
                <a:solidFill>
                  <a:srgbClr val="FF0000"/>
                </a:solidFill>
              </a:rPr>
              <a:t>  if ((temperature &gt; 0U) &amp;&amp;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    (temperature &lt; MAX_TEMP))  {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/>
              <a:t>     </a:t>
            </a: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  /* Temperature is within safe range */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/>
              <a:t> </a:t>
            </a:r>
            <a:r>
              <a:rPr lang="en-US" altLang="en-US">
                <a:solidFill>
                  <a:srgbClr val="FF0000"/>
                </a:solidFill>
              </a:rPr>
              <a:t>   }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/>
              <a:t>    </a:t>
            </a:r>
            <a:r>
              <a:rPr lang="en-US" altLang="en-US">
                <a:solidFill>
                  <a:srgbClr val="FF0000"/>
                </a:solidFill>
              </a:rPr>
              <a:t>else {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   </a:t>
            </a:r>
            <a:r>
              <a:rPr lang="en-US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 /* Temperature exceeds safe limit */</a:t>
            </a:r>
            <a:r>
              <a:rPr lang="en-I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  </a:t>
            </a:r>
            <a:r>
              <a:rPr lang="en-US" altLang="en-US">
                <a:solidFill>
                  <a:srgbClr val="FF0000"/>
                </a:solidFill>
              </a:rPr>
              <a:t>}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/* Rule 4 - Indentation</a:t>
            </a:r>
            <a:endParaRPr lang="en-US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     * Wrapped lines are indented clearly</a:t>
            </a:r>
            <a:r>
              <a:rPr lang="en-I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 */</a:t>
            </a:r>
            <a:endParaRPr lang="en-US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>
                <a:solidFill>
                  <a:srgbClr val="FF0000"/>
                </a:solidFill>
              </a:rPr>
              <a:t>switch (temperature) { 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altLang="en-US">
                <a:solidFill>
                  <a:srgbClr val="FF0000"/>
                </a:solidFill>
              </a:rPr>
              <a:t>            </a:t>
            </a:r>
            <a:r>
              <a:rPr lang="en-US" altLang="en-US">
                <a:solidFill>
                  <a:srgbClr val="FF0000"/>
                </a:solidFill>
              </a:rPr>
              <a:t>case 75U:</a:t>
            </a:r>
            <a:r>
              <a:rPr lang="en-IN" altLang="en-US">
                <a:solidFill>
                  <a:srgbClr val="FF0000"/>
                </a:solidFill>
              </a:rPr>
              <a:t> </a:t>
            </a:r>
            <a:r>
              <a:rPr lang="en-US" altLang="en-US">
                <a:solidFill>
                  <a:srgbClr val="FF0000"/>
                </a:solidFill>
              </a:rPr>
              <a:t> 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{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/* Rule 4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            * case block properly indented.</a:t>
            </a:r>
            <a:r>
              <a:rPr lang="en-IN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*/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>
            <a:normAutofit fontScale="80000"/>
          </a:bodyPr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 break; 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altLang="en-US">
                <a:solidFill>
                  <a:srgbClr val="FF0000"/>
                </a:solidFill>
              </a:rPr>
              <a:t>}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   default: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    {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        break;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    }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}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</a:t>
            </a: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 /* Rule 5 - Tabs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    * Only spaces are used for indentation.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    * Tab characters are avoided.</a:t>
            </a:r>
            <a:r>
              <a:rPr lang="en-IN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*/</a:t>
            </a:r>
            <a:b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/* Rule 6 - Linefeeds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    * Source code uses LF (0x0A)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    * for consistent line endings</a:t>
            </a:r>
            <a:r>
              <a:rPr lang="en-IN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*/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IN" altLang="en-US" sz="2800" b="1">
                <a:solidFill>
                  <a:schemeClr val="tx1"/>
                </a:solidFill>
              </a:rPr>
              <a:t>4. </a:t>
            </a:r>
            <a:r>
              <a:rPr lang="en-US" altLang="en-US" sz="2800" b="1">
                <a:solidFill>
                  <a:schemeClr val="tx1"/>
                </a:solidFill>
              </a:rPr>
              <a:t>Modules</a:t>
            </a:r>
            <a:endParaRPr lang="en-US" altLang="en-US" sz="2800" b="1">
              <a:solidFill>
                <a:schemeClr val="tx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70000"/>
          </a:bodyPr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Rule 1: Naming Conventions</a:t>
            </a:r>
            <a:endParaRPr lang="en-US" altLang="en-US" b="1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Naming consistency ensures portability and avoids conflicts with system libraries.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Use only lowercase letters, numbers, and underscores.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File names must be unique in first 8 characters.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Avoid standard library names.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main() file must include “main” in name.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Rule 2: Header Files</a:t>
            </a:r>
            <a:endParaRPr lang="en-US" altLang="en-US" b="1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Headers define interface only — not implementation.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One .h per .c file.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Must use include guards.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Only declarations allowed.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No #include inside header files.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pPr marL="0" indent="0">
              <a:buFont typeface="Arial" panose="020B0604020202020204" pitchFamily="34" charset="0"/>
              <a:buNone/>
            </a:pPr>
            <a:r>
              <a:rPr lang="en-US" altLang="en-US" b="1">
                <a:solidFill>
                  <a:schemeClr val="tx1"/>
                </a:solidFill>
              </a:rPr>
              <a:t>Rule</a:t>
            </a:r>
            <a:r>
              <a:rPr lang="en-IN" altLang="en-US" b="1">
                <a:solidFill>
                  <a:schemeClr val="tx1"/>
                </a:solidFill>
              </a:rPr>
              <a:t> </a:t>
            </a:r>
            <a:r>
              <a:rPr lang="en-US" altLang="en-US" b="1">
                <a:solidFill>
                  <a:schemeClr val="tx1"/>
                </a:solidFill>
              </a:rPr>
              <a:t>3: Source Files</a:t>
            </a:r>
            <a:endParaRPr lang="en-US" altLang="en-US" b="1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This ensures modular, testable, and maintainable code.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One module = one responsibility.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Fixed file structure order.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Must include its own header.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No absolute paths in includes.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Rule 4: File Templates</a:t>
            </a:r>
            <a:endParaRPr lang="en-US" altLang="en-US" b="1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Templates standardize structure and improve team productivity.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Standard templates must be used.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Ensures consistency across project.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Reduces onboarding effort.</a:t>
            </a: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pPr marL="0" indent="0">
              <a:buNone/>
            </a:pPr>
            <a:r>
              <a:rPr lang="en-US" altLang="en-US" b="1">
                <a:solidFill>
                  <a:schemeClr val="accent1">
                    <a:lumMod val="75000"/>
                  </a:schemeClr>
                </a:solidFill>
              </a:rPr>
              <a:t>File: battery_main.c</a:t>
            </a:r>
            <a:b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/******************************************************************************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* Rule 1 - Naming Conventions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* File name uses lowercase letters and underscores.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* File contains main(), so "main" is included in filename.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******************************************************************************/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#include "battery_main.h"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/* Rule 3 - Source Files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* Source file includes its own header file.</a:t>
            </a:r>
            <a:r>
              <a:rPr lang="en-IN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*</a:t>
            </a: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/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/* Rule 3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* Static variable used only inside this module.*/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static uint16_t battery_voltage = 0U;</a:t>
            </a:r>
            <a:endParaRPr lang="en-US" altLang="en-US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/* Rule 3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* Private function prototype. */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static void monitor_battery(void);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/******************************************************************************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* Function Name : main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* Description   : Main function for battery monitoring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******************************************************************************/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int main(void)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{   monitor_battery();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return 0;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}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en-US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/******************************************************************************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* Function Name : monitor_battery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* Description   : Reads and checks battery voltage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******************************************************************************/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static void monitor_battery(void)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{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battery_voltage = 3700U;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}</a:t>
            </a:r>
            <a:endParaRPr lang="en-US" altLang="en-US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pPr marL="0" indent="0">
              <a:buNone/>
            </a:pPr>
            <a:r>
              <a:rPr lang="en-US" alt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battery_main.h</a:t>
            </a:r>
            <a:endParaRPr lang="en-US" altLang="en-US" b="1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/******************************************************************************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* Rule 2 - Header Files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* Header file contains declarations only.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******************************************************************************/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endParaRPr lang="en-US" altLang="en-US" b="1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#ifndef BATTERY_MAIN_H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#define BATTERY_MAIN_H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#include &lt;stdint.h&gt;</a:t>
            </a:r>
            <a:endParaRPr lang="en-US" altLang="en-US" b="1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/* Public function declaration */</a:t>
            </a:r>
            <a:endParaRPr lang="en-US" altLang="en-US" b="1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void battery_init(void);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#endif</a:t>
            </a:r>
            <a:endParaRPr lang="en-US" altLang="en-US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IN" altLang="en-US" sz="3200" b="1"/>
              <a:t>5. </a:t>
            </a:r>
            <a:r>
              <a:rPr lang="en-US" altLang="en-US" sz="3200" b="1"/>
              <a:t>Data Types</a:t>
            </a:r>
            <a:endParaRPr lang="en-US" altLang="en-US" sz="3200" b="1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Rule 1: Naming Conventions</a:t>
            </a:r>
            <a:endParaRPr lang="en-US" altLang="en-US" b="1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Suffix _t makes custom types easily identifiable.</a:t>
            </a:r>
            <a:r>
              <a:rPr lang="en-IN" altLang="en-US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Data types must end with _t.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Use lowercase naming.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Must use typedef.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Rule 2: Fixed-Width Integers</a:t>
            </a:r>
            <a:endParaRPr lang="en-US" altLang="en-US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Ensures consistent behavior across different compilers.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Use int8_t, uint16_t, etc.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Avoid int, short, long.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Use fixed width for portability.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Content Placeholder 4"/>
          <p:cNvPicPr>
            <a:picLocks noChangeAspect="1"/>
          </p:cNvPicPr>
          <p:nvPr>
            <p:ph sz="quarter" idx="13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65530" y="652145"/>
            <a:ext cx="9759315" cy="2352675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1000125" y="3292475"/>
            <a:ext cx="10268585" cy="29800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buNone/>
            </a:pPr>
            <a:endParaRPr lang="en-US" altLang="en-US" b="1">
              <a:sym typeface="+mn-ea"/>
            </a:endParaRPr>
          </a:p>
          <a:p>
            <a:pPr marL="0" indent="0">
              <a:buNone/>
            </a:pPr>
            <a:r>
              <a:rPr lang="en-US" altLang="en-US" b="1">
                <a:sym typeface="+mn-ea"/>
              </a:rPr>
              <a:t>Rule 3: Signed Integers</a:t>
            </a:r>
            <a:endParaRPr lang="en-US" altLang="en-US" b="1">
              <a:solidFill>
                <a:schemeClr val="tx1"/>
              </a:solidFill>
            </a:endParaRPr>
          </a:p>
          <a:p>
            <a:pPr marL="0" indent="0">
              <a:buNone/>
            </a:pPr>
            <a:br>
              <a:rPr lang="en-US" altLang="en-US">
                <a:sym typeface="+mn-ea"/>
              </a:rPr>
            </a:br>
            <a:r>
              <a:rPr lang="en-US" altLang="en-US">
                <a:sym typeface="+mn-ea"/>
              </a:rPr>
              <a:t>Prevents unexpected overflow and undefined behavior.</a:t>
            </a:r>
            <a:br>
              <a:rPr lang="en-US" altLang="en-US">
                <a:sym typeface="+mn-ea"/>
              </a:rPr>
            </a:b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ym typeface="+mn-ea"/>
              </a:rPr>
              <a:t>No bitwise operations on signed types.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ym typeface="+mn-ea"/>
              </a:rPr>
              <a:t>Avoid mixing signed and unsigned.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ym typeface="+mn-ea"/>
              </a:rPr>
              <a:t>Use u suffix for constants.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Rule 4: Floating Point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br>
              <a:rPr lang="en-US" altLang="en-US">
                <a:solidFill>
                  <a:schemeClr val="tx1"/>
                </a:solidFill>
              </a:rPr>
            </a:br>
            <a:r>
              <a:rPr lang="en-US" altLang="en-US">
                <a:solidFill>
                  <a:schemeClr val="tx1"/>
                </a:solidFill>
              </a:rPr>
              <a:t>Floating point can cause precision errors in embedded systems.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Avoid floating point if possible.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Use fixed-point math instead.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Never compare floats directly.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  <a:sym typeface="+mn-ea"/>
              </a:rPr>
              <a:t>Rule 5: Structures &amp; Unions</a:t>
            </a:r>
            <a:endParaRPr lang="en-US" altLang="en-US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sym typeface="+mn-ea"/>
              </a:rPr>
              <a:t>Ensures predictable memory layout for hardware registers.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  <a:sym typeface="+mn-ea"/>
              </a:rPr>
              <a:t>Prevent padding in memory-mapped structures.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  <a:sym typeface="+mn-ea"/>
              </a:rPr>
              <a:t>Maintain bit-field order carefully.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  <a:sym typeface="+mn-ea"/>
              </a:rPr>
              <a:t>Used for hardware communication.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#include &lt;stdint.h&gt;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#include &lt;stdbool.h&gt;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/******************************************************************************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 Rule 1 - Naming Conventions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 Custom data type ends with _t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 typedef is used for structure definition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******************************************************************************/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typedef struct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{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uint16_t voltage;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uint16_t current;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} battery_data_t;</a:t>
            </a:r>
            <a:endParaRPr lang="en-US" altLang="en-US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/******************************************************************************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 Rule 2 - Fixed-Width Integers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 Fixed-width integers ensure portability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******************************************************************************/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static uint16_t battery_voltage = 3700U;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static int16_t temperature_offset = -5;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/******************************************************************************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 Rule 5 - Structures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 Structure used for hardware-related data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******************************************************************************/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static battery_data_t battery_status;</a:t>
            </a:r>
            <a:endParaRPr lang="en-US" altLang="en-US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/******************************************************************************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 Function Name : monitor_battery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 Description   : Demonstrates data type rules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******************************************************************************/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void monitor_battery(void)</a:t>
            </a:r>
            <a:r>
              <a:rPr lang="en-IN" altLang="en-US">
                <a:solidFill>
                  <a:srgbClr val="FF0000"/>
                </a:solidFill>
              </a:rPr>
              <a:t> </a:t>
            </a:r>
            <a:r>
              <a:rPr lang="en-US" altLang="en-US">
                <a:solidFill>
                  <a:srgbClr val="FF0000"/>
                </a:solidFill>
              </a:rPr>
              <a:t>{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 /**************************************************************************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  * Rule 2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  * Use fixed-width integers instead of int or long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  **************************************************************************/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 </a:t>
            </a:r>
            <a:r>
              <a:rPr lang="en-US" altLang="en-US">
                <a:solidFill>
                  <a:srgbClr val="FF0000"/>
                </a:solidFill>
              </a:rPr>
              <a:t>uint16_t sensor_value = 3500U;</a:t>
            </a:r>
            <a:endParaRPr lang="en-US" altLang="en-US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>
            <a:normAutofit fontScale="80000"/>
          </a:bodyPr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/**************************************************************************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  * Rule 3 - Signed Integers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  * Signed and unsigned values are NOT mixed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  * Unsigned constant uses U suffix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  **************************************************************************/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</a:t>
            </a:r>
            <a:r>
              <a:rPr lang="en-US" altLang="en-US">
                <a:solidFill>
                  <a:srgbClr val="FF0000"/>
                </a:solidFill>
              </a:rPr>
              <a:t>  if (sensor_value &gt; 3000U)  {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    battery_status.voltage = sensor_value; }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 /**************************************************************************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  * Rule 4 - Floating Point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  * Floating-point values should be avoided if possible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  * Use fixed-point math where practical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  **************************************************************************/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float temperature_value = 36.5f;</a:t>
            </a:r>
            <a:endParaRPr lang="en-US" altLang="en-US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/* Avoid direct floating-point comparison */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if (temperature_value &gt; 36.0f) {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    battery_status.current = 100U;  }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 /**************************************************************************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  * Rule 5 - Structures &amp; Unions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  * Structure used for organized hardware data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  **************************************************************************/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battery_status.voltage = battery_voltage;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battery_status.current = 150U;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}</a:t>
            </a:r>
            <a:endParaRPr lang="en-US" altLang="en-US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IN" altLang="en-US" sz="2800" b="1"/>
              <a:t>6. </a:t>
            </a:r>
            <a:r>
              <a:rPr lang="en-US" altLang="en-US" sz="2800" b="1"/>
              <a:t>Procedures</a:t>
            </a:r>
            <a:endParaRPr lang="en-US" altLang="en-US" sz="2800" b="1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90000" lnSpcReduction="20000"/>
          </a:bodyPr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Rule 1: Naming Conventions</a:t>
            </a:r>
            <a:br>
              <a:rPr lang="en-US" altLang="en-US">
                <a:solidFill>
                  <a:schemeClr val="tx1"/>
                </a:solidFill>
              </a:rPr>
            </a:br>
            <a:r>
              <a:rPr lang="en-US" altLang="en-US">
                <a:solidFill>
                  <a:schemeClr val="tx1"/>
                </a:solidFill>
              </a:rPr>
              <a:t>Clear naming improves readability and avoids compiler or library conflicts.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Procedure names must not use C/C++ keywords.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Avoid standard library names like strlen() or memset().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Names must not begin with _.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Use lowercase letters and underscores.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Public functions should start with module name.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br>
              <a:rPr lang="en-US" altLang="en-US">
                <a:solidFill>
                  <a:schemeClr val="tx1"/>
                </a:solidFill>
              </a:rPr>
            </a:br>
            <a:r>
              <a:rPr lang="en-US" altLang="en-US" b="1">
                <a:solidFill>
                  <a:schemeClr val="tx1"/>
                </a:solidFill>
              </a:rPr>
              <a:t>Rule 1: Function Naming Style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Function names should describe actions.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Use verbs in procedure names.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Use question-style naming for boolean functions.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Rule 2: Functions</a:t>
            </a:r>
            <a:endParaRPr lang="en-US" altLang="en-US" b="1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Small functions are easier to test, debug, and maintain.</a:t>
            </a:r>
            <a:r>
              <a:rPr lang="en-IN" altLang="en-US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Functions should be short and focused.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Prefer one return statement.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Public functions need prototypes.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Private functions should be static.</a:t>
            </a:r>
            <a:br>
              <a:rPr lang="en-US" altLang="en-US">
                <a:solidFill>
                  <a:schemeClr val="tx1"/>
                </a:solidFill>
              </a:rPr>
            </a:br>
            <a:endParaRPr lang="en-US" altLang="en-US"/>
          </a:p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Rule 2: Single Exit Point</a:t>
            </a:r>
            <a:endParaRPr lang="en-US" altLang="en-US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Single exit points simplify tracing and debugging.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Use only one return statement.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Return should appear at the end of function.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Improves maintainability and debugging.</a:t>
            </a: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Rule 3: Function-Like Macros</a:t>
            </a:r>
            <a:endParaRPr lang="en-US" altLang="en-US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Inline functions are safer and easier to debug than macros.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Prefer inline functions instead of macros.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Macros can cause side effects.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Use parentheses carefully in macros.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Rule 4: Tasks</a:t>
            </a:r>
            <a:endParaRPr lang="en-US" altLang="en-US" b="1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Consistent naming improves RTOS task management.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Task functions should end with _task.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Helps identify threads/tasks easily.</a:t>
            </a: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Rule 5: Interrupt Service Routines (ISR)</a:t>
            </a:r>
            <a:endParaRPr lang="en-US" altLang="en-US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ISRs require special handling because they interact directly with hardware interrupts.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ISRs must use compiler-specific ISR keywords.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ISR names should end with _isr.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ISRs should be static.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ISRs should not be called manually.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ISR Stub</a:t>
            </a:r>
            <a:endParaRPr lang="en-US" altLang="en-US" b="1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Default ISR handles unexpected interrupts.</a:t>
            </a:r>
            <a:endParaRPr lang="en-US" altLang="en-US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Prevents system crashes.</a:t>
            </a:r>
            <a:endParaRPr lang="en-US" altLang="en-US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Can disable future invalid interrupts.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>
            <a:normAutofit fontScale="80000"/>
          </a:bodyPr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#include &lt;stdint.h&gt;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#include &lt;stdbool.h&gt;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/******************************************************************************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 Rule 1 - Naming Conventions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 Public function starts with module name.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 Lowercase letters and underscores are used.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******************************************************************************/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void sensor_read_data(void);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/******************************************************************************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 Rule 2 - Functions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 Private function declared static.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******************************************************************************/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static bool led_is_on(void);</a:t>
            </a:r>
            <a:endParaRPr lang="en-US" altLang="en-US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>
            <a:normAutofit fontScale="60000"/>
          </a:bodyPr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/******************************************************************************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 Rule 3 - Inline Function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 Inline function preferred over macro.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******************************************************************************/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static inline uint16_t square_value(uint16_t value)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{  return (value * value);</a:t>
            </a:r>
            <a:r>
              <a:rPr lang="en-IN" altLang="en-US">
                <a:solidFill>
                  <a:srgbClr val="FF0000"/>
                </a:solidFill>
              </a:rPr>
              <a:t> </a:t>
            </a:r>
            <a:r>
              <a:rPr lang="en-US" altLang="en-US">
                <a:solidFill>
                  <a:srgbClr val="FF0000"/>
                </a:solidFill>
              </a:rPr>
              <a:t>}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/******************************************************************************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 Rule 4 - Task Function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 Task function ends with "_task".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******************************************************************************/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void sensor_task(void);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/******************************************************************************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 Rule 1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 Function name describes action clearly.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******************************************************************************/</a:t>
            </a: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>
            <a:normAutofit fontScale="70000"/>
          </a:bodyPr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void sensor_read_data(void)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altLang="en-US">
                <a:solidFill>
                  <a:srgbClr val="FF0000"/>
                </a:solidFill>
              </a:rPr>
              <a:t>{ </a:t>
            </a:r>
            <a:r>
              <a:rPr lang="en-US" altLang="en-US">
                <a:solidFill>
                  <a:srgbClr val="FF0000"/>
                </a:solidFill>
              </a:rPr>
              <a:t>   uint16_t sensor_value;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sensor_value = 50U;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 /* Rule 2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  * Single return point used</a:t>
            </a:r>
            <a:r>
              <a:rPr lang="en-IN" altLang="en-US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 */</a:t>
            </a:r>
            <a:r>
              <a:rPr lang="en-IN" altLang="en-US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rgbClr val="FF0000"/>
                </a:solidFill>
              </a:rPr>
              <a:t>}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/******************************************************************************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 Rule 2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 Private function uses static keyword.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 Boolean function uses question-style naming.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******************************************************************************/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static bool led_is_on(void)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{</a:t>
            </a:r>
            <a:r>
              <a:rPr lang="en-IN" altLang="en-US">
                <a:solidFill>
                  <a:srgbClr val="FF0000"/>
                </a:solidFill>
              </a:rPr>
              <a:t> </a:t>
            </a:r>
            <a:r>
              <a:rPr lang="en-US" altLang="en-US">
                <a:solidFill>
                  <a:srgbClr val="FF0000"/>
                </a:solidFill>
              </a:rPr>
              <a:t>bool b_led_status;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b_led_status = true;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return b_led_status;</a:t>
            </a:r>
            <a:r>
              <a:rPr lang="en-IN" altLang="en-US">
                <a:solidFill>
                  <a:srgbClr val="FF0000"/>
                </a:solidFill>
              </a:rPr>
              <a:t> </a:t>
            </a:r>
            <a:r>
              <a:rPr lang="en-US" altLang="en-US">
                <a:solidFill>
                  <a:srgbClr val="FF0000"/>
                </a:solidFill>
              </a:rPr>
              <a:t>}</a:t>
            </a:r>
            <a:endParaRPr lang="en-US" altLang="en-US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>
            <a:normAutofit fontScale="80000"/>
          </a:bodyPr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/******************************************************************************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 Rule 4</a:t>
            </a:r>
            <a:r>
              <a:rPr lang="en-IN" altLang="en-US">
                <a:solidFill>
                  <a:schemeClr val="tx1"/>
                </a:solidFill>
              </a:rPr>
              <a:t>  </a:t>
            </a:r>
            <a:r>
              <a:rPr lang="en-US" altLang="en-US">
                <a:solidFill>
                  <a:schemeClr val="tx1"/>
                </a:solidFill>
              </a:rPr>
              <a:t> * Task function for RTOS/thread handling.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******************************************************************************/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void sensor_task(void)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{</a:t>
            </a:r>
            <a:r>
              <a:rPr lang="en-IN" altLang="en-US">
                <a:solidFill>
                  <a:srgbClr val="FF0000"/>
                </a:solidFill>
              </a:rPr>
              <a:t> </a:t>
            </a:r>
            <a:r>
              <a:rPr lang="en-US" altLang="en-US">
                <a:solidFill>
                  <a:srgbClr val="FF0000"/>
                </a:solidFill>
              </a:rPr>
              <a:t>sensor_read_data()</a:t>
            </a:r>
            <a:r>
              <a:rPr lang="en-IN" altLang="en-US">
                <a:solidFill>
                  <a:srgbClr val="FF0000"/>
                </a:solidFill>
              </a:rPr>
              <a:t> ; </a:t>
            </a:r>
            <a:r>
              <a:rPr lang="en-US" altLang="en-US">
                <a:solidFill>
                  <a:srgbClr val="FF0000"/>
                </a:solidFill>
              </a:rPr>
              <a:t>}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/******************************************************************************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 Rule 5 - Interrupt Service Routine</a:t>
            </a:r>
            <a:r>
              <a:rPr lang="en-IN" altLang="en-US">
                <a:solidFill>
                  <a:schemeClr val="tx1"/>
                </a:solidFill>
              </a:rPr>
              <a:t> *</a:t>
            </a:r>
            <a:r>
              <a:rPr lang="en-US" altLang="en-US">
                <a:solidFill>
                  <a:schemeClr val="tx1"/>
                </a:solidFill>
              </a:rPr>
              <a:t> ISR name ends with "_isr</a:t>
            </a:r>
            <a:r>
              <a:rPr lang="en-IN" altLang="en-US">
                <a:solidFill>
                  <a:schemeClr val="tx1"/>
                </a:solidFill>
              </a:rPr>
              <a:t>  , </a:t>
            </a:r>
            <a:r>
              <a:rPr lang="en-US" altLang="en-US">
                <a:solidFill>
                  <a:schemeClr val="tx1"/>
                </a:solidFill>
              </a:rPr>
              <a:t> * ISR declared static.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******************************************************************************/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static void timer_overflow_isr(void)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{   /* Interrupt handling code *</a:t>
            </a:r>
            <a:r>
              <a:rPr lang="en-IN" altLang="en-US">
                <a:solidFill>
                  <a:srgbClr val="FF0000"/>
                </a:solidFill>
              </a:rPr>
              <a:t> / </a:t>
            </a:r>
            <a:r>
              <a:rPr lang="en-US" altLang="en-US">
                <a:solidFill>
                  <a:srgbClr val="FF0000"/>
                </a:solidFill>
              </a:rPr>
              <a:t>}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/******************************************************************************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 Rule 5 - Default ISR Stub</a:t>
            </a:r>
            <a:r>
              <a:rPr lang="en-IN" altLang="en-US">
                <a:solidFill>
                  <a:schemeClr val="tx1"/>
                </a:solidFill>
              </a:rPr>
              <a:t>   </a:t>
            </a:r>
            <a:r>
              <a:rPr lang="en-US" altLang="en-US">
                <a:solidFill>
                  <a:schemeClr val="tx1"/>
                </a:solidFill>
              </a:rPr>
              <a:t> * Handles unexpected interrupts safely.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******************************************************************************/</a:t>
            </a: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static void default_isr(void)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{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while (true)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{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    /* WARNING: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     * Unexpected interrupt detected.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     * System halted for safety.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     */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}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}</a:t>
            </a:r>
            <a:endParaRPr lang="en-US" altLang="en-US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IN" altLang="en-US" sz="2800" b="1"/>
              <a:t>7.</a:t>
            </a:r>
            <a:r>
              <a:rPr lang="en-US" altLang="en-US" sz="2800" b="1"/>
              <a:t>Variables</a:t>
            </a:r>
            <a:endParaRPr lang="en-US" altLang="en-US" sz="2800" b="1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90000" lnSpcReduction="10000"/>
          </a:bodyPr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Rule 1: Variable Naming Conventions</a:t>
            </a:r>
            <a:endParaRPr lang="en-US" altLang="en-US" b="1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romanLcPeriod"/>
            </a:pPr>
            <a:r>
              <a:rPr lang="en-US" altLang="en-US">
                <a:solidFill>
                  <a:schemeClr val="tx1"/>
                </a:solidFill>
              </a:rPr>
              <a:t>Meaningful variable names improve readability and reduce confusion during maintenance.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romanLcPeriod"/>
            </a:pPr>
            <a:r>
              <a:rPr lang="en-US" altLang="en-US">
                <a:solidFill>
                  <a:schemeClr val="tx1"/>
                </a:solidFill>
              </a:rPr>
              <a:t>Variable names must not use C/C++ keywords.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romanLcPeriod"/>
            </a:pPr>
            <a:r>
              <a:rPr lang="en-US" altLang="en-US">
                <a:solidFill>
                  <a:schemeClr val="tx1"/>
                </a:solidFill>
              </a:rPr>
              <a:t>Avoid names from standard library variables.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romanLcPeriod"/>
            </a:pPr>
            <a:r>
              <a:rPr lang="en-US" altLang="en-US">
                <a:solidFill>
                  <a:schemeClr val="tx1"/>
                </a:solidFill>
              </a:rPr>
              <a:t>Names must not begin with _.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romanLcPeriod"/>
            </a:pPr>
            <a:r>
              <a:rPr lang="en-US" altLang="en-US">
                <a:solidFill>
                  <a:schemeClr val="tx1"/>
                </a:solidFill>
              </a:rPr>
              <a:t>Use lowercase letters and underscores only.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romanLcPeriod"/>
            </a:pPr>
            <a:r>
              <a:rPr lang="en-US" altLang="en-US">
                <a:solidFill>
                  <a:schemeClr val="tx1"/>
                </a:solidFill>
              </a:rPr>
              <a:t>Variable names should be meaningful.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b="1">
                <a:solidFill>
                  <a:schemeClr val="tx1"/>
                </a:solidFill>
              </a:rPr>
              <a:t> Descriptive Naming</a:t>
            </a:r>
            <a:endParaRPr lang="en-US" altLang="en-US" b="1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romanLcPeriod"/>
            </a:pPr>
            <a:r>
              <a:rPr lang="en-US" altLang="en-US">
                <a:solidFill>
                  <a:schemeClr val="tx1"/>
                </a:solidFill>
              </a:rPr>
              <a:t>Descriptive names make code self-documenting.</a:t>
            </a:r>
            <a:r>
              <a:rPr lang="en-IN" altLang="en-US">
                <a:solidFill>
                  <a:schemeClr val="tx1"/>
                </a:solidFill>
              </a:rPr>
              <a:t>  </a:t>
            </a:r>
            <a:r>
              <a:rPr lang="en-US" altLang="en-US">
                <a:solidFill>
                  <a:schemeClr val="tx1"/>
                </a:solidFill>
              </a:rPr>
              <a:t>Variable names should describe their purpose.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romanLcPeriod"/>
            </a:pPr>
            <a:r>
              <a:rPr lang="en-US" altLang="en-US">
                <a:solidFill>
                  <a:schemeClr val="tx1"/>
                </a:solidFill>
              </a:rPr>
              <a:t>Avoid short or unclear names.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romanLcPeriod"/>
            </a:pPr>
            <a:r>
              <a:rPr lang="en-US" altLang="en-US">
                <a:solidFill>
                  <a:schemeClr val="tx1"/>
                </a:solidFill>
              </a:rPr>
              <a:t>Use underscores between words.</a:t>
            </a: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Global Variables</a:t>
            </a:r>
            <a:endParaRPr lang="en-US" altLang="en-US" b="1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romanLcPeriod"/>
            </a:pPr>
            <a:r>
              <a:rPr lang="en-US" altLang="en-US">
                <a:solidFill>
                  <a:schemeClr val="tx1"/>
                </a:solidFill>
              </a:rPr>
              <a:t>Prefixing globals reduces accidental misuse and improves visibility.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romanLcPeriod"/>
            </a:pPr>
            <a:r>
              <a:rPr lang="en-US" altLang="en-US">
                <a:solidFill>
                  <a:schemeClr val="tx1"/>
                </a:solidFill>
              </a:rPr>
              <a:t>Global variables must begin with g.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romanLcPeriod"/>
            </a:pPr>
            <a:r>
              <a:rPr lang="en-US" altLang="en-US">
                <a:solidFill>
                  <a:schemeClr val="tx1"/>
                </a:solidFill>
              </a:rPr>
              <a:t>Helps identify globally shared data.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Pointer Naming</a:t>
            </a:r>
            <a:endParaRPr lang="en-US" altLang="en-US" b="1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romanLcPeriod"/>
            </a:pPr>
            <a:r>
              <a:rPr lang="en-US" altLang="en-US">
                <a:solidFill>
                  <a:schemeClr val="tx1"/>
                </a:solidFill>
              </a:rPr>
              <a:t>Pointer prefixes help developers quickly identify memory references.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romanLcPeriod"/>
            </a:pPr>
            <a:r>
              <a:rPr lang="en-US" altLang="en-US">
                <a:solidFill>
                  <a:schemeClr val="tx1"/>
                </a:solidFill>
              </a:rPr>
              <a:t>Pointer variables begin with p.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romanLcPeriod"/>
            </a:pPr>
            <a:r>
              <a:rPr lang="en-US" altLang="en-US">
                <a:solidFill>
                  <a:schemeClr val="tx1"/>
                </a:solidFill>
              </a:rPr>
              <a:t>Pointer-to-pointer variables begin with pp.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Boolean Variable Naming</a:t>
            </a:r>
            <a:endParaRPr lang="en-US" altLang="en-US" b="1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romanLcPeriod"/>
            </a:pPr>
            <a:r>
              <a:rPr lang="en-US" altLang="en-US">
                <a:solidFill>
                  <a:schemeClr val="tx1"/>
                </a:solidFill>
              </a:rPr>
              <a:t>Question-style names improve code readability in conditions.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romanLcPeriod"/>
            </a:pPr>
            <a:r>
              <a:rPr lang="en-US" altLang="en-US">
                <a:solidFill>
                  <a:schemeClr val="tx1"/>
                </a:solidFill>
              </a:rPr>
              <a:t>Boolean-like variables begin with b.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romanLcPeriod"/>
            </a:pPr>
            <a:r>
              <a:rPr lang="en-US" altLang="en-US">
                <a:solidFill>
                  <a:schemeClr val="tx1"/>
                </a:solidFill>
              </a:rPr>
              <a:t>Names should answer a question.</a:t>
            </a: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Rule 2: Variable Initialization</a:t>
            </a:r>
            <a:endParaRPr lang="en-US" altLang="en-US" b="1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Initialization prevents undefined behavior and random memory values.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All variables must be initialized before use.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Create variables close to where they are needed.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Local Variable Creation</a:t>
            </a:r>
            <a:endParaRPr lang="en-US" altLang="en-US" b="1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romanLcPeriod"/>
            </a:pPr>
            <a:r>
              <a:rPr lang="en-US" altLang="en-US">
                <a:solidFill>
                  <a:schemeClr val="tx1"/>
                </a:solidFill>
              </a:rPr>
              <a:t>Local declarations reduce clutter and improve maintainability.</a:t>
            </a:r>
            <a:r>
              <a:rPr lang="en-IN" altLang="en-US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Declare variables close to their usage.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romanLcPeriod"/>
            </a:pPr>
            <a:r>
              <a:rPr lang="en-US" altLang="en-US">
                <a:solidFill>
                  <a:schemeClr val="tx1"/>
                </a:solidFill>
              </a:rPr>
              <a:t>Improves readability.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romanLcPeriod"/>
            </a:pPr>
            <a:r>
              <a:rPr lang="en-US" altLang="en-US">
                <a:solidFill>
                  <a:schemeClr val="tx1"/>
                </a:solidFill>
              </a:rPr>
              <a:t>Reduces unnecessary memory usage.</a:t>
            </a: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#include &lt;stdint.h&gt;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#include &lt;stdbool.h&gt;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/******************************************************************************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 Rule 1 - Global Variable Naming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 Global variables begin with 'g'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******************************************************************************/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static uint16_t g_system_voltage = 0U;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/******************************************************************************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 Rule 1 - Pointer Naming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 Pointer variable begins with 'p'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******************************************************************************/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static uint16_t * p_voltage_data;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/******************************************************************************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 Rule 1 - Pointer-to-Pointer Naming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 Pointer-to-pointer begins with 'pp'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******************************************************************************/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static char ** pp_message_table;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/******************************************************************************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 Rule 1 - Boolean Naming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 Boolean variables begin with 'b'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 Name answers a question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******************************************************************************/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static bool b_is_voltage_safe = false;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en-US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>
            <a:normAutofit fontScale="60000"/>
          </a:bodyPr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/******************************************************************************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 Function Name : monitor_voltage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 Description   : Demonstrates variable rules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******************************************************************************/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void monitor_voltage(void)</a:t>
            </a:r>
            <a:r>
              <a:rPr lang="en-IN" altLang="en-US">
                <a:solidFill>
                  <a:srgbClr val="FF0000"/>
                </a:solidFill>
              </a:rPr>
              <a:t> </a:t>
            </a:r>
            <a:r>
              <a:rPr lang="en-US" altLang="en-US">
                <a:solidFill>
                  <a:srgbClr val="FF0000"/>
                </a:solidFill>
              </a:rPr>
              <a:t>{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 /**************************************************************************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  * Rule 2 - Variable Initialization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  * Variable initialized before use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  **************************************************************************/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uint16_t sensor_voltage = 0U;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 /**************************************************************************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  * Rule 1 - Descriptive Naming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  * Variable name clearly describes purpose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  **************************************************************************/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rgbClr val="FF0000"/>
                </a:solidFill>
              </a:rPr>
              <a:t>   uint16_t battery_temperature = 35U;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sensor_voltage = 3600U;</a:t>
            </a:r>
            <a:endParaRPr lang="en-US" altLang="en-US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>
            <a:normAutofit fontScale="55000"/>
          </a:bodyPr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/**************************************************************************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    * Rule 2 - Local Variable Creatio</a:t>
            </a:r>
            <a:r>
              <a:rPr lang="en-IN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   * Variable declared close to usage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    **************************************************************************/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if (sensor_voltage &gt; 3000U)   {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    bool b_is_battery_active = true;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    g_system_voltage = sensor_voltage;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    b_is_voltage_safe = b_is_battery_active;</a:t>
            </a:r>
            <a:r>
              <a:rPr lang="en-IN" altLang="en-US">
                <a:solidFill>
                  <a:srgbClr val="FF0000"/>
                </a:solidFill>
              </a:rPr>
              <a:t> </a:t>
            </a:r>
            <a:r>
              <a:rPr lang="en-US" altLang="en-US">
                <a:solidFill>
                  <a:srgbClr val="FF0000"/>
                </a:solidFill>
              </a:rPr>
              <a:t>  }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   /**************************************************************************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    * Rule 1 - Pointer Usage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    **************************************************************************/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p_voltage_data = &amp;g_system_voltage;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   /**************************************************************************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    * Rule 1 - Boolean Variable Naming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    **************************************************************************/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if (b_is_voltage_safe == true</a:t>
            </a:r>
            <a:r>
              <a:rPr lang="en-IN" altLang="en-US">
                <a:solidFill>
                  <a:srgbClr val="FF0000"/>
                </a:solidFill>
              </a:rPr>
              <a:t>)</a:t>
            </a:r>
            <a:r>
              <a:rPr lang="en-US" altLang="en-US">
                <a:solidFill>
                  <a:srgbClr val="FF0000"/>
                </a:solidFill>
              </a:rPr>
              <a:t>   {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    battery_temperature = 40U; </a:t>
            </a:r>
            <a:r>
              <a:rPr lang="en-IN" altLang="en-US">
                <a:solidFill>
                  <a:srgbClr val="FF0000"/>
                </a:solidFill>
              </a:rPr>
              <a:t>} </a:t>
            </a:r>
            <a:r>
              <a:rPr lang="en-US" altLang="en-US">
                <a:solidFill>
                  <a:srgbClr val="FF0000"/>
                </a:solidFill>
              </a:rPr>
              <a:t>}</a:t>
            </a:r>
            <a:endParaRPr lang="en-US" altLang="en-US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IN" altLang="en-US" sz="2800" b="1"/>
              <a:t>8 . </a:t>
            </a:r>
            <a:r>
              <a:rPr lang="en-US" altLang="en-US" sz="2800" b="1"/>
              <a:t>Expressions and Statements</a:t>
            </a:r>
            <a:endParaRPr lang="en-US" altLang="en-US" sz="2800" b="1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Rule 1: Variable Declarations</a:t>
            </a:r>
            <a:endParaRPr lang="en-US" altLang="en-US" b="1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Separate declarations improve code clarity and reduce maintenance mistakes.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Do not use multiple variable declarations in one line.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Avoid comma operator in declarations.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Improves readability and debugging.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Rule 2: If-Else Statements</a:t>
            </a:r>
            <a:endParaRPr lang="en-US" altLang="en-US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Structured conditions improve readability and reduce logical errors.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Shortest condition block should appear first.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Avoid deep nesting.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Do not assign values inside conditions.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Always end if-else if chains with else.</a:t>
            </a: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Nested If-Else</a:t>
            </a:r>
            <a:endParaRPr lang="en-US" altLang="en-US" b="1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Nesting deeper than 2 levels should be avoided.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Use helper functions or switch statements instead.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Reducing nesting makes embedded software easier to maintain and debug</a:t>
            </a:r>
            <a:r>
              <a:rPr lang="en-IN" altLang="en-US">
                <a:solidFill>
                  <a:schemeClr val="tx1"/>
                </a:solidFill>
              </a:rPr>
              <a:t>.</a:t>
            </a:r>
            <a:endParaRPr lang="en-I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Rule 3: Switch Statements</a:t>
            </a:r>
            <a:endParaRPr lang="en-US" altLang="en-US" b="1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The default case ensures unexpected conditions are handled safely.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Every case must include break.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All switch statements require default.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Proper indentation is required.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Rule 4: Loops</a:t>
            </a:r>
            <a:endParaRPr lang="en-US" altLang="en-US" b="1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void magic numbers in loops.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Use for (;;) for infinite loops.</a:t>
            </a: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Empty Loop Body</a:t>
            </a:r>
            <a:endParaRPr lang="en-US" altLang="en-US" b="1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Empty loops must clearly explain why no action is performed.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Rule 5: Unconditional Jumps</a:t>
            </a:r>
            <a:endParaRPr lang="en-US" altLang="en-US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Structured programming improves readability and reduces spaghetti code.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Avoid goto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Avoid unnecessary continue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Avoid improper break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Rule 6: Equivalence Tests</a:t>
            </a:r>
            <a:endParaRPr lang="en-US" altLang="en-US" b="1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Using constants on the left helps catch accidental assignments during compilation.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Place constants on left side of comparisons.</a:t>
            </a:r>
            <a:endParaRPr lang="en-US" altLang="en-US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altLang="en-US">
                <a:solidFill>
                  <a:schemeClr val="tx1"/>
                </a:solidFill>
              </a:rPr>
              <a:t>Prevents accidental assignment bugs.</a:t>
            </a: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>
            <a:normAutofit fontScale="70000"/>
          </a:bodyPr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#include &lt;stdint.h&gt;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#include &lt;stdbool.h&gt;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#define MAX_COUNT      5U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#define ERROR_STATE    0U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#define NORMAL_STATE   1U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/******************************************************************************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* Function Name : process_sensor_data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* Description   : Demonstrates expressions and statement rules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******************************************************************************/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void process_sensor_data(void){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   /**************************************************************************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    * Rule 1 - Variable Declarations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    * Variables declared separately for readability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    **************************************************************************/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>
            <a:normAutofit fontScale="60000"/>
          </a:bodyPr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uint16_t sensor_value;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uint16_t loop_index;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uint16_t system_state;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sensor_value = 0U;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system_state = NORMAL_STATE;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   /**************************************************************************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    * Rule 2 - If-Else Statements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    * Constant placed on left side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    * No assignment inside condition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    * Ends with else block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    **************************************************************************/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  <a:r>
              <a:rPr lang="en-US" altLang="en-US">
                <a:solidFill>
                  <a:srgbClr val="FF0000"/>
                </a:solidFill>
              </a:rPr>
              <a:t>if (0U == sensor_value</a:t>
            </a:r>
            <a:r>
              <a:rPr lang="en-IN" altLang="en-US">
                <a:solidFill>
                  <a:srgbClr val="FF0000"/>
                </a:solidFill>
              </a:rPr>
              <a:t>)</a:t>
            </a:r>
            <a:r>
              <a:rPr lang="en-US" altLang="en-US">
                <a:solidFill>
                  <a:srgbClr val="FF0000"/>
                </a:solidFill>
              </a:rPr>
              <a:t> {</a:t>
            </a:r>
            <a:r>
              <a:rPr lang="en-IN" altLang="en-US">
                <a:solidFill>
                  <a:srgbClr val="FF0000"/>
                </a:solidFill>
              </a:rPr>
              <a:t> </a:t>
            </a:r>
            <a:r>
              <a:rPr lang="en-US" altLang="en-US">
                <a:solidFill>
                  <a:srgbClr val="FF0000"/>
                </a:solidFill>
              </a:rPr>
              <a:t>  system_state = ERROR_STATE; }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else if (sensor_value &lt; 100U)</a:t>
            </a:r>
            <a:r>
              <a:rPr lang="en-IN" altLang="en-US">
                <a:solidFill>
                  <a:srgbClr val="FF0000"/>
                </a:solidFill>
              </a:rPr>
              <a:t> </a:t>
            </a:r>
            <a:r>
              <a:rPr lang="en-US" altLang="en-US">
                <a:solidFill>
                  <a:srgbClr val="FF0000"/>
                </a:solidFill>
              </a:rPr>
              <a:t> {  system_state = NORMAL_STATE;  }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else  {</a:t>
            </a:r>
            <a:r>
              <a:rPr lang="en-IN" altLang="en-US">
                <a:solidFill>
                  <a:srgbClr val="FF0000"/>
                </a:solidFill>
              </a:rPr>
              <a:t> </a:t>
            </a:r>
            <a:r>
              <a:rPr lang="en-US" altLang="en-US">
                <a:solidFill>
                  <a:srgbClr val="FF0000"/>
                </a:solidFill>
              </a:rPr>
              <a:t>system_state = ERROR_STATE</a:t>
            </a:r>
            <a:r>
              <a:rPr lang="en-IN" altLang="en-US">
                <a:solidFill>
                  <a:srgbClr val="FF0000"/>
                </a:solidFill>
              </a:rPr>
              <a:t> </a:t>
            </a:r>
            <a:r>
              <a:rPr lang="en-US" altLang="en-US">
                <a:solidFill>
                  <a:srgbClr val="FF0000"/>
                </a:solidFill>
              </a:rPr>
              <a:t> }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en-US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>
            <a:normAutofit fontScale="70000"/>
          </a:bodyPr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/**************************************************************************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    * Rule 2 - Nested If-Else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    * Nesting kept within 2 levels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    **************************************************************************/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if (system_state == NORMAL_STATE)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{   if (sensor_value &lt; 50U){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        sensor_value = 50U;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    }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}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   /**************************************************************************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    * Rule 3 - Switch Statements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    * Every case contains break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    * Default block included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    **************************************************************************/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>
            <a:normAutofit fontScale="90000" lnSpcReduction="20000"/>
          </a:bodyPr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switch (system_state)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{</a:t>
            </a:r>
            <a:r>
              <a:rPr lang="en-IN" altLang="en-US">
                <a:solidFill>
                  <a:srgbClr val="FF0000"/>
                </a:solidFill>
              </a:rPr>
              <a:t> </a:t>
            </a:r>
            <a:r>
              <a:rPr lang="en-US" altLang="en-US">
                <a:solidFill>
                  <a:srgbClr val="FF0000"/>
                </a:solidFill>
              </a:rPr>
              <a:t>  case NORMAL_STATE</a:t>
            </a:r>
            <a:r>
              <a:rPr lang="en-IN" altLang="en-US">
                <a:solidFill>
                  <a:srgbClr val="FF0000"/>
                </a:solidFill>
              </a:rPr>
              <a:t>;</a:t>
            </a:r>
            <a:r>
              <a:rPr lang="en-US" altLang="en-US">
                <a:solidFill>
                  <a:srgbClr val="FF0000"/>
                </a:solidFill>
              </a:rPr>
              <a:t>  </a:t>
            </a:r>
            <a:r>
              <a:rPr lang="en-IN" altLang="en-US">
                <a:solidFill>
                  <a:srgbClr val="FF0000"/>
                </a:solidFill>
              </a:rPr>
              <a:t>{</a:t>
            </a:r>
            <a:r>
              <a:rPr lang="en-US" altLang="en-US">
                <a:solidFill>
                  <a:srgbClr val="FF0000"/>
                </a:solidFill>
              </a:rPr>
              <a:t>  sensor_value = 75U;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        break;     }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    case ERROR_STATE: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    {   sensor_value = 0U;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        break; }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    default: {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        sensor_value = 0U;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        break; </a:t>
            </a:r>
            <a:r>
              <a:rPr lang="en-IN" altLang="en-US">
                <a:solidFill>
                  <a:srgbClr val="FF0000"/>
                </a:solidFill>
              </a:rPr>
              <a:t>}</a:t>
            </a:r>
            <a:r>
              <a:rPr lang="en-US" altLang="en-US">
                <a:solidFill>
                  <a:srgbClr val="FF0000"/>
                </a:solidFill>
              </a:rPr>
              <a:t> }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</a:t>
            </a: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/**************************************************************************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    * Rule 4 - Loops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    * No magic numbers used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    **************************************************************************/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en-US"/>
              <a:t>   </a:t>
            </a:r>
            <a:r>
              <a:rPr lang="en-US" altLang="en-US">
                <a:solidFill>
                  <a:srgbClr val="FF0000"/>
                </a:solidFill>
              </a:rPr>
              <a:t>for (loop_index = 0U;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     loop_index &lt; MAX_COUNT;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     loop_index++)  {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    sensor_value++; }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/>
              <a:t>    /**************************************************************************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* Rule 4 - Infinite Loop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* Infinite loop implemented using for (;;)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**************************************************************************/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for (;;</a:t>
            </a:r>
            <a:r>
              <a:rPr lang="en-IN" altLang="en-US">
                <a:solidFill>
                  <a:srgbClr val="FF0000"/>
                </a:solidFill>
              </a:rPr>
              <a:t>)</a:t>
            </a:r>
            <a:r>
              <a:rPr lang="en-US" altLang="en-US">
                <a:solidFill>
                  <a:srgbClr val="FF0000"/>
                </a:solidFill>
              </a:rPr>
              <a:t> {   break;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}</a:t>
            </a:r>
            <a:endParaRPr lang="en-US" altLang="en-US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>
            <a:normAutofit fontScale="60000"/>
          </a:bodyPr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/**************************************************************************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    * Rule 4 - Empty Loop Body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    * Comment explains purpose of empty loop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    **************************************************************************/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en-US">
                <a:solidFill>
                  <a:srgbClr val="FF0000"/>
                </a:solidFill>
              </a:rPr>
              <a:t>   while (sensor_value &lt; 10U) {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    /* Wait until sensor value reaches threshold *   }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IN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/</a:t>
            </a: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  /**************************************************************************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    * Rule 5 - Unconditional Jumps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    * goto and continue are avoided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    **************************************************************************/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   /**************************************************************************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    * Rule 6 - Equivalence Tests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    * Constant placed on left side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    **************************************************************************/</a:t>
            </a:r>
            <a:endParaRPr lang="en-US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en-US">
                <a:solidFill>
                  <a:srgbClr val="FF0000"/>
                </a:solidFill>
              </a:rPr>
              <a:t>   if (100U == sensor_value){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FF0000"/>
                </a:solidFill>
              </a:rPr>
              <a:t>        system_state = NORMAL_STATE;  </a:t>
            </a:r>
            <a:r>
              <a:rPr lang="en-IN" altLang="en-US">
                <a:solidFill>
                  <a:srgbClr val="FF0000"/>
                </a:solidFill>
              </a:rPr>
              <a:t> } </a:t>
            </a:r>
            <a:r>
              <a:rPr lang="en-US" altLang="en-US">
                <a:solidFill>
                  <a:srgbClr val="FF0000"/>
                </a:solidFill>
              </a:rPr>
              <a:t>}</a:t>
            </a:r>
            <a:endParaRPr lang="en-US" altLang="en-US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30204</Words>
  <Application>WPS Presentation</Application>
  <PresentationFormat>Widescreen</PresentationFormat>
  <Paragraphs>848</Paragraphs>
  <Slides>67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67</vt:i4>
      </vt:variant>
    </vt:vector>
  </HeadingPairs>
  <TitlesOfParts>
    <vt:vector size="76" baseType="lpstr">
      <vt:lpstr>Arial</vt:lpstr>
      <vt:lpstr>SimSun</vt:lpstr>
      <vt:lpstr>Wingdings</vt:lpstr>
      <vt:lpstr>Wingdings</vt:lpstr>
      <vt:lpstr>Times New Roman</vt:lpstr>
      <vt:lpstr>Microsoft YaHei</vt:lpstr>
      <vt:lpstr>Arial Unicode MS</vt:lpstr>
      <vt:lpstr>Calibri</vt:lpstr>
      <vt:lpstr>WPS</vt:lpstr>
      <vt:lpstr>Embedded C Coding Standard</vt:lpstr>
      <vt:lpstr>Introduction</vt:lpstr>
      <vt:lpstr>Benefits of Coding Standards</vt:lpstr>
      <vt:lpstr>Guiding Principles</vt:lpstr>
      <vt:lpstr>PowerPoint 演示文稿</vt:lpstr>
      <vt:lpstr>PowerPoint 演示文稿</vt:lpstr>
      <vt:lpstr>PowerPoint 演示文稿</vt:lpstr>
      <vt:lpstr>Deviation Procedure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 Comments</vt:lpstr>
      <vt:lpstr>PowerPoint 演示文稿</vt:lpstr>
      <vt:lpstr>3 . White Space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 Modules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5. Data Types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6. Procedures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7.Variables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8 . Expressions and Statements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Embedded C Coding Standard</dc:title>
  <dc:creator>priya</dc:creator>
  <cp:lastModifiedBy>Indira Priyadharshini</cp:lastModifiedBy>
  <cp:revision>6</cp:revision>
  <dcterms:created xsi:type="dcterms:W3CDTF">2026-05-19T12:34:00Z</dcterms:created>
  <dcterms:modified xsi:type="dcterms:W3CDTF">2026-06-26T12:31:43Z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1303E191461D4A90B2C0149FA842B355_13</vt:lpwstr>
  </property>
</Properties>
</file>