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 in C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0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Guide to Writing Better Embedded Software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8346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28346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Why Unit Testing?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28346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28346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Embedded Software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93008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493008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Frameworks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493008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493008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Code Coverage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3493008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3493008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Statement &amp; Branch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51376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151376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Condition &amp; MCDC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4151376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4151376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Function Coverage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7880" y="4151376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4151376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Best Practices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0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Unit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Unit: </a:t>
            </a:r>
            <a:r>
              <a:rPr lang="en-US" sz="14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piece of code for any single function.</a:t>
            </a: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Unit Test: </a:t>
            </a:r>
            <a:r>
              <a:rPr lang="en-US" sz="14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script designed to verify behavior independently — producing a </a:t>
            </a:r>
            <a:r>
              <a:rPr lang="en-US" sz="14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r>
              <a:rPr lang="en-US" sz="14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or </a:t>
            </a:r>
            <a:r>
              <a:rPr lang="en-US" sz="14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r>
              <a:rPr lang="en-US" sz="14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result.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031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Performed during the Application Development Phase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1031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2103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4688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Usually performed by Developers (QA engineers can too)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3375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3375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7033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 Box Testing Technique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33375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33375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7033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phase of testing — before Integration Testing (V-model / SDLC / STLC)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9C4"/>
          </a:solidFill>
        </p:spPr>
      </p:sp>
      <p:sp>
        <p:nvSpPr>
          <p:cNvPr id="23" name="Text 21"/>
          <p:cNvSpPr/>
          <p:nvPr/>
        </p:nvSpPr>
        <p:spPr>
          <a:xfrm>
            <a:off x="457200" y="454456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955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Key Challenge: Writing a good unit test for complex code can be difficult — but it's a skill, not a secret!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is Unit Testing Necessary?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EBEE"/>
          </a:solidFill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Skipping Unit Tests → More defect-fixing costs during Integration, Beta &amp; System Testing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64792"/>
            <a:ext cx="420624" cy="420624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8" name="Text 6"/>
          <p:cNvSpPr/>
          <p:nvPr/>
        </p:nvSpPr>
        <p:spPr>
          <a:xfrm>
            <a:off x="411480" y="17647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7373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Defect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965960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bugs at the development stage — saves time and cost before they escalate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23160"/>
            <a:ext cx="420624" cy="420624"/>
          </a:xfrm>
          <a:prstGeom prst="ellipse">
            <a:avLst/>
          </a:prstGeom>
          <a:solidFill>
            <a:srgbClr val="0288D1"/>
          </a:solidFill>
        </p:spPr>
      </p:sp>
      <p:sp>
        <p:nvSpPr>
          <p:cNvPr id="13" name="Text 11"/>
          <p:cNvSpPr/>
          <p:nvPr/>
        </p:nvSpPr>
        <p:spPr>
          <a:xfrm>
            <a:off x="411480" y="24231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39572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Code Understanding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624328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developers understand the codebase and make changes quickly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81528"/>
            <a:ext cx="420624" cy="420624"/>
          </a:xfrm>
          <a:prstGeom prst="ellipse">
            <a:avLst/>
          </a:prstGeom>
          <a:solidFill>
            <a:srgbClr val="00897B"/>
          </a:solidFill>
        </p:spPr>
      </p:sp>
      <p:sp>
        <p:nvSpPr>
          <p:cNvPr id="18" name="Text 16"/>
          <p:cNvSpPr/>
          <p:nvPr/>
        </p:nvSpPr>
        <p:spPr>
          <a:xfrm>
            <a:off x="411480" y="3081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05409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 Documentation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282696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unit tests serve as project documentation for the whole team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66674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39896"/>
            <a:ext cx="420624" cy="420624"/>
          </a:xfrm>
          <a:prstGeom prst="ellipse">
            <a:avLst/>
          </a:prstGeom>
          <a:solidFill>
            <a:srgbClr val="558B2F"/>
          </a:solidFill>
        </p:spPr>
      </p:sp>
      <p:sp>
        <p:nvSpPr>
          <p:cNvPr id="23" name="Text 21"/>
          <p:cNvSpPr/>
          <p:nvPr/>
        </p:nvSpPr>
        <p:spPr>
          <a:xfrm>
            <a:off x="411480" y="37398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71246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941064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tests can be reused and migrated to new projects with minor tweaks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398264"/>
            <a:ext cx="420624" cy="420624"/>
          </a:xfrm>
          <a:prstGeom prst="ellipse">
            <a:avLst/>
          </a:prstGeom>
          <a:solidFill>
            <a:srgbClr val="6A1B9A"/>
          </a:solidFill>
        </p:spPr>
      </p:sp>
      <p:sp>
        <p:nvSpPr>
          <p:cNvPr id="28" name="Text 26"/>
          <p:cNvSpPr/>
          <p:nvPr/>
        </p:nvSpPr>
        <p:spPr>
          <a:xfrm>
            <a:off x="411480" y="43982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43708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" y="4599432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tests forces developers to think about how code will be used → results in better architecture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1744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Misconceptions about Unit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3E0000"/>
          </a:solidFill>
        </p:spPr>
      </p:sp>
      <p:sp>
        <p:nvSpPr>
          <p:cNvPr id="5" name="Text 3"/>
          <p:cNvSpPr/>
          <p:nvPr/>
        </p:nvSpPr>
        <p:spPr>
          <a:xfrm>
            <a:off x="502920" y="1051560"/>
            <a:ext cx="8138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MYTH: </a:t>
            </a:r>
            <a:r>
              <a:rPr lang="en-US" sz="1300" i="1" dirty="0">
                <a:solidFill>
                  <a:srgbClr val="FFCD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"Our firmware is very simple — we don't need unit testing."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3300"/>
          </a:solidFill>
        </p:spPr>
      </p:sp>
      <p:sp>
        <p:nvSpPr>
          <p:cNvPr id="7" name="Text 5"/>
          <p:cNvSpPr/>
          <p:nvPr/>
        </p:nvSpPr>
        <p:spPr>
          <a:xfrm>
            <a:off x="502920" y="1645920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REALITY: </a:t>
            </a:r>
            <a:r>
              <a:rPr lang="en-US" sz="1300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simple code has edge cases. Unit tests catch hidden bugs early and document expected behavior.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3E0000"/>
          </a:solidFill>
        </p:spPr>
      </p:sp>
      <p:sp>
        <p:nvSpPr>
          <p:cNvPr id="9" name="Text 7"/>
          <p:cNvSpPr/>
          <p:nvPr/>
        </p:nvSpPr>
        <p:spPr>
          <a:xfrm>
            <a:off x="502920" y="2377440"/>
            <a:ext cx="8138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MYTH: </a:t>
            </a:r>
            <a:r>
              <a:rPr lang="en-US" sz="1300" i="1" dirty="0">
                <a:solidFill>
                  <a:srgbClr val="FFCD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"We can't unit test microcontroller code — it's too close to the hardware."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3300"/>
          </a:solidFill>
        </p:spPr>
      </p:sp>
      <p:sp>
        <p:nvSpPr>
          <p:cNvPr id="11" name="Text 9"/>
          <p:cNvSpPr/>
          <p:nvPr/>
        </p:nvSpPr>
        <p:spPr>
          <a:xfrm>
            <a:off x="502920" y="2971800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REALITY: </a:t>
            </a:r>
            <a:r>
              <a:rPr lang="en-US" sz="1300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frameworks like Ceedling, you can test embedded code on your PC — no target hardware needed!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3E0000"/>
          </a:solidFill>
        </p:spPr>
      </p:sp>
      <p:sp>
        <p:nvSpPr>
          <p:cNvPr id="13" name="Text 11"/>
          <p:cNvSpPr/>
          <p:nvPr/>
        </p:nvSpPr>
        <p:spPr>
          <a:xfrm>
            <a:off x="502920" y="3703320"/>
            <a:ext cx="8138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MYTH: </a:t>
            </a:r>
            <a:r>
              <a:rPr lang="en-US" sz="1300" i="1" dirty="0">
                <a:solidFill>
                  <a:srgbClr val="FFCD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"Unit testing will add unnecessary cost burden to our project."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3300"/>
          </a:solidFill>
        </p:spPr>
      </p:sp>
      <p:sp>
        <p:nvSpPr>
          <p:cNvPr id="15" name="Text 13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REALITY: </a:t>
            </a:r>
            <a:r>
              <a:rPr lang="en-US" sz="1300" dirty="0">
                <a:solidFill>
                  <a:srgbClr val="C8E6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Skipping tests adds MORE cost later. Fixing bugs in production is 10x more expensive than catching them early.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 Frameworks for 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502920" y="97840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Unit Test Framework is code/application that makes it easier to run, test, and record results of unit tests.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</p:spPr>
      </p:sp>
      <p:sp>
        <p:nvSpPr>
          <p:cNvPr id="8" name="Text 6"/>
          <p:cNvSpPr/>
          <p:nvPr/>
        </p:nvSpPr>
        <p:spPr>
          <a:xfrm>
            <a:off x="457200" y="17373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Ceedling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7830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D600"/>
          </a:solidFill>
        </p:spPr>
      </p:sp>
      <p:sp>
        <p:nvSpPr>
          <p:cNvPr id="10" name="Text 8"/>
          <p:cNvSpPr/>
          <p:nvPr/>
        </p:nvSpPr>
        <p:spPr>
          <a:xfrm>
            <a:off x="2423160" y="17830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</a:rPr>
              <a:t>⭐ RECOMMENDED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746504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Full-featured build/test system. No hardware needed. Works on PC.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CEFF1"/>
          </a:solidFill>
        </p:spPr>
      </p:sp>
      <p:sp>
        <p:nvSpPr>
          <p:cNvPr id="13" name="Shape 11"/>
          <p:cNvSpPr/>
          <p:nvPr/>
        </p:nvSpPr>
        <p:spPr>
          <a:xfrm>
            <a:off x="457200" y="24231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288D1"/>
          </a:solidFill>
        </p:spPr>
      </p:sp>
      <p:sp>
        <p:nvSpPr>
          <p:cNvPr id="14" name="Text 12"/>
          <p:cNvSpPr/>
          <p:nvPr/>
        </p:nvSpPr>
        <p:spPr>
          <a:xfrm>
            <a:off x="457200" y="24231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Embunit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23160" y="2468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0E0E0"/>
          </a:solidFill>
        </p:spPr>
      </p:sp>
      <p:sp>
        <p:nvSpPr>
          <p:cNvPr id="16" name="Text 14"/>
          <p:cNvSpPr/>
          <p:nvPr/>
        </p:nvSpPr>
        <p:spPr>
          <a:xfrm>
            <a:off x="2423160" y="24688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</a:rPr>
              <a:t>Popular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432304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embedded unit test framework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CEFF1"/>
          </a:solidFill>
        </p:spPr>
      </p:sp>
      <p:sp>
        <p:nvSpPr>
          <p:cNvPr id="19" name="Shape 17"/>
          <p:cNvSpPr/>
          <p:nvPr/>
        </p:nvSpPr>
        <p:spPr>
          <a:xfrm>
            <a:off x="457200" y="31089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0897B"/>
          </a:solidFill>
        </p:spPr>
      </p:sp>
      <p:sp>
        <p:nvSpPr>
          <p:cNvPr id="20" name="Text 18"/>
          <p:cNvSpPr/>
          <p:nvPr/>
        </p:nvSpPr>
        <p:spPr>
          <a:xfrm>
            <a:off x="457200" y="31089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MinUnit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23160" y="31546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0E0E0"/>
          </a:solidFill>
        </p:spPr>
      </p:sp>
      <p:sp>
        <p:nvSpPr>
          <p:cNvPr id="22" name="Text 20"/>
          <p:cNvSpPr/>
          <p:nvPr/>
        </p:nvSpPr>
        <p:spPr>
          <a:xfrm>
            <a:off x="2423160" y="3154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</a:rPr>
              <a:t>Minimal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118104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Smallest unit test framework — just 3 macros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CEFF1"/>
          </a:solidFill>
        </p:spPr>
      </p:sp>
      <p:sp>
        <p:nvSpPr>
          <p:cNvPr id="25" name="Shape 23"/>
          <p:cNvSpPr/>
          <p:nvPr/>
        </p:nvSpPr>
        <p:spPr>
          <a:xfrm>
            <a:off x="457200" y="37947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558B2F"/>
          </a:solidFill>
        </p:spPr>
      </p:sp>
      <p:sp>
        <p:nvSpPr>
          <p:cNvPr id="26" name="Text 24"/>
          <p:cNvSpPr/>
          <p:nvPr/>
        </p:nvSpPr>
        <p:spPr>
          <a:xfrm>
            <a:off x="457200" y="37947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Criterion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23160" y="38404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0E0E0"/>
          </a:solidFill>
        </p:spPr>
      </p:sp>
      <p:sp>
        <p:nvSpPr>
          <p:cNvPr id="28" name="Text 26"/>
          <p:cNvSpPr/>
          <p:nvPr/>
        </p:nvSpPr>
        <p:spPr>
          <a:xfrm>
            <a:off x="2423160" y="38404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</a:rPr>
              <a:t>Modern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3803904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Feature-rich, supports sub-processes and parametric tests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CEFF1"/>
          </a:solidFill>
        </p:spPr>
      </p:sp>
      <p:sp>
        <p:nvSpPr>
          <p:cNvPr id="31" name="Shape 29"/>
          <p:cNvSpPr/>
          <p:nvPr/>
        </p:nvSpPr>
        <p:spPr>
          <a:xfrm>
            <a:off x="457200" y="44805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A1B9A"/>
          </a:solidFill>
        </p:spPr>
      </p:sp>
      <p:sp>
        <p:nvSpPr>
          <p:cNvPr id="32" name="Text 30"/>
          <p:cNvSpPr/>
          <p:nvPr/>
        </p:nvSpPr>
        <p:spPr>
          <a:xfrm>
            <a:off x="457200" y="44805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LCUT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423160" y="45262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2423160" y="45262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</a:rPr>
              <a:t>Embedded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489704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C Unit Testing for embedded systems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 in Embedded Software / Firmware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24712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Testable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R&amp;D team must write modular, self-contained code that can be divided into testable units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24712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Code Portable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075688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 developers must ensure code is portable — it should run on PC for unit testing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6324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227832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38130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Hardware Needed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178808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Ceedling framework, you can run tests on your PC. No target hardware required!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27832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92040" y="38130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Logic, Not Hardware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4178808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tests verify logic, not hardware-level functionality. Hardware tests are separate.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E8F5E9"/>
          </a:solidFill>
        </p:spPr>
      </p:sp>
      <p:sp>
        <p:nvSpPr>
          <p:cNvPr id="21" name="Text 19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With Ceedling: Your PC is enough to learn and run all unit tests!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Coverage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548640" y="978408"/>
            <a:ext cx="804672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Coverage measures the number of lines of source code executed during a test suite — expressed as a percentage.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73736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ECEFF1"/>
          </a:solidFill>
        </p:spPr>
      </p:sp>
      <p:sp>
        <p:nvSpPr>
          <p:cNvPr id="7" name="Shape 5"/>
          <p:cNvSpPr/>
          <p:nvPr/>
        </p:nvSpPr>
        <p:spPr>
          <a:xfrm>
            <a:off x="2286000" y="173736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00C853"/>
          </a:solidFill>
        </p:spPr>
      </p:sp>
      <p:sp>
        <p:nvSpPr>
          <p:cNvPr id="8" name="Text 6"/>
          <p:cNvSpPr/>
          <p:nvPr/>
        </p:nvSpPr>
        <p:spPr>
          <a:xfrm>
            <a:off x="2377440" y="17647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90% Covered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764792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744"/>
                </a:solidFill>
              </a:rPr>
              <a:t>10%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23160"/>
            <a:ext cx="164592" cy="749808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2" name="Text 10"/>
          <p:cNvSpPr/>
          <p:nvPr/>
        </p:nvSpPr>
        <p:spPr>
          <a:xfrm>
            <a:off x="576072" y="24688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Statement Coverage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274320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each statement is executed at least once. Measures lines executed.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231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423160"/>
            <a:ext cx="164592" cy="749808"/>
          </a:xfrm>
          <a:prstGeom prst="rect">
            <a:avLst/>
          </a:prstGeom>
          <a:solidFill>
            <a:srgbClr val="0288D1"/>
          </a:solidFill>
        </p:spPr>
      </p:sp>
      <p:sp>
        <p:nvSpPr>
          <p:cNvPr id="16" name="Text 14"/>
          <p:cNvSpPr/>
          <p:nvPr/>
        </p:nvSpPr>
        <p:spPr>
          <a:xfrm>
            <a:off x="5010912" y="24688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/ Decision Coverage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0912" y="274320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every branch (if/else, loops) is executed. Each condition must be true AND false.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91840"/>
            <a:ext cx="164592" cy="74980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0" name="Text 18"/>
          <p:cNvSpPr/>
          <p:nvPr/>
        </p:nvSpPr>
        <p:spPr>
          <a:xfrm>
            <a:off x="576072" y="33375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Coverage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36118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to logical operands (AND, OR, XOR). Each operand evaluated as true and false.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91840"/>
            <a:ext cx="164592" cy="749808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24" name="Text 22"/>
          <p:cNvSpPr/>
          <p:nvPr/>
        </p:nvSpPr>
        <p:spPr>
          <a:xfrm>
            <a:off x="5010912" y="333756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MC/DC Coverage - (</a:t>
            </a:r>
            <a:r>
              <a:rPr lang="en-US" altLang="en-US" sz="13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Modified condition/decision coverage</a:t>
            </a:r>
            <a:r>
              <a:rPr lang="en-US" sz="13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36118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condition independently affects the decision. Used in safety-critical systems.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60520"/>
            <a:ext cx="164592" cy="749808"/>
          </a:xfrm>
          <a:prstGeom prst="rect">
            <a:avLst/>
          </a:prstGeom>
          <a:solidFill>
            <a:srgbClr val="6A1B9A"/>
          </a:solidFill>
        </p:spPr>
      </p:sp>
      <p:sp>
        <p:nvSpPr>
          <p:cNvPr id="28" name="Text 26"/>
          <p:cNvSpPr/>
          <p:nvPr/>
        </p:nvSpPr>
        <p:spPr>
          <a:xfrm>
            <a:off x="576072" y="42062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Coverage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" y="44805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which functions were called during testing.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160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4160520"/>
            <a:ext cx="164592" cy="749808"/>
          </a:xfrm>
          <a:prstGeom prst="rect">
            <a:avLst/>
          </a:prstGeom>
          <a:solidFill>
            <a:srgbClr val="558B2F"/>
          </a:solidFill>
        </p:spPr>
      </p:sp>
      <p:sp>
        <p:nvSpPr>
          <p:cNvPr id="32" name="Text 30"/>
          <p:cNvSpPr/>
          <p:nvPr/>
        </p:nvSpPr>
        <p:spPr>
          <a:xfrm>
            <a:off x="5010912" y="42062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Coverage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44805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all loops execute and do not iterate infinitely or terminate abnormally.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Statement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502920" y="89611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each statement of the code is executed at least once. Helps check do's and don'ts of a source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1E1E2E"/>
          </a:solidFill>
        </p:spPr>
      </p:sp>
      <p:sp>
        <p:nvSpPr>
          <p:cNvPr id="7" name="Text 5"/>
          <p:cNvSpPr/>
          <p:nvPr/>
        </p:nvSpPr>
        <p:spPr>
          <a:xfrm>
            <a:off x="457200" y="15087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FF"/>
                </a:solidFill>
              </a:rPr>
              <a:t>Example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657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test_func(bool condition)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(condition == true)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printf("Condition is true\n");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printf("Condition is false\n");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51790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1: condition = true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1517904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</a:rPr>
              <a:t>64%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181051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Lines covered: 7 / 11 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8848" y="20391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360C"/>
                </a:solidFill>
              </a:rPr>
              <a:t>if-block executes. else is NOT covered.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578608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98848" y="2633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2: condition = 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2633472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</a:rPr>
              <a:t>73%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8848" y="29260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Lines covered: 8 / 11 lines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98848" y="31546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360C"/>
                </a:solidFill>
              </a:rPr>
              <a:t>else-block executes. if-block is NOT covered.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694176"/>
            <a:ext cx="4389120" cy="987552"/>
          </a:xfrm>
          <a:prstGeom prst="roundRect">
            <a:avLst>
              <a:gd name="adj" fmla="val 7407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98848" y="3749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tests combined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3749040"/>
            <a:ext cx="621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C853"/>
                </a:solidFill>
              </a:rPr>
              <a:t>100%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8848" y="404164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Lines covered: 11 / 11 lines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98848" y="42702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</a:rPr>
              <a:t>100% Statement Coverage achieved!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6667"/>
            </a:avLst>
          </a:prstGeom>
          <a:solidFill>
            <a:srgbClr val="FFF3E0"/>
          </a:solidFill>
        </p:spPr>
      </p:sp>
      <p:sp>
        <p:nvSpPr>
          <p:cNvPr id="25" name="Text 23"/>
          <p:cNvSpPr/>
          <p:nvPr/>
        </p:nvSpPr>
        <p:spPr>
          <a:xfrm>
            <a:off x="502920" y="4690872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Use Statement Coverage to find: Dead Code  |  Unused Branches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8D1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/ Decision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every branch (if/else, loops) is executed at least once. Each branch condition must be TRUE and FALSE during testing.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1508760"/>
          </a:xfrm>
          <a:prstGeom prst="roundRect">
            <a:avLst>
              <a:gd name="adj" fmla="val 6061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Key Difference: Statement vs Branch 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1005840"/>
          </a:xfrm>
          <a:prstGeom prst="roundRect">
            <a:avLst>
              <a:gd name="adj" fmla="val 6364"/>
            </a:avLst>
          </a:prstGeom>
          <a:solidFill>
            <a:srgbClr val="1E1E2E"/>
          </a:solidFill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test_func(bool condition)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(condition == true)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printf("Condition is true\n");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printf("EmbeTronicX\n");  // ← No else!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DD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200400" cy="347472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11" name="Text 9"/>
          <p:cNvSpPr/>
          <p:nvPr/>
        </p:nvSpPr>
        <p:spPr>
          <a:xfrm>
            <a:off x="548640" y="310896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Scenario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3108960"/>
            <a:ext cx="2286000" cy="347472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13" name="Text 11"/>
          <p:cNvSpPr/>
          <p:nvPr/>
        </p:nvSpPr>
        <p:spPr>
          <a:xfrm>
            <a:off x="3749040" y="31089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Statement Coverage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108960"/>
            <a:ext cx="2286000" cy="347472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15" name="Text 13"/>
          <p:cNvSpPr/>
          <p:nvPr/>
        </p:nvSpPr>
        <p:spPr>
          <a:xfrm>
            <a:off x="6035040" y="310896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Branch Coverage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32004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48640" y="345643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Test 1 (condition=true)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456432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3749040" y="34564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100% 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456432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6035040" y="345643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1744"/>
                </a:solidFill>
              </a:rPr>
              <a:t>50% 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3200400" cy="347472"/>
          </a:xfrm>
          <a:prstGeom prst="rect">
            <a:avLst/>
          </a:prstGeom>
          <a:solidFill>
            <a:srgbClr val="ECEFF1"/>
          </a:solidFill>
        </p:spPr>
      </p:sp>
      <p:sp>
        <p:nvSpPr>
          <p:cNvPr id="23" name="Text 21"/>
          <p:cNvSpPr/>
          <p:nvPr/>
        </p:nvSpPr>
        <p:spPr>
          <a:xfrm>
            <a:off x="548640" y="382219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F3D"/>
                </a:solidFill>
              </a:rPr>
              <a:t>Test 1+2 (both)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49040" y="3822192"/>
            <a:ext cx="2286000" cy="347472"/>
          </a:xfrm>
          <a:prstGeom prst="rect">
            <a:avLst/>
          </a:prstGeom>
          <a:solidFill>
            <a:srgbClr val="ECEFF1"/>
          </a:solidFill>
        </p:spPr>
      </p:sp>
      <p:sp>
        <p:nvSpPr>
          <p:cNvPr id="25" name="Text 23"/>
          <p:cNvSpPr/>
          <p:nvPr/>
        </p:nvSpPr>
        <p:spPr>
          <a:xfrm>
            <a:off x="3749040" y="3822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100% 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3822192"/>
            <a:ext cx="2286000" cy="347472"/>
          </a:xfrm>
          <a:prstGeom prst="rect">
            <a:avLst/>
          </a:prstGeom>
          <a:solidFill>
            <a:srgbClr val="ECEFF1"/>
          </a:solidFill>
        </p:spPr>
      </p:sp>
      <p:sp>
        <p:nvSpPr>
          <p:cNvPr id="27" name="Text 25"/>
          <p:cNvSpPr/>
          <p:nvPr/>
        </p:nvSpPr>
        <p:spPr>
          <a:xfrm>
            <a:off x="6035040" y="38221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100% 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5E9"/>
          </a:solidFill>
        </p:spPr>
      </p:sp>
      <p:sp>
        <p:nvSpPr>
          <p:cNvPr id="29" name="Text 27"/>
          <p:cNvSpPr/>
          <p:nvPr/>
        </p:nvSpPr>
        <p:spPr>
          <a:xfrm>
            <a:off x="548640" y="4325112"/>
            <a:ext cx="822960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RULE:
</a:t>
            </a:r>
            <a:r>
              <a:rPr lang="en-US" sz="1300" b="1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Branch Coverage = 100% Statement Coverage
</a:t>
            </a:r>
            <a:r>
              <a:rPr lang="en-US" sz="13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Statement Coverage ≠ 100% Branch Coverage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Coverage &amp; MC/DC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 Coverage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46E7A"/>
                </a:solidFill>
              </a:rPr>
              <a:t>Also called Predicate Coverage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to logical operands: AND, OR, XOR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operand must be evaluated as TRUE and FALSE at least once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sensitive to control flow than Decision Coverage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condition coverage does NOT guarantee full decision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1E1E2E"/>
          </a:solidFill>
        </p:spPr>
      </p:sp>
      <p:sp>
        <p:nvSpPr>
          <p:cNvPr id="12" name="Text 10"/>
          <p:cNvSpPr/>
          <p:nvPr/>
        </p:nvSpPr>
        <p:spPr>
          <a:xfrm>
            <a:off x="548640" y="3794760"/>
            <a:ext cx="3657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 1: X=TRUE,  Y=FALSE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 2: X=FALSE, Y=TRUE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2412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MC/DC 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46E7A"/>
                </a:solidFill>
              </a:rPr>
              <a:t>Modified Condition / Decision Coverage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condition in a decision must be tested independently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19456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condition must execute TWICE — once true, once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69748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difference in other conditions within the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20040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show each condition independently affects the outcome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74904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3E0"/>
          </a:solidFill>
        </p:spPr>
      </p:sp>
      <p:sp>
        <p:nvSpPr>
          <p:cNvPr id="21" name="Text 19"/>
          <p:cNvSpPr/>
          <p:nvPr/>
        </p:nvSpPr>
        <p:spPr>
          <a:xfrm>
            <a:off x="4892040" y="3822192"/>
            <a:ext cx="3657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Used in safety-critical / aviation systems (DO-178C)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1B9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Function, Line &amp; Loop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088136"/>
            <a:ext cx="566928" cy="566928"/>
          </a:xfrm>
          <a:prstGeom prst="ellipse">
            <a:avLst/>
          </a:prstGeom>
          <a:solidFill>
            <a:srgbClr val="6A1B9A"/>
          </a:solidFill>
        </p:spPr>
      </p:sp>
      <p:sp>
        <p:nvSpPr>
          <p:cNvPr id="6" name="Text 4"/>
          <p:cNvSpPr/>
          <p:nvPr/>
        </p:nvSpPr>
        <p:spPr>
          <a:xfrm>
            <a:off x="484632" y="108813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𝑓()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0020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how many functions in code were tested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completely untested functions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386584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Essential baseline coverage metric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088136"/>
            <a:ext cx="566928" cy="566928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13" name="Text 11"/>
          <p:cNvSpPr/>
          <p:nvPr/>
        </p:nvSpPr>
        <p:spPr>
          <a:xfrm>
            <a:off x="4919472" y="108813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14300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Call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160020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function often calls another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9472" y="1993392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no faults in function-to-function calls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2386584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Verifies the calling chain is correct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" y="3099816"/>
            <a:ext cx="566928" cy="566928"/>
          </a:xfrm>
          <a:prstGeom prst="ellipse">
            <a:avLst/>
          </a:prstGeom>
          <a:solidFill>
            <a:srgbClr val="0288D1"/>
          </a:solidFill>
        </p:spPr>
      </p:sp>
      <p:sp>
        <p:nvSpPr>
          <p:cNvPr id="20" name="Text 18"/>
          <p:cNvSpPr/>
          <p:nvPr/>
        </p:nvSpPr>
        <p:spPr>
          <a:xfrm>
            <a:off x="484632" y="3099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#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15468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Coverage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" y="361188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Straightforward — counts lines executed by tests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" y="4005072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basic and widely used metric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" y="4398264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not account for branches or conditions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874520"/>
          </a:xfrm>
          <a:prstGeom prst="roundRect">
            <a:avLst>
              <a:gd name="adj" fmla="val 4878"/>
            </a:avLst>
          </a:prstGeom>
          <a:solidFill>
            <a:srgbClr val="ECEFF1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3099816"/>
            <a:ext cx="566928" cy="566928"/>
          </a:xfrm>
          <a:prstGeom prst="ellipse">
            <a:avLst/>
          </a:prstGeom>
          <a:solidFill>
            <a:srgbClr val="558B2F"/>
          </a:solidFill>
        </p:spPr>
      </p:sp>
      <p:sp>
        <p:nvSpPr>
          <p:cNvPr id="27" name="Text 25"/>
          <p:cNvSpPr/>
          <p:nvPr/>
        </p:nvSpPr>
        <p:spPr>
          <a:xfrm>
            <a:off x="4919472" y="3099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315468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Coverage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3611880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all loops have been executed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9472" y="4005072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how many times they run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19472" y="4398264"/>
            <a:ext cx="3794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</a:t>
            </a:r>
            <a:r>
              <a:rPr lang="en-US" sz="115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infinite loops or abnormal termination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0040" y="4690872"/>
            <a:ext cx="8503920" cy="365760"/>
          </a:xfrm>
          <a:prstGeom prst="roundRect">
            <a:avLst>
              <a:gd name="adj" fmla="val 17500"/>
            </a:avLst>
          </a:prstGeom>
          <a:solidFill>
            <a:srgbClr val="EDE7F6"/>
          </a:solidFill>
        </p:spPr>
      </p:sp>
      <p:sp>
        <p:nvSpPr>
          <p:cNvPr id="33" name="Text 31"/>
          <p:cNvSpPr/>
          <p:nvPr/>
        </p:nvSpPr>
        <p:spPr>
          <a:xfrm>
            <a:off x="457200" y="4709160"/>
            <a:ext cx="8321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Use multiple coverage types together for comprehensive test quality!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Coverage ≠ Perfect Code — Best Practices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</p:spPr>
      </p:sp>
      <p:sp>
        <p:nvSpPr>
          <p:cNvPr id="5" name="Text 3"/>
          <p:cNvSpPr/>
          <p:nvPr/>
        </p:nvSpPr>
        <p:spPr>
          <a:xfrm>
            <a:off x="548640" y="932688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1744"/>
                </a:solidFill>
              </a:rPr>
              <a:t>⚠️  The 100% Coverage Myth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8046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coverage does NOT mean everything is tested completely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046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NOT mean tested under every real-world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8046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quality is NOT reflected by coverage percentage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0467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</a:t>
            </a:r>
            <a:r>
              <a:rPr lang="en-US" sz="1200" dirty="0">
                <a:solidFill>
                  <a:srgbClr val="0F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100%-covered module can still have as many bugs as untested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Best Practices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88920"/>
            <a:ext cx="128016" cy="64008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3" name="Text 11"/>
          <p:cNvSpPr/>
          <p:nvPr/>
        </p:nvSpPr>
        <p:spPr>
          <a:xfrm>
            <a:off x="539496" y="28346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Coverage as a Guide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" y="309067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 untested code areas — write tests for those spots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88920"/>
            <a:ext cx="128016" cy="640080"/>
          </a:xfrm>
          <a:prstGeom prst="rect">
            <a:avLst/>
          </a:prstGeom>
          <a:solidFill>
            <a:srgbClr val="0288D1"/>
          </a:solidFill>
        </p:spPr>
      </p:sp>
      <p:sp>
        <p:nvSpPr>
          <p:cNvPr id="17" name="Text 15"/>
          <p:cNvSpPr/>
          <p:nvPr/>
        </p:nvSpPr>
        <p:spPr>
          <a:xfrm>
            <a:off x="4974336" y="283464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8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on Real Scenarios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74336" y="309067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tests that reflect actual usage conditions, not just line execution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20440"/>
            <a:ext cx="128016" cy="6400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1" name="Text 19"/>
          <p:cNvSpPr/>
          <p:nvPr/>
        </p:nvSpPr>
        <p:spPr>
          <a:xfrm>
            <a:off x="539496" y="35661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TDD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" y="382219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Test-Driven Development: write tests BEFORE code for cleaner, focused implementation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04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20440"/>
            <a:ext cx="128016" cy="64008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25" name="Text 23"/>
          <p:cNvSpPr/>
          <p:nvPr/>
        </p:nvSpPr>
        <p:spPr>
          <a:xfrm>
            <a:off x="4974336" y="35661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Tests Independent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74336" y="382219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unit test should test one thing only, independently of others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251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51960"/>
            <a:ext cx="128016" cy="640080"/>
          </a:xfrm>
          <a:prstGeom prst="rect">
            <a:avLst/>
          </a:prstGeom>
          <a:solidFill>
            <a:srgbClr val="6A1B9A"/>
          </a:solidFill>
        </p:spPr>
      </p:sp>
      <p:sp>
        <p:nvSpPr>
          <p:cNvPr id="29" name="Text 27"/>
          <p:cNvSpPr/>
          <p:nvPr/>
        </p:nvSpPr>
        <p:spPr>
          <a:xfrm>
            <a:off x="539496" y="42976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Coverage Types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" y="455371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statement + branch + function coverage together for best results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25196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251960"/>
            <a:ext cx="128016" cy="640080"/>
          </a:xfrm>
          <a:prstGeom prst="rect">
            <a:avLst/>
          </a:prstGeom>
          <a:solidFill>
            <a:srgbClr val="558B2F"/>
          </a:solidFill>
        </p:spPr>
      </p:sp>
      <p:sp>
        <p:nvSpPr>
          <p:cNvPr id="33" name="Text 31"/>
          <p:cNvSpPr/>
          <p:nvPr/>
        </p:nvSpPr>
        <p:spPr>
          <a:xfrm>
            <a:off x="4974336" y="429768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8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Coverage + Code Review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74336" y="4553712"/>
            <a:ext cx="3749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metrics pair best with peer reviews for true quality assurance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983480"/>
            <a:ext cx="8503920" cy="73152"/>
          </a:xfrm>
          <a:prstGeom prst="roundRect">
            <a:avLst>
              <a:gd name="adj" fmla="val 50000"/>
            </a:avLst>
          </a:prstGeom>
          <a:solidFill>
            <a:srgbClr val="00B0FF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Testing in C —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94360" cy="594360"/>
          </a:xfrm>
          <a:prstGeom prst="ellipse">
            <a:avLst/>
          </a:prstGeom>
          <a:solidFill>
            <a:srgbClr val="1565C0"/>
          </a:solidFill>
        </p:spPr>
      </p:sp>
      <p:sp>
        <p:nvSpPr>
          <p:cNvPr id="5" name="Text 3"/>
          <p:cNvSpPr/>
          <p:nvPr/>
        </p:nvSpPr>
        <p:spPr>
          <a:xfrm>
            <a:off x="274320" y="1371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109728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371600"/>
            <a:ext cx="594360" cy="594360"/>
          </a:xfrm>
          <a:prstGeom prst="ellipse">
            <a:avLst/>
          </a:prstGeom>
          <a:solidFill>
            <a:srgbClr val="0288D1"/>
          </a:solidFill>
        </p:spPr>
      </p:sp>
      <p:sp>
        <p:nvSpPr>
          <p:cNvPr id="8" name="Text 6"/>
          <p:cNvSpPr/>
          <p:nvPr/>
        </p:nvSpPr>
        <p:spPr>
          <a:xfrm>
            <a:off x="2011680" y="1371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1760" y="1664208"/>
            <a:ext cx="109728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371600"/>
            <a:ext cx="594360" cy="594360"/>
          </a:xfrm>
          <a:prstGeom prst="ellipse">
            <a:avLst/>
          </a:prstGeom>
          <a:solidFill>
            <a:srgbClr val="00897B"/>
          </a:solidFill>
        </p:spPr>
      </p:sp>
      <p:sp>
        <p:nvSpPr>
          <p:cNvPr id="11" name="Text 9"/>
          <p:cNvSpPr/>
          <p:nvPr/>
        </p:nvSpPr>
        <p:spPr>
          <a:xfrm>
            <a:off x="3749040" y="1371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1664208"/>
            <a:ext cx="109728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371600"/>
            <a:ext cx="594360" cy="594360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4" name="Text 12"/>
          <p:cNvSpPr/>
          <p:nvPr/>
        </p:nvSpPr>
        <p:spPr>
          <a:xfrm>
            <a:off x="5486400" y="1371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1664208"/>
            <a:ext cx="1097280" cy="0"/>
          </a:xfrm>
          <a:prstGeom prst="line">
            <a:avLst/>
          </a:prstGeom>
          <a:noFill/>
          <a:ln w="25400">
            <a:solidFill>
              <a:srgbClr val="00B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371600"/>
            <a:ext cx="594360" cy="594360"/>
          </a:xfrm>
          <a:prstGeom prst="ellipse">
            <a:avLst/>
          </a:prstGeom>
          <a:solidFill>
            <a:srgbClr val="6A1B9A"/>
          </a:solidFill>
        </p:spPr>
      </p:sp>
      <p:sp>
        <p:nvSpPr>
          <p:cNvPr id="17" name="Text 15"/>
          <p:cNvSpPr/>
          <p:nvPr/>
        </p:nvSpPr>
        <p:spPr>
          <a:xfrm>
            <a:off x="7223760" y="1371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20574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-91440" y="237744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unit test and why it matters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0574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8D1"/>
                </a:solidFill>
              </a:rPr>
              <a:t>Justify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237744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bug detection saves time and money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0574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</a:rPr>
              <a:t>Setup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37744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Ceedling — no hardware needed!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0574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Measure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237744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coverage: Statement → Branch → Condition → MCDC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0574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Improve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377440"/>
            <a:ext cx="1325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coverage as a guide, not a goal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F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3246120"/>
            <a:ext cx="7315200" cy="310896"/>
          </a:xfrm>
          <a:prstGeom prst="roundRect">
            <a:avLst>
              <a:gd name="adj" fmla="val 17647"/>
            </a:avLst>
          </a:prstGeom>
          <a:solidFill>
            <a:srgbClr val="1A2F4A"/>
          </a:solidFill>
        </p:spPr>
      </p:sp>
      <p:sp>
        <p:nvSpPr>
          <p:cNvPr id="30" name="Text 28"/>
          <p:cNvSpPr/>
          <p:nvPr/>
        </p:nvSpPr>
        <p:spPr>
          <a:xfrm>
            <a:off x="1051560" y="326440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Unit tests catch bugs early — saving time and money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4400" y="3611880"/>
            <a:ext cx="7315200" cy="310896"/>
          </a:xfrm>
          <a:prstGeom prst="roundRect">
            <a:avLst>
              <a:gd name="adj" fmla="val 17647"/>
            </a:avLst>
          </a:prstGeom>
          <a:solidFill>
            <a:srgbClr val="1A2F4A"/>
          </a:solidFill>
        </p:spPr>
      </p:sp>
      <p:sp>
        <p:nvSpPr>
          <p:cNvPr id="32" name="Text 30"/>
          <p:cNvSpPr/>
          <p:nvPr/>
        </p:nvSpPr>
        <p:spPr>
          <a:xfrm>
            <a:off x="1051560" y="363016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Use Ceedling to test embedded C code on your PC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14400" y="3977640"/>
            <a:ext cx="7315200" cy="310896"/>
          </a:xfrm>
          <a:prstGeom prst="roundRect">
            <a:avLst>
              <a:gd name="adj" fmla="val 17647"/>
            </a:avLst>
          </a:prstGeom>
          <a:solidFill>
            <a:srgbClr val="1A2F4A"/>
          </a:solidFill>
        </p:spPr>
      </p:sp>
      <p:sp>
        <p:nvSpPr>
          <p:cNvPr id="34" name="Text 32"/>
          <p:cNvSpPr/>
          <p:nvPr/>
        </p:nvSpPr>
        <p:spPr>
          <a:xfrm>
            <a:off x="1051560" y="399592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Aim for Branch Coverage as a minimum standard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" y="4343400"/>
            <a:ext cx="7315200" cy="310896"/>
          </a:xfrm>
          <a:prstGeom prst="roundRect">
            <a:avLst>
              <a:gd name="adj" fmla="val 17647"/>
            </a:avLst>
          </a:prstGeom>
          <a:solidFill>
            <a:srgbClr val="1A2F4A"/>
          </a:solidFill>
        </p:spPr>
      </p:sp>
      <p:sp>
        <p:nvSpPr>
          <p:cNvPr id="36" name="Text 34"/>
          <p:cNvSpPr/>
          <p:nvPr/>
        </p:nvSpPr>
        <p:spPr>
          <a:xfrm>
            <a:off x="1051560" y="436168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100% coverage is a guide — not a guarantee of quality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14400" y="4709160"/>
            <a:ext cx="7315200" cy="310896"/>
          </a:xfrm>
          <a:prstGeom prst="roundRect">
            <a:avLst>
              <a:gd name="adj" fmla="val 17647"/>
            </a:avLst>
          </a:prstGeom>
          <a:solidFill>
            <a:srgbClr val="1A2F4A"/>
          </a:solidFill>
        </p:spPr>
      </p:sp>
      <p:sp>
        <p:nvSpPr>
          <p:cNvPr id="38" name="Text 36"/>
          <p:cNvSpPr/>
          <p:nvPr/>
        </p:nvSpPr>
        <p:spPr>
          <a:xfrm>
            <a:off x="1051560" y="472744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TDD (Test-Driven Development) leads to cleaner code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0FF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7646</Words>
  <Application>WPS Presentation</Application>
  <PresentationFormat>On-screen Show (16:9)</PresentationFormat>
  <Paragraphs>424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 in C</dc:title>
  <dc:creator>PptxGenJS</dc:creator>
  <dc:subject>PptxGenJS Presentation</dc:subject>
  <cp:lastModifiedBy>Indira Priyadharshini</cp:lastModifiedBy>
  <cp:revision>2</cp:revision>
  <dcterms:created xsi:type="dcterms:W3CDTF">2026-06-29T06:12:00Z</dcterms:created>
  <dcterms:modified xsi:type="dcterms:W3CDTF">2026-06-29T07:00:50Z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7504CEBE401E498DA1EB6C7EF8B01859_12</vt:lpwstr>
  </property>
  <property fmtid="{D5CDD505-2E9C-101B-9397-08002B2CF9AE}" pid="3" name="KSOProductBuildVer">
    <vt:lpwstr>1033-12.1.0.26880</vt:lpwstr>
  </property>
</Properties>
</file>