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0A896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1247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UNITY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68680" y="310896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Framework for Embedded 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guide to TEST_ASSERT functions — validating </a:t>
            </a: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ooleans, </a:t>
            </a: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ntegers,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 values, </a:t>
            </a: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its, </a:t>
            </a: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trings, </a:t>
            </a:r>
            <a:r>
              <a:rPr lang="en-IN" alt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r>
              <a:rPr lang="en-US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emory, rrays and more.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68680" y="498348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throwtheswitch.org  |  EmbeTronicX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Unity?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 of the Unity test framework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7276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029968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is a rich collection of assertions used to verify whether your source code behaves the way you expect.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provides a framework to organize and run those assertions in test code, kept separate from source code.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14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40690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TEST_ASSERT functions to validate values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634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6177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embedded / C unit testing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12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51663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/ Fail results with clear messages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1900" dirty="0"/>
          </a:p>
        </p:txBody>
      </p:sp>
      <p:sp>
        <p:nvSpPr>
          <p:cNvPr id="17" name="Shape 11"/>
          <p:cNvSpPr/>
          <p:nvPr/>
        </p:nvSpPr>
        <p:spPr>
          <a:xfrm>
            <a:off x="6400800" y="18745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057400"/>
            <a:ext cx="402336" cy="4023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0" y="258775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Boolean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9171432" y="18745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057400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354312" y="258775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Integers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400800" y="3502152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3685032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83680" y="42153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Hex Values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9171432" y="3502152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685032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354312" y="4215384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Bits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400800" y="5129784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5312664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583680" y="5843016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Strings &amp; Ptrs</a:t>
            </a:r>
            <a:endParaRPr lang="en-US" sz="1600" dirty="0"/>
          </a:p>
        </p:txBody>
      </p:sp>
      <p:sp>
        <p:nvSpPr>
          <p:cNvPr id="32" name="Shape 21"/>
          <p:cNvSpPr/>
          <p:nvPr/>
        </p:nvSpPr>
        <p:spPr>
          <a:xfrm>
            <a:off x="9171432" y="5129784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5312664"/>
            <a:ext cx="402336" cy="40233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354312" y="5843016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1600" dirty="0"/>
          </a:p>
        </p:txBody>
      </p:sp>
      <p:sp>
        <p:nvSpPr>
          <p:cNvPr id="35" name="Text 23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Boolean 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to validate boolean conditions and pointers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TEST_ASSERT_TRUE (condition)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condition is TRUE, else fail.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 (condition)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Alternate way of writing TEST_ASSERT_TRUE.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TEST_ASSERT_FALSE (condition)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condition is FALSE, else fail.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Boolean 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to validate boolean conditions and pointers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TEST_ASSERT_UNLESS (condition)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Alternate way of writing TEST_ASSERT_FALSE.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TEST_ASSERT_NULL (pointer)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the pointer is NULL, else fail.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TEST_ASSERT_NOT_NULL (pointer)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the pointer is NOT NULL, else fail.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Boolean — Example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and fail cases for boolean assertions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280160" y="1463040"/>
            <a:ext cx="9601200" cy="4663440"/>
          </a:xfrm>
          <a:prstGeom prst="roundRect">
            <a:avLst>
              <a:gd name="adj" fmla="val 1961"/>
            </a:avLst>
          </a:prstGeom>
          <a:solidFill>
            <a:srgbClr val="1B262C"/>
          </a:solidFill>
        </p:spPr>
      </p:sp>
      <p:sp>
        <p:nvSpPr>
          <p:cNvPr id="7" name="Text 4"/>
          <p:cNvSpPr/>
          <p:nvPr/>
        </p:nvSpPr>
        <p:spPr>
          <a:xfrm>
            <a:off x="1600200" y="1737360"/>
            <a:ext cx="896112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 = 10;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PASS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TEST_ASSERT( (a &gt;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TEST_ASSERT_TRUE( (a &gt;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TEST_ASSERT_UNLESS( (a ==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TEST_ASSERT_FALSE( (a ==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FAIL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TEST_ASSERT( (a ==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TEST_ASSERT_TRUE( (a ==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TEST_ASSERT_UNLESS( (a &gt;&gt; 0) 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TEST_ASSERT_FALSE( (a &gt;&gt; 0) 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Integers 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&amp; unsigned comparisons across all bit-widths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 / INT8 / INT16 / INT32 / INT64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signed integers for equality.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  |  TEST_ASSERT_NOT_EQUAL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is an alias of EQUAL_INT. NOT_EQUAL checks inequality.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TEST_ASSERT_EQUAL_UINT / UINT8 / UINT16 / UINT32 / UINT64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unsigned integers for equality.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Integers 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&amp; unsigned comparisons across all bit-widths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TEST_ASSERT_INT_WITHIN / UINT_WITHIN (delta, expected, actual)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actual is within ± delta of expected (size variants too).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TEST_ASSERT_GREATER_THAN / LESS_THAN (threshold, actual)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if actual is greater / lesser than threshold.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Integers — Example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size-specific variants follow this same pattern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280160" y="1463040"/>
            <a:ext cx="9601200" cy="2834640"/>
          </a:xfrm>
          <a:prstGeom prst="roundRect">
            <a:avLst>
              <a:gd name="adj" fmla="val 3226"/>
            </a:avLst>
          </a:prstGeom>
          <a:solidFill>
            <a:srgbClr val="1B262C"/>
          </a:solidFill>
        </p:spPr>
      </p:sp>
      <p:sp>
        <p:nvSpPr>
          <p:cNvPr id="7" name="Text 4"/>
          <p:cNvSpPr/>
          <p:nvPr/>
        </p:nvSpPr>
        <p:spPr>
          <a:xfrm>
            <a:off x="1600200" y="1737360"/>
            <a:ext cx="89611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 = 10;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PASS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TEST_ASSERT_EQUAL_INT(10, a);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FAIL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TEST_ASSERT_EQUAL_INT(5, a);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526280"/>
            <a:ext cx="9601200" cy="1645920"/>
          </a:xfrm>
          <a:prstGeom prst="roundRect">
            <a:avLst>
              <a:gd name="adj" fmla="val 5556"/>
            </a:avLst>
          </a:prstGeom>
          <a:solidFill>
            <a:srgbClr val="EAF7F5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7365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473659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512064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comparisons come in size-specific variants (8 / 16 / 32 / 64-bit) so you can match the exact data type in your embedded code.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Hex Values 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unsigned hexadecimal values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 (exp, act)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unsigned hex values.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TEST_ASSERT_EQUAL_HEX8 (exp, act)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8-bit unsigned hex values.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TEST_ASSERT_EQUAL_HEX16 (exp, act)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16-bit unsigned hex values.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Hex Values 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unsigned hexadecimal values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TEST_ASSERT_EQUAL_HEX32 (exp, act)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32-bit unsigned hex values.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TEST_ASSERT_EQUAL_HEX64 (exp, act)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64-bit unsigned hex values.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Bits 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to check individual bits or bit ranges via a mask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 (mask, exp, act)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only the bits set to 1 in the mask, between exp and act.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TEST_ASSERT_BITS_HIGH (mask, act)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whether the masked bits are all HIGH in act.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TEST_ASSERT_BITS_LOW (mask, act)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Opposite of BITS_HIGH — checks masked bits are all LOW.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Bits 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to check individual bits or bit ranges via a mask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TEST_ASSERT_BIT_HIGH (bit, act)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a single bit (0–31) is HIGH.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TEST_ASSERT_BIT_LOW (bit, act)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a single bit (0–31) is LOW.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Bits — Example  (act = 0x12FF)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Mask-based comparisons in action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10881360" cy="4754880"/>
          </a:xfrm>
          <a:prstGeom prst="roundRect">
            <a:avLst>
              <a:gd name="adj" fmla="val 1923"/>
            </a:avLst>
          </a:prstGeom>
          <a:solidFill>
            <a:srgbClr val="1B262C"/>
          </a:solidFill>
        </p:spPr>
      </p:sp>
      <p:sp>
        <p:nvSpPr>
          <p:cNvPr id="7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act = 0x12FF;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mask 0xF -&gt; bits 0-3. exp &amp; act both -&gt; 0xF  =&gt; PASS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TEST_ASSERT_BITS(0xF, 0xFFFFFFFF, act);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mask 0xF00 -&gt; bits 8-11. exp 0xF00 vs act 0x200 =&gt; FAIL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TEST_ASSERT_BITS(0xF00, 0xFFFFFFFF, act);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bits 0-3 are high in act =&gt; PASS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TEST_ASSERT_BITS_HIGH(0xF, act);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bits 8-11 are not high =&gt; FAIL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TEST_ASSERT_BITS_LOW(0xF00, act);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bit 0 is high =&gt; PASS / bit 8 is low =&gt; PASS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TEST_ASSERT_BIT_HIGH(0, act);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TEST_ASSERT_BIT_LOW(8, act);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Strings &amp; Pointers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pointer addresses and NULL-terminated strings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TEST_ASSERT_EQUAL_PTR (exp, act)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whether exp pointer and act pointer point to the same address.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 (exp, act)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two NULL-terminated strings; fails on any differing character.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TEST_ASSERT_EQUAL_STRING_LEN (expected, actual, len)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two strings only up to the given len; fails on any differing character.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Strings &amp; Pointers — Example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280160" y="1463040"/>
            <a:ext cx="9601200" cy="4663440"/>
          </a:xfrm>
          <a:prstGeom prst="roundRect">
            <a:avLst>
              <a:gd name="adj" fmla="val 1961"/>
            </a:avLst>
          </a:prstGeom>
          <a:solidFill>
            <a:srgbClr val="1B262C"/>
          </a:solidFill>
        </p:spPr>
      </p:sp>
      <p:sp>
        <p:nvSpPr>
          <p:cNvPr id="6" name="Text 3"/>
          <p:cNvSpPr/>
          <p:nvPr/>
        </p:nvSpPr>
        <p:spPr>
          <a:xfrm>
            <a:off x="1600200" y="1783080"/>
            <a:ext cx="8961120" cy="4023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char a[] = "EMBETRONICX";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char *b = a;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char c[] = "embetronicx";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PASS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TEST_ASSERT_EQUAL_PTR(a, b);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TEST_ASSERT_EQUAL_STRING(a, b);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TEST_ASSERT_EQUAL_STRING_LEN(a, b, 3);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FAIL (case mismatch)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TEST_ASSERT_EQUAL_STRING(a, c);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Structures &amp; Memory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raw memory since structure members can't be checked directly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48132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TEST_ASSERT_EQUAL_MEMORY (exp, act, len)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196596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len bytes of memory from exp and act. Fails if any byte does not match.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AF7F5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7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Note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347472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validate a structure through its individual members directly — only through memory comparison. You must know the structure's padding; the test fails if padding bytes differ.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Structures &amp; Memory — Example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1887"/>
            </a:avLst>
          </a:prstGeom>
          <a:solidFill>
            <a:srgbClr val="1B262C"/>
          </a:solidFill>
        </p:spPr>
      </p:sp>
      <p:sp>
        <p:nvSpPr>
          <p:cNvPr id="6" name="Text 3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typedef struct { int a; int b; } temp;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 a_struct = {10, 20};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 b_struct = {10, 20};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 c_struct = {5, 20};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char a[] = "Embetroncix";  char *b = a;  char c[] = "embetronicx";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PASS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TEST_ASSERT_EQUAL_MEMORY(a, b, 5);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TEST_ASSERT_EQUAL_MEMORY(&amp;a_struct, &amp;b_struct, sizeof(temp));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FAIL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TEST_ASSERT_EQUAL_MEMORY(&amp;a_struct, &amp;c_struct, sizeof(temp));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TEST_ASSERT_EQUAL_MEMORY(a, c, 5);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Arrays 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arrays element-by-element, in the form (exp, act, elem)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TEST_ASSERT_EQUAL_INT_ARRAY / INT8 / INT16 / INT32 / INT64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signed integer arrays of elem elements.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TEST_ASSERT_EQUAL_UINT_ARRAY / UINT8 / UINT16 / UINT32 / UINT64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unsigned integer arrays of elem elements.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37176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TEST_ASSERT_EQUAL_HEX_ARRAY / HEX8 / HEX16 / HEX32 / HEX64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54955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hex value arrays of elem elements.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Validating Arrays 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arrays element-by-element, in the form (exp, act, elem)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819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TEST_ASSERT_EQUAL_PTR_ARRAY (exp, act, elem)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pointer arrays of elem elements.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918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TEST_ASSERT_EQUAL_STRING_ARRAY (exp, act, elem)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785616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two string arrays of elem elements.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Arrays — Example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1887"/>
            </a:avLst>
          </a:prstGeom>
          <a:solidFill>
            <a:srgbClr val="1B262C"/>
          </a:solidFill>
        </p:spPr>
      </p:sp>
      <p:sp>
        <p:nvSpPr>
          <p:cNvPr id="6" name="Text 3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unsigned int a0[] = {1, 8, 567, 120};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unsigned int a1[] = {1, 8, 567, 120};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unsigned int a2[] = {1, 8, 567, 10};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PASS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TEST_ASSERT_EQUAL_INT_ARRAY(a0, a1, 4);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TEST_ASSERT_EQUAL_INT_ARRAY(a0, a2, 3);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TEST_ASSERT_EQUAL_UINT_ARRAY(a0, a1, 4);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FAIL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TEST_ASSERT_EQUAL_INT_ARRAY(a0, a2, 4);</a:t>
            </a:r>
            <a:endParaRPr lang="en-US" sz="15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TEST_ASSERT_EQUAL_HEX32_ARRAY(a0, a2, 4);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_MESSAGE Variant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failure messages for any assertion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36192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_MESSAGE to any assertion name and pass a custom string as the final parameter. That message is printed when the assertion fails.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1064240" cy="3017520"/>
          </a:xfrm>
          <a:prstGeom prst="roundRect">
            <a:avLst>
              <a:gd name="adj" fmla="val 3030"/>
            </a:avLst>
          </a:prstGeom>
          <a:solidFill>
            <a:srgbClr val="1B262C"/>
          </a:solidFill>
        </p:spPr>
      </p:sp>
      <p:sp>
        <p:nvSpPr>
          <p:cNvPr id="9" name="Text 6"/>
          <p:cNvSpPr/>
          <p:nvPr/>
        </p:nvSpPr>
        <p:spPr>
          <a:xfrm>
            <a:off x="868680" y="3611880"/>
            <a:ext cx="1042416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 = 10;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TEST_ASSERT_EQUAL_INT_MESSAGE(13, a,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"Test Failed: \"a\" should be 13");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Output: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6F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Expected 13 Was 10. Test Failed: "a" should be 13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Ignoring &amp; Failing Tests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Controlling which tests run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00A896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916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Ignoring a Test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TEST_IGNORE()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68680" y="29260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AF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Skips the test case — it will not run, and is marked as ignored in the results.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B262C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6916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Forcing a Failure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TEST_FAIL()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492240" y="29260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9D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Forces the test case to fail immediately — useful for marking unimplemented or invalid paths.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85800" cy="685800"/>
          </a:xfrm>
          <a:prstGeom prst="ellipse">
            <a:avLst/>
          </a:prstGeom>
          <a:solidFill>
            <a:srgbClr val="02809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Good to Know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8412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what we've covered today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10332720" cy="3291840"/>
          </a:xfrm>
          <a:prstGeom prst="roundRect">
            <a:avLst>
              <a:gd name="adj" fmla="val 3333"/>
            </a:avLst>
          </a:prstGeom>
          <a:solidFill>
            <a:srgbClr val="EAF7F5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48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03120"/>
            <a:ext cx="896112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Float and double assertions are also available in Unity.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F2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deck covers the most widely used functions — for the complete list, refer to throwtheswitch.org.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Unity Testing Framework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C39A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36576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Takeaways &amp; Roadmap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7" name="Shape 4"/>
          <p:cNvSpPr/>
          <p:nvPr/>
        </p:nvSpPr>
        <p:spPr>
          <a:xfrm>
            <a:off x="868680" y="161848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8" name="Text 5"/>
          <p:cNvSpPr/>
          <p:nvPr/>
        </p:nvSpPr>
        <p:spPr>
          <a:xfrm>
            <a:off x="868680" y="16184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158191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Boolean &amp; Pointer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5856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/ FALSE / NULL checks — the foundation of every test.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16552" y="14173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12" name="Shape 9"/>
          <p:cNvSpPr/>
          <p:nvPr/>
        </p:nvSpPr>
        <p:spPr>
          <a:xfrm>
            <a:off x="4645152" y="161848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0"/>
          <p:cNvSpPr/>
          <p:nvPr/>
        </p:nvSpPr>
        <p:spPr>
          <a:xfrm>
            <a:off x="4645152" y="16184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158191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45152" y="225856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Signed, unsigned, hex, WITHIN-range and threshold comparisons.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93024" y="141732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17" name="Shape 14"/>
          <p:cNvSpPr/>
          <p:nvPr/>
        </p:nvSpPr>
        <p:spPr>
          <a:xfrm>
            <a:off x="8421624" y="161848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8" name="Text 15"/>
          <p:cNvSpPr/>
          <p:nvPr/>
        </p:nvSpPr>
        <p:spPr>
          <a:xfrm>
            <a:off x="8421624" y="16184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061704" y="158191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21624" y="225856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Mask-based and single-bit HIGH/LOW verification.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329184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22" name="Shape 19"/>
          <p:cNvSpPr/>
          <p:nvPr/>
        </p:nvSpPr>
        <p:spPr>
          <a:xfrm>
            <a:off x="868680" y="349300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3" name="Text 20"/>
          <p:cNvSpPr/>
          <p:nvPr/>
        </p:nvSpPr>
        <p:spPr>
          <a:xfrm>
            <a:off x="868680" y="3493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508760" y="34564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Strings, Pointers &amp; Memory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68680" y="413308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addresses, text, and raw structure memory.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16552" y="329184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27" name="Shape 24"/>
          <p:cNvSpPr/>
          <p:nvPr/>
        </p:nvSpPr>
        <p:spPr>
          <a:xfrm>
            <a:off x="4645152" y="349300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8" name="Text 25"/>
          <p:cNvSpPr/>
          <p:nvPr/>
        </p:nvSpPr>
        <p:spPr>
          <a:xfrm>
            <a:off x="4645152" y="3493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285232" y="34564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645152" y="413308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Element-wise comparison across every data type.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193024" y="329184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24343A"/>
          </a:solidFill>
        </p:spPr>
      </p:sp>
      <p:sp>
        <p:nvSpPr>
          <p:cNvPr id="32" name="Shape 29"/>
          <p:cNvSpPr/>
          <p:nvPr/>
        </p:nvSpPr>
        <p:spPr>
          <a:xfrm>
            <a:off x="8421624" y="3493008"/>
            <a:ext cx="502920" cy="50292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33" name="Text 30"/>
          <p:cNvSpPr/>
          <p:nvPr/>
        </p:nvSpPr>
        <p:spPr>
          <a:xfrm>
            <a:off x="8421624" y="3493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061704" y="3456432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&amp; Control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421624" y="413308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C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_MESSAGE for clarity, TEST_IGNORE &amp; TEST_FAIL for flow control.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Step: Build a sample Unity test project and run these assertions against real source code.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8450</Words>
  <Application>WPS Presentation</Application>
  <PresentationFormat>On-screen Show (16:9)</PresentationFormat>
  <Paragraphs>477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Testing Framework</dc:title>
  <dc:creator>EmbeTronicX</dc:creator>
  <dc:subject>PptxGenJS Presentation</dc:subject>
  <cp:lastModifiedBy>Indira Priyadharshini</cp:lastModifiedBy>
  <cp:revision>2</cp:revision>
  <dcterms:created xsi:type="dcterms:W3CDTF">2026-06-30T08:44:00Z</dcterms:created>
  <dcterms:modified xsi:type="dcterms:W3CDTF">2026-06-30T08:49:30Z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7016EE826084416F9FA9C9A8917AB7D9_12</vt:lpwstr>
  </property>
  <property fmtid="{D5CDD505-2E9C-101B-9397-08002B2CF9AE}" pid="3" name="KSOProductBuildVer">
    <vt:lpwstr>1033-12.1.0.26880</vt:lpwstr>
  </property>
</Properties>
</file>