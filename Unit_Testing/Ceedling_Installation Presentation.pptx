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digitalocean.com/community/tutorials/c-compiler-windows-gcc" TargetMode="External"/><Relationship Id="rId2" Type="http://schemas.openxmlformats.org/officeDocument/2006/relationships/hyperlink" Target="https://www.codeblocks.org/downloads/binaries/" TargetMode="External"/><Relationship Id="rId1" Type="http://schemas.openxmlformats.org/officeDocument/2006/relationships/hyperlink" Target="https://rubyinstaller.org/download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533483">
              <a:alpha val="40000"/>
            </a:srgbClr>
          </a:solidFill>
          <a:ln w="12700">
            <a:solidFill>
              <a:srgbClr val="53348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 UNIT TESTING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Ceedling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Test-Driven Development Framework for 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90BE6D">
              <a:alpha val="80000"/>
            </a:srgbClr>
          </a:solidFill>
          <a:ln w="12700">
            <a:solidFill>
              <a:srgbClr val="90B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34290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9C74F">
              <a:alpha val="8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429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CMock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34290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429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CException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with confidence. Test with precision.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7432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0" y="274320"/>
            <a:ext cx="777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Ruby Gem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Ceedling?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533483">
              <a:alpha val="30000"/>
            </a:srgbClr>
          </a:solidFill>
          <a:ln w="12700">
            <a:solidFill>
              <a:srgbClr val="533483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Ceedling</a:t>
            </a:r>
            <a:r>
              <a:rPr lang="en-US" sz="15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</a:t>
            </a:r>
            <a:r>
              <a:rPr lang="en-US" sz="15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Ruby gem</a:t>
            </a:r>
            <a:r>
              <a:rPr lang="en-US" sz="15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that automates </a:t>
            </a:r>
            <a:r>
              <a:rPr lang="en-US" sz="1500" b="1" dirty="0">
                <a:solidFill>
                  <a:srgbClr val="90BE6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setup, building &amp; running</a:t>
            </a:r>
            <a:r>
              <a:rPr lang="en-US" sz="15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of C unit tests — built for </a:t>
            </a:r>
            <a:r>
              <a:rPr lang="en-US" sz="15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Test-Driven Development (TDD)</a:t>
            </a:r>
            <a:r>
              <a:rPr lang="en-US" sz="15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231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0896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Automates Tests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3547872"/>
            <a:ext cx="23774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all setup, build, and test execution with zero manual configuration.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2860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4231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310896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TDD Focused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37560" y="3547872"/>
            <a:ext cx="23774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Primarily designed for Test-Driven Development in the C programming language.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2860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42316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310896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All-in-One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72200" y="3547872"/>
            <a:ext cx="23774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Bundles Unity, CMock &amp; CException — everything needed for C testing.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3 Core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1E1E35"/>
          </a:solidFill>
          <a:ln w="12700">
            <a:solidFill>
              <a:srgbClr val="90BE6D">
                <a:alpha val="40000"/>
              </a:srgbClr>
            </a:solidFill>
            <a:prstDash val="solid"/>
          </a:ln>
          <a:effectLst>
            <a:outerShdw blurRad="1270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6012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417320"/>
            <a:ext cx="283464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00584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05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FRAMEWORK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" y="126187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Unity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" y="182880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Testing Framework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148840"/>
            <a:ext cx="256032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xUnit-style test framework for 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Completely written in C — 100% portable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Quick, simple &amp; expressive syntax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for embedded systems testing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Extensible for custom use cases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1E1E35"/>
          </a:solidFill>
          <a:ln w="12700">
            <a:solidFill>
              <a:srgbClr val="F9C74F">
                <a:alpha val="40000"/>
              </a:srgbClr>
            </a:solidFill>
            <a:prstDash val="solid"/>
          </a:ln>
          <a:effectLst>
            <a:outerShdw blurRad="1270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417320"/>
            <a:ext cx="2834640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00584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005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MOCKING FRAMEWORK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4408" y="126187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CMock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64408" y="182880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Mock &amp; Stub Generator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148840"/>
            <a:ext cx="256032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Auto-generates stubs from header files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Expectations — verify function calls &amp; args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— define mock return values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Ignores — skip irrelevant expectations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Callbacks — complex mock behavior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96012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1E1E35"/>
          </a:solidFill>
          <a:ln w="12700">
            <a:solidFill>
              <a:srgbClr val="E94560">
                <a:alpha val="40000"/>
              </a:srgbClr>
            </a:solidFill>
            <a:prstDash val="solid"/>
          </a:ln>
          <a:effectLst>
            <a:outerShdw blurRad="1270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96012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1417320"/>
            <a:ext cx="283464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1928" y="100584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005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EXCEPTION LIBRARY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36208" y="126187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CException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36208" y="182880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2148840"/>
            <a:ext cx="256032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/ catch / throw syntax in 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&amp; multi-tasking (RTOS) support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setjmp &amp; longjmp (ANSI C)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Highly portable across platforms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for embedded exception handling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CMock — Automated Mock &amp; Stub Generation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 w="12700">
            <a:solidFill>
              <a:srgbClr val="F9C74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CMock</a:t>
            </a:r>
            <a:r>
              <a:rPr lang="en-US" sz="13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automatically generates stubs &amp; mocks from your </a:t>
            </a:r>
            <a:r>
              <a:rPr lang="en-US" sz="13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 files</a:t>
            </a:r>
            <a:r>
              <a:rPr lang="en-US" sz="13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It works within Unity and is included in every Ceedling project.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164592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96596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Specify functions expected to be called with exact values by the function under test.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0" y="91440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972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64592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949440" y="196596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what data the mocked function should return back to the tested code.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31089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2918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384048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754880" y="416052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the framework to ignore specific expectation values when they're not relevant.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58000" y="31089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29184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384048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949440" y="416052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complex, custom mocked behavior with flexible callback functions.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0040" y="233172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1A2744"/>
          </a:solidFill>
          <a:ln w="12700">
            <a:solidFill>
              <a:srgbClr val="A8D8EA">
                <a:alpha val="5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Capability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2788920"/>
            <a:ext cx="37490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Autogenerates ALL functions from header files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directly into Ceedling build pipeline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complex dependency injection scenarios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manual stub writing by 100%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Operating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🪟  Windows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2588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🐧  Linux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2588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🍎  macOS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9144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914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Technology: C / C++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 w="12700">
            <a:solidFill>
              <a:srgbClr val="A8D8E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371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EA"/>
                </a:solidFill>
              </a:rPr>
              <a:t>UI: Command 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 Tools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70632"/>
            <a:ext cx="9144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770632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v1.8.6 or newer — the runtime for Ceedling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9144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GCC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429000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C compiler — install via MinGW (Windows) or apt-get (Linux)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E2D5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87368"/>
            <a:ext cx="9144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Setup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08736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Ruby &amp; GCC must be accessible from the command 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33172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Ruby installation: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43200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ruby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ruby 2.5.1p57 [x64-mingw32]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40156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Installation (apt-get):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76732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67328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sudo apt-get install ruby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Installing Ceedling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640080" cy="640080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0" cy="384048"/>
          </a:xfrm>
          <a:prstGeom prst="line">
            <a:avLst/>
          </a:prstGeom>
          <a:noFill/>
          <a:ln w="25400">
            <a:solidFill>
              <a:srgbClr val="90BE6D">
                <a:alpha val="60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97280" y="914400"/>
            <a:ext cx="7680960" cy="667512"/>
          </a:xfrm>
          <a:prstGeom prst="roundRect">
            <a:avLst>
              <a:gd name="adj" fmla="val 10959"/>
            </a:avLst>
          </a:prstGeom>
          <a:solidFill>
            <a:srgbClr val="1A2744"/>
          </a:solidFill>
          <a:ln w="12700">
            <a:solidFill>
              <a:srgbClr val="90BE6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950976"/>
            <a:ext cx="7406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BE6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Ruby</a:t>
            </a: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Download from rubyinstaller.org (Windows) or use apt-get (Linux). Select ✔ 'Add Ruby to PATH'.</a:t>
            </a:r>
            <a:b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alt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1"/>
                    </a:ext>
                  </a:extLst>
                </a:hlinkClick>
              </a:rPr>
              <a:t>https://rubyinstaller.org/downloads/    </a:t>
            </a:r>
            <a:r>
              <a:rPr lang="en-US" sz="1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open use ctrl+mouse </a:t>
            </a:r>
            <a:br>
              <a:rPr lang="en-US" altLang="en-US" sz="1200" u="sng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1"/>
                    </a:ext>
                  </a:extLst>
                </a:hlinkClick>
              </a:rPr>
            </a:br>
            <a:endParaRPr lang="en-US" altLang="en-US" sz="1200" u="sng" dirty="0">
              <a:solidFill>
                <a:srgbClr val="E8E8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hlinkClick r:id="rId1" tooltip="" action="ppaction://hlinkfile">
                <a:extLst>
                  <a:ext uri="{DAF060AB-1E55-43B9-8AAB-6FB025537F2F}">
                    <wpsdc:hlinkClr xmlns:wpsdc="http://www.wps.cn/officeDocument/2017/drawingmlCustomData" val="FFFFFF"/>
                    <wpsdc:folHlinkClr xmlns:wpsdc="http://www.wps.cn/officeDocument/2017/drawingmlCustomData" val="FFFFFF"/>
                    <wpsdc:hlinkUnderline xmlns:wpsdc="http://www.wps.cn/officeDocument/2017/drawingmlCustomData" val="1"/>
                  </a:ext>
                </a:extLst>
              </a:hlinkClick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640080" cy="64008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5681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2596896"/>
            <a:ext cx="0" cy="384048"/>
          </a:xfrm>
          <a:prstGeom prst="line">
            <a:avLst/>
          </a:prstGeom>
          <a:noFill/>
          <a:ln w="25400">
            <a:solidFill>
              <a:srgbClr val="A8D8EA">
                <a:alpha val="60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97280" y="1938528"/>
            <a:ext cx="7680960" cy="667512"/>
          </a:xfrm>
          <a:prstGeom prst="roundRect">
            <a:avLst>
              <a:gd name="adj" fmla="val 10959"/>
            </a:avLst>
          </a:prstGeom>
          <a:solidFill>
            <a:srgbClr val="1A2744"/>
          </a:solidFill>
          <a:ln w="12700">
            <a:solidFill>
              <a:srgbClr val="A8D8E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975104"/>
            <a:ext cx="7406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GCC</a:t>
            </a: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Install via MinGW on Windows or via Code::Blocks. Ensure GCC is accessible from the terminal.</a:t>
            </a:r>
            <a:b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  <a:sym typeface="+mn-ea"/>
                <a:hlinkClick r:id="rId2" action="ppaction://hlinkfile"/>
              </a:rPr>
              <a:t>https://www.codeblocks.org/downloads/binaries/</a:t>
            </a:r>
            <a:r>
              <a:rPr lang="en-IN" alt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-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  <a:sym typeface="+mn-ea"/>
                <a:hlinkClick r:id="rId3" action="ppaction://hlinkfile"/>
              </a:rPr>
              <a:t>https://www.digitalocean.com/community/tutorials/c-compiler-windows-gcc</a:t>
            </a:r>
            <a:endParaRPr lang="en-IN" altLang="en-US" sz="1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640080" cy="64008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8094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3621024"/>
            <a:ext cx="0" cy="384048"/>
          </a:xfrm>
          <a:prstGeom prst="line">
            <a:avLst/>
          </a:prstGeom>
          <a:noFill/>
          <a:ln w="25400">
            <a:solidFill>
              <a:srgbClr val="F9C74F">
                <a:alpha val="6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97280" y="2962656"/>
            <a:ext cx="7680960" cy="896112"/>
          </a:xfrm>
          <a:prstGeom prst="roundRect">
            <a:avLst>
              <a:gd name="adj" fmla="val 8163"/>
            </a:avLst>
          </a:prstGeom>
          <a:solidFill>
            <a:srgbClr val="1A2744"/>
          </a:solidFill>
          <a:ln w="12700">
            <a:solidFill>
              <a:srgbClr val="F9C74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999232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Ceedling via gem</a:t>
            </a: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Run the RubyGem install command: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3419856"/>
            <a:ext cx="5943600" cy="347472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419856"/>
            <a:ext cx="5669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gem install ceedling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0507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97280" y="3986784"/>
            <a:ext cx="7680960" cy="896112"/>
          </a:xfrm>
          <a:prstGeom prst="roundRect">
            <a:avLst>
              <a:gd name="adj" fmla="val 8163"/>
            </a:avLst>
          </a:prstGeom>
          <a:solidFill>
            <a:srgbClr val="1A2744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023360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New Project</a:t>
            </a:r>
            <a:r>
              <a:rPr lang="en-US" sz="12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Scaffold your Ceedling project: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34440" y="4443984"/>
            <a:ext cx="5943600" cy="347472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443984"/>
            <a:ext cx="5669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ceedling new PROJECT_NAME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Ceedling Commands &amp; Version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051560"/>
            <a:ext cx="164592" cy="164592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051560"/>
            <a:ext cx="164592" cy="164592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9144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Ceedling Commands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48463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ceedling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Welcome to Ceedling!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Commands: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ceedling new PROJECT_NAME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ceedling example PROJ_NAME [DEST]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ceedling examples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ceedling upgrade PROJECT_NAME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ceedling 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ceedling help [COMMAND]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Verification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132588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325880"/>
            <a:ext cx="2834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E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ceedling version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01368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E2D50"/>
          </a:solidFill>
          <a:ln w="12700">
            <a:solidFill>
              <a:srgbClr val="90BE6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8288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E6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Ceedling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18288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v0.29.1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242316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E2D50"/>
          </a:solidFill>
          <a:ln w="12700">
            <a:solidFill>
              <a:srgbClr val="F9C74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4505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24505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v2.5.1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3044952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E2D50"/>
          </a:solidFill>
          <a:ln w="12700">
            <a:solidFill>
              <a:srgbClr val="A8D8E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07238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07238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v2.5.0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3666744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E2D50"/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694176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CException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694176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v1.3.2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Ceedling Architecture — Big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9202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Ceedling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0" y="25146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&amp; Test Manager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1005840" cy="731520"/>
          </a:xfrm>
          <a:prstGeom prst="line">
            <a:avLst/>
          </a:prstGeom>
          <a:noFill/>
          <a:ln w="25400">
            <a:solidFill>
              <a:srgbClr val="90BE6D">
                <a:alpha val="60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943600" y="1463040"/>
            <a:ext cx="640080" cy="731520"/>
          </a:xfrm>
          <a:prstGeom prst="line">
            <a:avLst/>
          </a:prstGeom>
          <a:noFill/>
          <a:ln w="25400">
            <a:solidFill>
              <a:srgbClr val="F9C74F">
                <a:alpha val="6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94560" y="2743200"/>
            <a:ext cx="1005840" cy="822960"/>
          </a:xfrm>
          <a:prstGeom prst="line">
            <a:avLst/>
          </a:prstGeom>
          <a:noFill/>
          <a:ln w="25400">
            <a:solidFill>
              <a:srgbClr val="E94560">
                <a:alpha val="60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0" y="2743200"/>
            <a:ext cx="640080" cy="822960"/>
          </a:xfrm>
          <a:prstGeom prst="line">
            <a:avLst/>
          </a:prstGeom>
          <a:noFill/>
          <a:ln w="25400">
            <a:solidFill>
              <a:srgbClr val="A8D8EA">
                <a:alpha val="60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914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E2D50"/>
          </a:solidFill>
          <a:ln w="12700">
            <a:solidFill>
              <a:srgbClr val="90BE6D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6926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0BE6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13898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914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E2D50"/>
          </a:solidFill>
          <a:ln w="12700">
            <a:solidFill>
              <a:srgbClr val="F9C74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96926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C7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CMock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13898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Mock Generator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E2D50"/>
          </a:solidFill>
          <a:ln w="12700">
            <a:solidFill>
              <a:srgbClr val="E9456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CException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7673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Exception Handler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E2D50"/>
          </a:solidFill>
          <a:ln w="12700">
            <a:solidFill>
              <a:srgbClr val="A8D8EA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34670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D8E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GCC / 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37673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Compiler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65760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1E2D50"/>
          </a:solidFill>
          <a:ln w="12700">
            <a:solidFill>
              <a:srgbClr val="533483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65760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Ruby Gem Package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0" cy="594360"/>
          </a:xfrm>
          <a:prstGeom prst="line">
            <a:avLst/>
          </a:prstGeom>
          <a:noFill/>
          <a:ln w="25400">
            <a:solidFill>
              <a:srgbClr val="53348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gem install ceedling  — one command to rule them all!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3571</Words>
  <Application>WPS Presentation</Application>
  <PresentationFormat>On-screen Show (16:9)</PresentationFormat>
  <Paragraphs>216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Ceedling - C Unit Testing Framework</dc:title>
  <dc:creator>PptxGenJS</dc:creator>
  <dc:subject>PptxGenJS Presentation</dc:subject>
  <cp:lastModifiedBy>Indira Priyadharshini</cp:lastModifiedBy>
  <cp:revision>2</cp:revision>
  <dcterms:created xsi:type="dcterms:W3CDTF">2026-06-29T13:02:00Z</dcterms:created>
  <dcterms:modified xsi:type="dcterms:W3CDTF">2026-06-29T13:16:55Z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185DC693E67844DF8DCDB796946225C6_12</vt:lpwstr>
  </property>
  <property fmtid="{D5CDD505-2E9C-101B-9397-08002B2CF9AE}" pid="3" name="KSOProductBuildVer">
    <vt:lpwstr>1033-12.1.0.26880</vt:lpwstr>
  </property>
</Properties>
</file>