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5" r:id="rId7"/>
    <p:sldId id="262" r:id="rId8"/>
    <p:sldId id="263" r:id="rId9"/>
    <p:sldId id="264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charset="0"/>
                <a:ea typeface="+mj-lt"/>
                <a:cs typeface="Times New Roman" panose="02020603050405020304" charset="0"/>
              </a:rPr>
              <a:t>Unit Testing 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32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r>
              <a:rPr lang="en-US" sz="3200">
                <a:latin typeface="Times New Roman" panose="02020603050405020304" charset="0"/>
                <a:ea typeface="+mn-lt"/>
                <a:cs typeface="Times New Roman" panose="02020603050405020304" charset="0"/>
              </a:rPr>
              <a:t>Subtitle: Ensuring Code Integrity &amp; Maintainability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charset="0"/>
                <a:ea typeface="+mj-lt"/>
                <a:cs typeface="Times New Roman" panose="02020603050405020304" charset="0"/>
              </a:rPr>
              <a:t>What is Unit Testing?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486275"/>
          </a:xfrm>
        </p:spPr>
        <p:txBody>
          <a:bodyPr vert="horz" lIns="91440" tIns="45720" rIns="91440" bIns="45720" rtlCol="0" anchor="t">
            <a:normAutofit lnSpcReduction="20000"/>
          </a:bodyPr>
          <a:lstStyle/>
          <a:p>
            <a:pPr marL="514350" indent="-514350">
              <a:buAutoNum type="arabicPeriod"/>
            </a:pPr>
            <a:r>
              <a:rPr lang="en-US" sz="2160" b="1" i="1">
                <a:latin typeface="Times New Roman" panose="02020603050405020304" charset="0"/>
                <a:ea typeface="+mn-lt"/>
                <a:cs typeface="Times New Roman" panose="02020603050405020304" charset="0"/>
              </a:rPr>
              <a:t>Definition</a:t>
            </a:r>
            <a:endParaRPr lang="en-US" sz="2160" b="1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160" b="1" i="1" dirty="0">
                <a:latin typeface="Times New Roman" panose="02020603050405020304" charset="0"/>
                <a:cs typeface="Times New Roman" panose="02020603050405020304" charset="0"/>
              </a:rPr>
              <a:t>                           </a:t>
            </a:r>
            <a:r>
              <a:rPr lang="en-US" sz="2160">
                <a:solidFill>
                  <a:srgbClr val="141413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Testing one function at a time :</a:t>
            </a:r>
            <a:endParaRPr lang="en-US" sz="2160">
              <a:solidFill>
                <a:srgbClr val="141413"/>
              </a:solid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160">
                <a:solidFill>
                  <a:srgbClr val="3D3D3A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Unit testing isolates a </a:t>
            </a:r>
            <a:r>
              <a:rPr lang="en-US" sz="216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single function or module</a:t>
            </a:r>
            <a:r>
              <a:rPr lang="en-US" sz="2160" dirty="0">
                <a:solidFill>
                  <a:srgbClr val="3D3D3A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160">
                <a:solidFill>
                  <a:srgbClr val="3D3D3A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and checks its output for known inputs — </a:t>
            </a:r>
            <a:r>
              <a:rPr lang="en-US" sz="216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completely independent of hardware or other modules.</a:t>
            </a:r>
            <a:endParaRPr lang="en-US" sz="216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</a:pPr>
            <a:r>
              <a:rPr lang="en-US" sz="2160" dirty="0">
                <a:solidFill>
                  <a:schemeClr val="bg1"/>
                </a:solidFill>
                <a:highlight>
                  <a:srgbClr val="EEEDFE"/>
                </a:highlight>
                <a:latin typeface="Times New Roman" panose="02020603050405020304" charset="0"/>
                <a:ea typeface="+mn-lt"/>
                <a:cs typeface="Times New Roman" panose="02020603050405020304" charset="0"/>
              </a:rPr>
              <a:t>                                                             </a:t>
            </a:r>
            <a:r>
              <a:rPr lang="en-US" sz="2160" dirty="0">
                <a:solidFill>
                  <a:srgbClr val="3C3489"/>
                </a:solidFill>
                <a:highlight>
                  <a:srgbClr val="EEEDFE"/>
                </a:highlight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160" dirty="0" err="1">
                <a:solidFill>
                  <a:srgbClr val="3C3489"/>
                </a:solidFill>
                <a:highlight>
                  <a:srgbClr val="EEEDFE"/>
                </a:highlight>
                <a:latin typeface="Times New Roman" panose="02020603050405020304" charset="0"/>
                <a:ea typeface="+mn-lt"/>
                <a:cs typeface="Times New Roman" panose="02020603050405020304" charset="0"/>
              </a:rPr>
              <a:t>add_values</a:t>
            </a:r>
            <a:r>
              <a:rPr lang="en-US" sz="2160" dirty="0">
                <a:solidFill>
                  <a:srgbClr val="3C3489"/>
                </a:solidFill>
                <a:highlight>
                  <a:srgbClr val="EEEDFE"/>
                </a:highlight>
                <a:latin typeface="Times New Roman" panose="02020603050405020304" charset="0"/>
                <a:ea typeface="+mn-lt"/>
                <a:cs typeface="Times New Roman" panose="02020603050405020304" charset="0"/>
              </a:rPr>
              <a:t>()  </a:t>
            </a:r>
            <a:r>
              <a:rPr lang="en-US" sz="2160" dirty="0">
                <a:solidFill>
                  <a:srgbClr val="73726C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←  </a:t>
            </a:r>
            <a:r>
              <a:rPr lang="en-US" sz="2160" dirty="0" err="1">
                <a:solidFill>
                  <a:srgbClr val="085041"/>
                </a:solidFill>
                <a:highlight>
                  <a:srgbClr val="E1F5EE"/>
                </a:highlight>
                <a:latin typeface="Times New Roman" panose="02020603050405020304" charset="0"/>
                <a:ea typeface="+mn-lt"/>
                <a:cs typeface="Times New Roman" panose="02020603050405020304" charset="0"/>
              </a:rPr>
              <a:t>CMock</a:t>
            </a:r>
            <a:r>
              <a:rPr lang="en-US" sz="2160" dirty="0">
                <a:solidFill>
                  <a:srgbClr val="085041"/>
                </a:solidFill>
                <a:highlight>
                  <a:srgbClr val="E1F5EE"/>
                </a:highlight>
                <a:latin typeface="Times New Roman" panose="02020603050405020304" charset="0"/>
                <a:ea typeface="+mn-lt"/>
                <a:cs typeface="Times New Roman" panose="02020603050405020304" charset="0"/>
              </a:rPr>
              <a:t> fak</a:t>
            </a:r>
            <a:r>
              <a:rPr lang="en-US" sz="2160" dirty="0" err="1">
                <a:solidFill>
                  <a:srgbClr val="085041"/>
                </a:solidFill>
                <a:highlight>
                  <a:srgbClr val="E1F5EE"/>
                </a:highlight>
                <a:latin typeface="Times New Roman" panose="02020603050405020304" charset="0"/>
                <a:ea typeface="+mn-lt"/>
                <a:cs typeface="Times New Roman" panose="02020603050405020304" charset="0"/>
              </a:rPr>
              <a:t>es</a:t>
            </a:r>
            <a:endParaRPr lang="en-US" sz="2160" dirty="0" err="1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algn="ctr">
              <a:buNone/>
            </a:pPr>
            <a:r>
              <a:rPr lang="en-US" sz="2160">
                <a:solidFill>
                  <a:srgbClr val="73726C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Real hardware replaced with controlled fakes</a:t>
            </a:r>
            <a:endParaRPr lang="en-US" sz="216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algn="ctr">
              <a:buNone/>
            </a:pPr>
            <a:endParaRPr lang="en-US" sz="2160" dirty="0">
              <a:solidFill>
                <a:srgbClr val="73726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buNone/>
            </a:pPr>
            <a:endParaRPr lang="en-US" sz="2160" dirty="0">
              <a:solidFill>
                <a:srgbClr val="73726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</a:pPr>
            <a:r>
              <a:rPr lang="en-US" sz="2160" b="1">
                <a:solidFill>
                  <a:srgbClr val="0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2. Goal</a:t>
            </a:r>
            <a:endParaRPr lang="en-US" sz="216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</a:pPr>
            <a:r>
              <a:rPr lang="en-US" sz="2160">
                <a:solidFill>
                  <a:srgbClr val="0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               Verify logic before integration :</a:t>
            </a:r>
            <a:endParaRPr lang="en-US" sz="216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</a:pPr>
            <a:r>
              <a:rPr lang="en-US" sz="2160">
                <a:solidFill>
                  <a:srgbClr val="0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Each function is proven correct in isolation. Bugs are found at the function level — not after</a:t>
            </a:r>
            <a:endParaRPr lang="en-US" sz="2160">
              <a:solidFill>
                <a:srgbClr val="000000"/>
              </a:solid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>
              <a:buNone/>
            </a:pPr>
            <a:r>
              <a:rPr lang="en-US" sz="2160">
                <a:solidFill>
                  <a:srgbClr val="0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combining 20 modules on real hardware.</a:t>
            </a:r>
            <a:endParaRPr lang="en-US" sz="216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160" b="1" i="1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Real example — STM32 C code</a:t>
            </a:r>
            <a:br>
              <a:rPr lang="en-US" sz="28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br>
              <a:rPr lang="en-US" sz="28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r>
              <a:rPr lang="en-US" sz="2800" dirty="0">
                <a:solidFill>
                  <a:srgbClr val="FF0000"/>
                </a:solidFill>
                <a:latin typeface="Times New Roman" panose="02020603050405020304" charset="0"/>
                <a:ea typeface="+mj-lt"/>
                <a:cs typeface="Times New Roman" panose="02020603050405020304" charset="0"/>
              </a:rPr>
              <a:t>What a unit test actually looks like</a:t>
            </a:r>
            <a:endParaRPr lang="en-US" sz="2800" dirty="0">
              <a:solidFill>
                <a:srgbClr val="FF0000"/>
              </a:solidFill>
              <a:latin typeface="Times New Roman" panose="02020603050405020304" charset="0"/>
              <a:ea typeface="+mj-lt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Source function (</a:t>
            </a:r>
            <a:r>
              <a:rPr lang="en-US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src</a:t>
            </a:r>
            <a:r>
              <a:rPr lang="en-US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/</a:t>
            </a:r>
            <a:r>
              <a:rPr lang="en-US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math_utils.c</a:t>
            </a:r>
            <a:r>
              <a:rPr lang="en-US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)</a:t>
            </a:r>
            <a:endParaRPr lang="en-US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int 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add_values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(int a, int b) {
  return a + b;
}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Unity test (test/</a:t>
            </a:r>
            <a:r>
              <a:rPr lang="en-US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test_math_utils.c</a:t>
            </a:r>
            <a:r>
              <a:rPr lang="en-US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)</a:t>
            </a:r>
            <a:endParaRPr lang="en-US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#include "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unity.h"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
#include "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math_utils.h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"
void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test_add_positive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(void) 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{  int result =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add_values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(3, 4);
  TEST_ASSERT_EQUAL_INT(7, result);
}
void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test_add_negative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(void)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 {
  int result =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add_values(-2, 5);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
  TEST_ASSERT_EQUAL_INT(3, result);
}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Times New Roman" panose="02020603050405020304" charset="0"/>
                <a:ea typeface="+mj-lt"/>
                <a:cs typeface="Times New Roman" panose="02020603050405020304" charset="0"/>
              </a:rPr>
              <a:t>Why Unit Testing Matters</a:t>
            </a:r>
            <a:endParaRPr lang="en-US" sz="2800">
              <a:latin typeface="Times New Roman" panose="02020603050405020304" charset="0"/>
              <a:ea typeface="+mj-lt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latin typeface="Times New Roman" panose="02020603050405020304" charset="0"/>
                <a:ea typeface="+mn-lt"/>
                <a:cs typeface="Times New Roman" panose="02020603050405020304" charset="0"/>
              </a:rPr>
              <a:t>The core problem</a:t>
            </a:r>
            <a:b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</a:b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>
                <a:solidFill>
                  <a:srgbClr val="FF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Embedded bugs are expensive to find late</a:t>
            </a:r>
            <a:endParaRPr lang="en-US" sz="2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latin typeface="Times New Roman" panose="02020603050405020304" charset="0"/>
                <a:ea typeface="+mn-lt"/>
                <a:cs typeface="Times New Roman" panose="02020603050405020304" charset="0"/>
              </a:rPr>
              <a:t>The later a bug is found in the development cycle, the more it costs to fix. In embedded systems, "late" means on real hardware.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solidFill>
                  <a:srgbClr val="3D3D3A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Unit test  = </a:t>
            </a:r>
            <a:r>
              <a:rPr lang="en-US" sz="2400" dirty="0">
                <a:solidFill>
                  <a:srgbClr val="27500A"/>
                </a:solidFill>
                <a:highlight>
                  <a:srgbClr val="EAF3DE"/>
                </a:highlight>
                <a:latin typeface="Times New Roman" panose="02020603050405020304" charset="0"/>
                <a:ea typeface="+mn-lt"/>
                <a:cs typeface="Times New Roman" panose="02020603050405020304" charset="0"/>
              </a:rPr>
              <a:t>1×</a:t>
            </a:r>
            <a:endParaRPr lang="en-US" sz="24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r>
              <a:rPr lang="en-US" sz="2400">
                <a:solidFill>
                  <a:srgbClr val="3D3D3A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Integration  = </a:t>
            </a:r>
            <a:r>
              <a:rPr lang="en-US" sz="2400">
                <a:solidFill>
                  <a:srgbClr val="633806"/>
                </a:solidFill>
                <a:highlight>
                  <a:srgbClr val="FAEEDA"/>
                </a:highlight>
                <a:latin typeface="Times New Roman" panose="02020603050405020304" charset="0"/>
                <a:ea typeface="+mn-lt"/>
                <a:cs typeface="Times New Roman" panose="02020603050405020304" charset="0"/>
              </a:rPr>
              <a:t>10×</a:t>
            </a:r>
            <a:endParaRPr lang="en-US" sz="24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r>
              <a:rPr lang="en-US" sz="2400">
                <a:solidFill>
                  <a:srgbClr val="3D3D3A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On hardware  = </a:t>
            </a:r>
            <a:r>
              <a:rPr lang="en-US" sz="2400">
                <a:solidFill>
                  <a:srgbClr val="791F1F"/>
                </a:solidFill>
                <a:highlight>
                  <a:srgbClr val="FCEBEB"/>
                </a:highlight>
                <a:latin typeface="Times New Roman" panose="02020603050405020304" charset="0"/>
                <a:ea typeface="+mn-lt"/>
                <a:cs typeface="Times New Roman" panose="02020603050405020304" charset="0"/>
              </a:rPr>
              <a:t>50×+</a:t>
            </a:r>
            <a:endParaRPr lang="en-US" sz="2400">
              <a:solidFill>
                <a:srgbClr val="791F1F"/>
              </a:solidFill>
              <a:highlight>
                <a:srgbClr val="FCEBEB"/>
              </a:highlight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 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Relative cost to fix a bug at each stage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905" y="526143"/>
            <a:ext cx="11696094" cy="61239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28600" indent="-228600">
              <a:buFont typeface="Arial,Sans-Serif"/>
              <a:buChar char="•"/>
            </a:pPr>
            <a:r>
              <a:rPr lang="en-US" sz="2400" b="1" i="0" u="none" strike="noStrike" baseline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1× — Unit test stage</a:t>
            </a:r>
            <a:r>
              <a:rPr lang="en-US" sz="2400" b="0" i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​</a:t>
            </a:r>
            <a:endParaRPr lang="en-US" sz="2400" dirty="0">
              <a:latin typeface="Times New Roman" panose="02020603050405020304" charset="0"/>
              <a:ea typeface="Arial" panose="020B0604020202020204"/>
              <a:cs typeface="Times New Roman" panose="02020603050405020304" charset="0"/>
            </a:endParaRPr>
          </a:p>
          <a:p>
            <a:pPr lvl="0" algn="l"/>
            <a:r>
              <a:rPr lang="en-US" sz="2400" b="0" i="0" u="none" strike="noStrike" baseline="0" dirty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    When we find a bug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while writing a unit test </a:t>
            </a:r>
            <a:r>
              <a:rPr lang="en-US" sz="2400" b="0" i="0" u="none" strike="noStrike" baseline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on </a:t>
            </a:r>
            <a:r>
              <a:rPr lang="en-US" sz="240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PC</a:t>
            </a:r>
            <a:r>
              <a:rPr lang="en-US" sz="2400" b="0" i="0" u="none" strike="noStrike" baseline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, it is the </a:t>
            </a:r>
            <a:r>
              <a:rPr lang="en-US" sz="2400" b="0" i="0" u="none" strike="noStrike" baseline="0">
                <a:solidFill>
                  <a:srgbClr val="C00000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cheapest and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fastest to fix.</a:t>
            </a:r>
            <a:r>
              <a:rPr lang="en-US" sz="2400" b="0" i="0" u="none" strike="noStrike" baseline="0" dirty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 You are still writing the function, the code is fresh in your mind, and fixing it takes minutes. No hardware involved at all.</a:t>
            </a:r>
            <a:r>
              <a:rPr lang="en-US" sz="2400" b="0" i="0" dirty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​</a:t>
            </a:r>
            <a:br>
              <a:rPr lang="en-US" sz="2400" b="0" i="0" dirty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</a:br>
            <a:r>
              <a:rPr lang="en-US" sz="2400" b="0" i="0" dirty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​</a:t>
            </a:r>
            <a:endParaRPr lang="en-US" sz="2400" b="0" i="0" dirty="0">
              <a:latin typeface="Times New Roman" panose="02020603050405020304" charset="0"/>
              <a:ea typeface="Arial" panose="020B0604020202020204"/>
              <a:cs typeface="Times New Roman" panose="02020603050405020304" charset="0"/>
            </a:endParaRPr>
          </a:p>
          <a:p>
            <a:pPr marL="228600" indent="-228600">
              <a:buFont typeface="Arial,Sans-Serif"/>
              <a:buChar char="•"/>
            </a:pPr>
            <a:r>
              <a:rPr lang="en-US" sz="2400" b="1" i="0" u="none" strike="noStrike" baseline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10× — Integration stage</a:t>
            </a:r>
            <a:r>
              <a:rPr lang="en-US" sz="2400" b="0" i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​</a:t>
            </a:r>
            <a:r>
              <a:rPr lang="en-US" sz="240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 </a:t>
            </a:r>
            <a:endParaRPr lang="en-US">
              <a:latin typeface="Times New Roman" panose="02020603050405020304" charset="0"/>
              <a:ea typeface="Arial" panose="020B0604020202020204"/>
              <a:cs typeface="Times New Roman" panose="02020603050405020304" charset="0"/>
            </a:endParaRPr>
          </a:p>
          <a:p>
            <a:r>
              <a:rPr lang="en-US" sz="2400" b="0" i="0" u="none" strike="noStrike" baseline="0" dirty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 When the same bug is only found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after combining multiple modules together</a:t>
            </a:r>
            <a:r>
              <a:rPr lang="en-US" sz="2400" b="0" i="0" u="none" strike="noStrike" baseline="0" dirty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, it now costs about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10 times more effort to fix</a:t>
            </a:r>
            <a:r>
              <a:rPr lang="en-US" sz="2400" b="0" i="0" u="none" strike="noStrike" baseline="0" dirty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. You have to figure out which of the many connected parts caused the problem, the code is no longer fresh, and other code may already depend on the broken behavior.</a:t>
            </a:r>
            <a:r>
              <a:rPr lang="en-US" sz="2400" b="0" i="0" dirty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​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-228600" algn="l" rtl="0">
              <a:buFont typeface="Arial,Sans-Serif"/>
              <a:buChar char="•"/>
            </a:pPr>
            <a:endParaRPr lang="en-US" sz="2400" b="0" i="0" dirty="0">
              <a:latin typeface="Times New Roman" panose="02020603050405020304" charset="0"/>
              <a:ea typeface="Arial" panose="020B0604020202020204"/>
              <a:cs typeface="Times New Roman" panose="02020603050405020304" charset="0"/>
            </a:endParaRPr>
          </a:p>
          <a:p>
            <a:pPr marL="228600" indent="-228600">
              <a:buFont typeface="Arial,Sans-Serif"/>
              <a:buChar char="•"/>
            </a:pPr>
            <a:r>
              <a:rPr lang="en-US" sz="2400" b="1" i="0" u="none" strike="noStrike" baseline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50×+ — On hardware stage</a:t>
            </a:r>
            <a:r>
              <a:rPr lang="en-US" sz="2400" b="0" i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​</a:t>
            </a:r>
            <a:endParaRPr lang="en-US" sz="2400" dirty="0">
              <a:latin typeface="Times New Roman" panose="02020603050405020304" charset="0"/>
              <a:ea typeface="Arial" panose="020B0604020202020204"/>
              <a:cs typeface="Times New Roman" panose="02020603050405020304" charset="0"/>
            </a:endParaRPr>
          </a:p>
          <a:p>
            <a:r>
              <a:rPr lang="en-US" sz="2400" dirty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      </a:t>
            </a:r>
            <a:r>
              <a:rPr lang="en-US" sz="2400" b="0" i="0" u="none" strike="noStrike" baseline="0" dirty="0"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When the bug reaches the real STM32 board, it becomes the most expensive to find and fix. We  need physical hardware, a JTAG debugger, an oscilloscope possibly, and many flash-test-observe cyc</a:t>
            </a:r>
            <a:r>
              <a:rPr lang="en-US" sz="2400" b="0" i="0" u="none" strike="noStrike" baseline="0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l</a:t>
            </a:r>
            <a:r>
              <a:rPr lang="en-US" sz="1400" b="0" i="0" u="none" strike="noStrike" baseline="0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es. The bug might look like a hardware fault when it is actually a software logic error. Tracking it down can take days instead of minutes.</a:t>
            </a:r>
            <a:endParaRPr lang="en-US" sz="2400" b="0" i="0" u="none" strike="noStrike" baseline="0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</a:endParaRPr>
          </a:p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Reason 1 — No hardware needed</a:t>
            </a:r>
            <a:br>
              <a:rPr lang="en-US" sz="24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br>
              <a:rPr lang="en-US" sz="24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r>
              <a:rPr lang="en-US" sz="2400">
                <a:solidFill>
                  <a:srgbClr val="C00000"/>
                </a:solidFill>
                <a:latin typeface="Times New Roman" panose="02020603050405020304" charset="0"/>
                <a:ea typeface="+mj-lt"/>
                <a:cs typeface="Times New Roman" panose="02020603050405020304" charset="0"/>
              </a:rPr>
              <a:t>Tests run on  PC in milliseconds</a:t>
            </a:r>
            <a:endParaRPr lang="en-US" sz="2400" dirty="0">
              <a:solidFill>
                <a:srgbClr val="C00000"/>
              </a:solidFill>
              <a:latin typeface="Times New Roman" panose="02020603050405020304" charset="0"/>
              <a:ea typeface="+mj-lt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Times New Roman" panose="02020603050405020304" charset="0"/>
                <a:ea typeface="+mn-lt"/>
                <a:cs typeface="Times New Roman" panose="02020603050405020304" charset="0"/>
              </a:rPr>
              <a:t>       Without unit tests</a:t>
            </a:r>
            <a:endParaRPr lang="en-US" sz="280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>
                <a:latin typeface="Times New Roman" panose="02020603050405020304" charset="0"/>
                <a:ea typeface="+mn-lt"/>
                <a:cs typeface="Times New Roman" panose="02020603050405020304" charset="0"/>
              </a:rPr>
              <a:t>Write code → compile → flash STM32 → connect JTAG → step through debugger → find bug → repeat. Each cycle takes 2–5 minutes minimum.</a:t>
            </a:r>
            <a:endParaRPr lang="en-US" sz="240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                  With unit tests</a:t>
            </a:r>
            <a:endParaRPr lang="en-US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  Write code → run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ceedling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test:all</a:t>
            </a: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→ see pass/fail in 3 seconds. </a:t>
            </a:r>
            <a:endParaRPr lang="en-US" sz="240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  </a:t>
            </a:r>
            <a:r>
              <a:rPr lang="en-US" sz="240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Bug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pinpointed by function name and line number</a:t>
            </a: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. No board, no flash, no cable.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Times New Roman" panose="02020603050405020304" charset="0"/>
                <a:ea typeface="+mj-lt"/>
                <a:cs typeface="Times New Roman" panose="02020603050405020304" charset="0"/>
              </a:rPr>
              <a:t>Reason 2 — Early bug detection</a:t>
            </a:r>
            <a:br>
              <a:rPr lang="en-US" sz="28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br>
              <a:rPr lang="en-US" sz="28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r>
              <a:rPr lang="en-US" sz="2400">
                <a:solidFill>
                  <a:srgbClr val="C00000"/>
                </a:solidFill>
                <a:latin typeface="Times New Roman" panose="02020603050405020304" charset="0"/>
                <a:ea typeface="+mj-lt"/>
                <a:cs typeface="Times New Roman" panose="02020603050405020304" charset="0"/>
              </a:rPr>
              <a:t>Catch logic errors before they reach hardware</a:t>
            </a:r>
            <a:endParaRPr lang="en-US" sz="2400" dirty="0">
              <a:solidFill>
                <a:srgbClr val="C00000"/>
              </a:solidFill>
              <a:latin typeface="Times New Roman" panose="02020603050405020304" charset="0"/>
              <a:ea typeface="+mj-lt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92536"/>
            <a:ext cx="5226025" cy="812539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Typical embedded bug without tests</a:t>
            </a:r>
            <a:endParaRPr lang="en-US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Sensor reads wrong value on real </a:t>
            </a:r>
            <a:r>
              <a:rPr lang="en-US" sz="2400">
                <a:latin typeface="Times New Roman" panose="02020603050405020304" charset="0"/>
                <a:ea typeface="+mn-lt"/>
                <a:cs typeface="Times New Roman" panose="02020603050405020304" charset="0"/>
              </a:rPr>
              <a:t>hardware. </a:t>
            </a:r>
            <a:r>
              <a:rPr lang="en-US" sz="240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We spend 3 hours with</a:t>
            </a: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oscilloscope checking SPI signals. </a:t>
            </a:r>
            <a:endParaRPr lang="en-US" sz="24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>
                <a:latin typeface="Times New Roman" panose="02020603050405020304" charset="0"/>
                <a:ea typeface="+mn-lt"/>
                <a:cs typeface="Times New Roman" panose="02020603050405020304" charset="0"/>
              </a:rPr>
              <a:t>Eventually find it was a unit </a:t>
            </a: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conversion error in a single function — nothing to do with hardware at all.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Same bug with unit tests</a:t>
            </a:r>
            <a:endParaRPr lang="en-US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24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Before flashing,  we test calls </a:t>
            </a:r>
            <a:r>
              <a:rPr lang="en-US" sz="2400" dirty="0" err="1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convert_raw_to_celsius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()</a:t>
            </a: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with a known raw value. 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It returns the wrong temperature.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Test fails in 2 seconds.</a:t>
            </a: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Bug fixed before any hardware was involved.</a:t>
            </a:r>
            <a:b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</a:br>
            <a:b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</a:br>
            <a:r>
              <a:rPr lang="en-US" sz="2400" b="1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void </a:t>
            </a:r>
            <a:r>
              <a:rPr lang="en-US" sz="2400" b="1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test_convert_raw_to_celsi</a:t>
            </a:r>
            <a:endParaRPr lang="en-US" sz="2400" b="1" dirty="0" err="1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Unit Testing Workflow</a:t>
            </a:r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diagram of a workflow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01417" y="474980"/>
            <a:ext cx="7379668" cy="59217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Tools for Unit Testing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Think of it like this: </a:t>
            </a:r>
            <a:r>
              <a:rPr lang="en-US" sz="24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Ceedling</a:t>
            </a: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is the boss that manages everything.</a:t>
            </a:r>
            <a:endParaRPr lang="en-US" sz="24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Inside it, Unity writes and checks the tests, </a:t>
            </a:r>
            <a:r>
              <a:rPr lang="en-US" sz="24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CMock</a:t>
            </a: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fakes the hardware dependencies, and both work on your C source code. STM32CubeIDE plugs into the whole system.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br>
              <a:rPr lang="en-US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2400" b="1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Ceedling</a:t>
            </a: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endParaRPr lang="en-US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     Is the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command-line project manager</a:t>
            </a: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.  we can run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ceedling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test:all</a:t>
            </a: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and it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compiles + runs</a:t>
            </a: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everything automatically</a:t>
            </a:r>
            <a:r>
              <a:rPr lang="en-US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</a:pP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</a:pP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</a:pP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</a:pP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2858" y="840619"/>
            <a:ext cx="11454189" cy="49847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>
                <a:latin typeface="Times New Roman" panose="02020603050405020304" charset="0"/>
                <a:cs typeface="Times New Roman" panose="02020603050405020304" charset="0"/>
              </a:rPr>
              <a:t>Unity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       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Is the actual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test framework</a:t>
            </a: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. We  write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TEST() blocks with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TEST_ASSERT_EQUAL_INT()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macros — like a checklist of "this input should give this output." 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b="1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CMock</a:t>
            </a:r>
            <a:r>
              <a:rPr lang="en-US" sz="2000" b="1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endParaRPr lang="en-US" b="1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  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solves the hardware problem.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Since STM32 HAL functions need real chips to run,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CMock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generates fake versions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so your tests run on a PC. We tell it "I expect </a:t>
            </a:r>
            <a:r>
              <a:rPr lang="en-US" sz="20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HAL_GPIO_WritePin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to be called with these arguments" — and it verifies that automatically.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br>
              <a:rPr lang="en-US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2400" b="1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STM32CubeIDE</a:t>
            </a:r>
            <a:r>
              <a:rPr lang="en-US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endParaRPr lang="en-US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  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  Is just your IDE.  We configure </a:t>
            </a:r>
            <a:r>
              <a:rPr lang="en-US" sz="20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Ceedling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as an External Tool so you can run tests with one click from inside the IDE</a:t>
            </a:r>
            <a:r>
              <a:rPr lang="en-US" sz="2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software project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955" y="0"/>
            <a:ext cx="110960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665" b="1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Ceedling</a:t>
            </a:r>
            <a:r>
              <a:rPr lang="en-US" sz="2665" b="1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— project setup</a:t>
            </a:r>
            <a:br>
              <a:rPr lang="en-US" sz="2665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br>
              <a:rPr lang="en-US" sz="2665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r>
              <a:rPr lang="en-US" sz="2665" dirty="0" err="1">
                <a:solidFill>
                  <a:srgbClr val="3D3D3A"/>
                </a:solidFill>
                <a:highlight>
                  <a:srgbClr val="FFFFFF"/>
                </a:highlight>
                <a:latin typeface="Times New Roman" panose="02020603050405020304" charset="0"/>
                <a:ea typeface="+mj-lt"/>
                <a:cs typeface="Times New Roman" panose="02020603050405020304" charset="0"/>
              </a:rPr>
              <a:t>Ceedling</a:t>
            </a:r>
            <a:r>
              <a:rPr lang="en-US" sz="2665" dirty="0">
                <a:solidFill>
                  <a:srgbClr val="3D3D3A"/>
                </a:solidFill>
                <a:highlight>
                  <a:srgbClr val="FFFFFF"/>
                </a:highlight>
                <a:latin typeface="Times New Roman" panose="02020603050405020304" charset="0"/>
                <a:ea typeface="+mj-lt"/>
                <a:cs typeface="Times New Roman" panose="02020603050405020304" charset="0"/>
              </a:rPr>
              <a:t> uses a </a:t>
            </a:r>
            <a:r>
              <a:rPr lang="en-US" sz="2665" dirty="0" err="1">
                <a:solidFill>
                  <a:srgbClr val="3D3D3A"/>
                </a:solidFill>
                <a:highlight>
                  <a:srgbClr val="FFFFFF"/>
                </a:highlight>
                <a:latin typeface="Times New Roman" panose="02020603050405020304" charset="0"/>
                <a:ea typeface="+mj-lt"/>
                <a:cs typeface="Times New Roman" panose="02020603050405020304" charset="0"/>
              </a:rPr>
              <a:t>project.yml</a:t>
            </a:r>
            <a:r>
              <a:rPr lang="en-US" sz="2665" dirty="0">
                <a:solidFill>
                  <a:srgbClr val="3D3D3A"/>
                </a:solidFill>
                <a:highlight>
                  <a:srgbClr val="FFFFFF"/>
                </a:highlight>
                <a:latin typeface="Times New Roman" panose="02020603050405020304" charset="0"/>
                <a:ea typeface="+mj-lt"/>
                <a:cs typeface="Times New Roman" panose="02020603050405020304" charset="0"/>
              </a:rPr>
              <a:t> file to configure your project. It tells the build system where your source files, test files, and includes are located.</a:t>
            </a:r>
            <a:endParaRPr lang="en-US" sz="2665" dirty="0">
              <a:latin typeface="Times New Roman" panose="02020603050405020304" charset="0"/>
              <a:ea typeface="+mj-lt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000" dirty="0">
              <a:highlight>
                <a:srgbClr val="F5F4ED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#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project.yml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 —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Ceedling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 configuration
:project:
  :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build_root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: build/
  :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release_build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: TRUE
:paths:
  :source:
    -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src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/**          # Your C source files
  :test:
    - test/**         # Your Unity test files
  :include:
    - include/**      # Header files
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4324"/>
          </a:xfrm>
        </p:spPr>
        <p:txBody>
          <a:bodyPr>
            <a:normAutofit fontScale="90000"/>
          </a:bodyPr>
          <a:lstStyle/>
          <a:p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:plugins:
  :enabled:
    -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gcov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            # Code coverage report
    -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junit_tests_report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
# Run all tests: 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ceedling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test:all</a:t>
            </a: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# Run one test:  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ceedling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test:test_sensor</a:t>
            </a: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2000" b="1" dirty="0" err="1">
                <a:highlight>
                  <a:srgbClr val="F5F4ED"/>
                </a:highlight>
                <a:latin typeface="Times New Roman" panose="02020603050405020304" charset="0"/>
                <a:ea typeface="+mj-lt"/>
                <a:cs typeface="Times New Roman" panose="02020603050405020304" charset="0"/>
              </a:rPr>
              <a:t>Ceedling</a:t>
            </a:r>
            <a:r>
              <a:rPr lang="en-US" sz="2000" b="1" dirty="0">
                <a:highlight>
                  <a:srgbClr val="F5F4ED"/>
                </a:highlight>
                <a:latin typeface="Times New Roman" panose="02020603050405020304" charset="0"/>
                <a:ea typeface="+mj-lt"/>
                <a:cs typeface="Times New Roman" panose="02020603050405020304" charset="0"/>
              </a:rPr>
              <a:t> — terminal output</a:t>
            </a:r>
            <a:br>
              <a:rPr lang="en-US" sz="2000" b="1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b="1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$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ceedling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test:all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
------- Unit Test Summary -------
[PASS]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test_sensor_read.c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  (3 tests)
[PASS]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test_gpio_toggle.c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  (2 tests)
[FAIL]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test_uart_send.c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    (1 of 4 FAILED)
FAILED TEST: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test_uart_send_when_buffer_full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
Expected 0 Was 1
</a:t>
            </a: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Tests: 9  Failures: 1  Ignored: 0</a:t>
            </a: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endParaRPr lang="en-US" sz="2000" dirty="0">
              <a:highlight>
                <a:srgbClr val="F5F4ED"/>
              </a:highligh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Unity — source function being tested</a:t>
            </a:r>
            <a:br>
              <a:rPr lang="en-US" sz="24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br>
              <a:rPr lang="en-US" sz="24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Suppose we have a C function </a:t>
            </a:r>
            <a:r>
              <a:rPr lang="en-US" sz="200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add_values</a:t>
            </a:r>
            <a: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()</a:t>
            </a:r>
            <a: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 in STM32 project:</a:t>
            </a:r>
            <a:endParaRPr lang="en-US" sz="2000" dirty="0">
              <a:latin typeface="Times New Roman" panose="02020603050405020304" charset="0"/>
              <a:ea typeface="+mj-lt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//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src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/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math_utils.c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
#include "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math_utils.h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"
int 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add_values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(int a, int b) {
    return a + b;
}
  </a:t>
            </a:r>
            <a:endParaRPr lang="en-US" sz="2000" dirty="0">
              <a:highlight>
                <a:srgbClr val="F5F4ED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b="1">
                <a:highlight>
                  <a:srgbClr val="F5F4ED"/>
                </a:highlight>
                <a:latin typeface="Times New Roman" panose="02020603050405020304" charset="0"/>
                <a:ea typeface="+mn-lt"/>
                <a:cs typeface="Times New Roman" panose="02020603050405020304" charset="0"/>
              </a:rPr>
              <a:t>Unity — writing the test</a:t>
            </a:r>
            <a:endParaRPr lang="en-US" sz="2000" b="1">
              <a:highlight>
                <a:srgbClr val="F5F4ED"/>
              </a:highlight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000" b="1" dirty="0">
              <a:highlight>
                <a:srgbClr val="F5F4ED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// test/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test_math_utils.c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
#include "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unity.h"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
#include "</a:t>
            </a:r>
            <a:r>
              <a:rPr lang="en-US" sz="20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math_utils.h</a:t>
            </a:r>
            <a:r>
              <a:rPr lang="en-US" sz="20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"
</a:t>
            </a:r>
            <a:endParaRPr lang="en-US" sz="2000" dirty="0">
              <a:highlight>
                <a:srgbClr val="F5F4ED"/>
              </a:highligh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914" y="244173"/>
            <a:ext cx="10515600" cy="6490229"/>
          </a:xfrm>
        </p:spPr>
        <p:txBody>
          <a:bodyPr>
            <a:normAutofit fontScale="90000"/>
          </a:bodyPr>
          <a:lstStyle/>
          <a:p>
            <a:br>
              <a:rPr lang="en-US" sz="2665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2665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2665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void </a:t>
            </a:r>
            <a:r>
              <a:rPr lang="en-US" sz="2665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setUp</a:t>
            </a:r>
            <a:r>
              <a:rPr lang="en-US" sz="2665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(void) {}    // runs before each test
void </a:t>
            </a:r>
            <a:r>
              <a:rPr lang="en-US" sz="2665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tearDown</a:t>
            </a:r>
            <a:r>
              <a:rPr lang="en-US" sz="2665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(void) {} // runs after each test
TEST(</a:t>
            </a:r>
            <a:r>
              <a:rPr lang="en-US" sz="2665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test_add_values</a:t>
            </a:r>
            <a:r>
              <a:rPr lang="en-US" sz="2665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sz="2665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adds_two_positives</a:t>
            </a:r>
            <a:r>
              <a:rPr lang="en-US" sz="2665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) {
    int result = </a:t>
            </a:r>
            <a:r>
              <a:rPr lang="en-US" sz="2665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add_values</a:t>
            </a:r>
            <a:r>
              <a:rPr lang="en-US" sz="2665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(3, 4);
    TEST_ASSERT_EQUAL_INT(7, result);  // PASS: 3+4 = 7
}
TEST(</a:t>
            </a:r>
            <a:r>
              <a:rPr lang="en-US" sz="2665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test_add_values</a:t>
            </a:r>
            <a:r>
              <a:rPr lang="en-US" sz="2665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sz="2665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handles_negative</a:t>
            </a:r>
            <a:r>
              <a:rPr lang="en-US" sz="2665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) {
    int result = </a:t>
            </a:r>
            <a:r>
              <a:rPr lang="en-US" sz="2665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add_values</a:t>
            </a:r>
            <a:r>
              <a:rPr lang="en-US" sz="2665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(-2, 5);
    TEST_ASSERT_EQUAL_INT(3, result);  // PASS: -2+5 = 3
}
TEST(</a:t>
            </a:r>
            <a:r>
              <a:rPr lang="en-US" sz="2665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test_add_values</a:t>
            </a:r>
            <a:r>
              <a:rPr lang="en-US" sz="2665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sz="2665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adds_zeros</a:t>
            </a:r>
            <a:r>
              <a:rPr lang="en-US" sz="2665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) {
    int result = </a:t>
            </a:r>
            <a:r>
              <a:rPr lang="en-US" sz="2665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add_values</a:t>
            </a:r>
            <a:r>
              <a:rPr lang="en-US" sz="2665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(0, 0);
    TEST_ASSERT_EQUAL_INT(0, result);  // PASS
}
      </a:t>
            </a:r>
            <a:endParaRPr lang="en-US" sz="2665" dirty="0">
              <a:latin typeface="Times New Roman" panose="02020603050405020304" charset="0"/>
              <a:cs typeface="Times New Roman" panose="02020603050405020304" charset="0"/>
            </a:endParaRPr>
          </a:p>
          <a:p>
            <a:br>
              <a:rPr lang="en-US" sz="2665" dirty="0">
                <a:latin typeface="Times New Roman" panose="02020603050405020304" charset="0"/>
                <a:cs typeface="Times New Roman" panose="02020603050405020304" charset="0"/>
              </a:rPr>
            </a:br>
            <a:endParaRPr lang="en-US" sz="266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CMock — the problem it solves</a:t>
            </a:r>
            <a:br>
              <a:rPr lang="en-US" sz="2400" b="1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br>
              <a:rPr lang="en-US" sz="24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r>
              <a:rPr lang="en-US" sz="2000" dirty="0">
                <a:solidFill>
                  <a:srgbClr val="3D3D3A"/>
                </a:solidFill>
                <a:highlight>
                  <a:srgbClr val="FFFFFF"/>
                </a:highlight>
                <a:latin typeface="Times New Roman" panose="02020603050405020304" charset="0"/>
                <a:ea typeface="+mj-lt"/>
                <a:cs typeface="Times New Roman" panose="02020603050405020304" charset="0"/>
              </a:rPr>
              <a:t>function calls </a:t>
            </a:r>
            <a:r>
              <a:rPr lang="en-US" sz="2000" dirty="0" err="1">
                <a:solidFill>
                  <a:srgbClr val="3D3D3A"/>
                </a:solidFill>
                <a:highlight>
                  <a:srgbClr val="FFFFFF"/>
                </a:highlight>
                <a:latin typeface="Times New Roman" panose="02020603050405020304" charset="0"/>
                <a:ea typeface="+mj-lt"/>
                <a:cs typeface="Times New Roman" panose="02020603050405020304" charset="0"/>
              </a:rPr>
              <a:t>HAL_GPIO_WritePin</a:t>
            </a:r>
            <a:r>
              <a:rPr lang="en-US" sz="2000" dirty="0">
                <a:solidFill>
                  <a:srgbClr val="3D3D3A"/>
                </a:solidFill>
                <a:highlight>
                  <a:srgbClr val="FFFFFF"/>
                </a:highlight>
                <a:latin typeface="Times New Roman" panose="02020603050405020304" charset="0"/>
                <a:ea typeface="+mj-lt"/>
                <a:cs typeface="Times New Roman" panose="02020603050405020304" charset="0"/>
              </a:rPr>
              <a:t>() — real STM32 hardware. </a:t>
            </a:r>
            <a:r>
              <a:rPr lang="en-US" sz="2000" dirty="0" err="1">
                <a:solidFill>
                  <a:srgbClr val="3D3D3A"/>
                </a:solidFill>
                <a:highlight>
                  <a:srgbClr val="FFFFFF"/>
                </a:highlight>
                <a:latin typeface="Times New Roman" panose="02020603050405020304" charset="0"/>
                <a:ea typeface="+mj-lt"/>
                <a:cs typeface="Times New Roman" panose="02020603050405020304" charset="0"/>
              </a:rPr>
              <a:t>CMock</a:t>
            </a:r>
            <a:r>
              <a:rPr lang="en-US" sz="2000" dirty="0">
                <a:solidFill>
                  <a:srgbClr val="3D3D3A"/>
                </a:solidFill>
                <a:highlight>
                  <a:srgbClr val="FFFFFF"/>
                </a:highlight>
                <a:latin typeface="Times New Roman" panose="02020603050405020304" charset="0"/>
                <a:ea typeface="+mj-lt"/>
                <a:cs typeface="Times New Roman" panose="02020603050405020304" charset="0"/>
              </a:rPr>
              <a:t> auto-generates a fake version so you can test without any hardware.</a:t>
            </a:r>
            <a:endParaRPr lang="en-US" sz="2000" dirty="0">
              <a:latin typeface="Times New Roman" panose="02020603050405020304" charset="0"/>
              <a:ea typeface="+mj-lt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//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src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/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led_control.c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 — the function you want to test
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#include "stm32f4xx_hal.h"
#include "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led_control.h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"
void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led_turn_on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(void) {
   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HAL_GPIO_WritePin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(GPIOA, GPIO_PIN_5, GPIO_PIN_SET);
}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b="1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CMock</a:t>
            </a:r>
            <a:r>
              <a:rPr lang="en-US" sz="2000" b="1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— test with mocked HAL</a:t>
            </a:r>
            <a:endParaRPr lang="en-US" sz="2000" b="1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000" b="1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CMock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generates 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mock_stm32f4xx_hal.h automatically. You tell it what you </a:t>
            </a:r>
            <a:r>
              <a:rPr lang="en-US" sz="2000" i="1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expect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 to be called — </a:t>
            </a:r>
            <a:r>
              <a:rPr lang="en-US" sz="20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CMock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verifies it happened.</a:t>
            </a:r>
            <a:endParaRPr lang="en-US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57181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// test/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test_led_control.c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
#include "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unity.h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"
#include "mock_stm32f4xx_hal.h"  //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CMock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auto-generated
#include "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led_control.h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"
void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test_led_turn_on_calls_hal_correctly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(void) {
    // EXPECT: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HAL_GPIO_WritePin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must be called once
    // with these exact arguments
   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HAL_GPIO_WritePin_Expect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(
        GPIOA,           // port
        GPIO_PIN_5,      // pin
        GPIO_PIN_SET     // state
    );
    // ACT: call our function
   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led_turn_on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();
    //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CMock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automatically verifies the HAL was called
    // No real hardware needed!
}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895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Step 1 — we have real STM32 firmware that calls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charset="0"/>
                <a:ea typeface="+mj-lt"/>
                <a:cs typeface="Times New Roman" panose="02020603050405020304" charset="0"/>
              </a:rPr>
              <a:t>HAL_GPIO_WritePin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charset="0"/>
                <a:ea typeface="+mj-lt"/>
                <a:cs typeface="Times New Roman" panose="02020603050405020304" charset="0"/>
              </a:rPr>
              <a:t>()</a:t>
            </a:r>
            <a: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. That function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charset="0"/>
                <a:ea typeface="+mj-lt"/>
                <a:cs typeface="Times New Roman" panose="02020603050405020304" charset="0"/>
              </a:rPr>
              <a:t>needs real hardware to run.</a:t>
            </a:r>
            <a:endParaRPr lang="en-US" sz="20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b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Step 2 — </a:t>
            </a:r>
            <a:r>
              <a:rPr lang="en-US" sz="200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CMock</a:t>
            </a:r>
            <a: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charset="0"/>
                <a:ea typeface="+mj-lt"/>
                <a:cs typeface="Times New Roman" panose="02020603050405020304" charset="0"/>
              </a:rPr>
              <a:t>reads HAL header and auto-generates a fake </a:t>
            </a:r>
            <a: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mock_stm32f4xx_hal.h. You never write this file yourself.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b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Step 3 — in the test, declare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charset="0"/>
                <a:ea typeface="+mj-lt"/>
                <a:cs typeface="Times New Roman" panose="02020603050405020304" charset="0"/>
              </a:rPr>
              <a:t>HAL_GPIO_WritePin_Expect</a:t>
            </a:r>
            <a: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(GPIOA, GPIO_PIN_5, GPIO_PIN_SET) before calling your function. This means: "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charset="0"/>
                <a:ea typeface="+mj-lt"/>
                <a:cs typeface="Times New Roman" panose="02020603050405020304" charset="0"/>
              </a:rPr>
              <a:t>I expect the HAL to be called with exactly these arguments."</a:t>
            </a:r>
            <a:endParaRPr lang="en-US" sz="20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b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Step 4 — </a:t>
            </a:r>
            <a:r>
              <a:rPr lang="en-US" sz="200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CMock</a:t>
            </a:r>
            <a: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a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charset="0"/>
                <a:ea typeface="+mj-lt"/>
                <a:cs typeface="Times New Roman" panose="02020603050405020304" charset="0"/>
              </a:rPr>
              <a:t>utomatically verifies that the call happened</a:t>
            </a:r>
            <a: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, the arguments match, and it wasn't called more times than expected.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charset="0"/>
                <a:ea typeface="+mj-lt"/>
                <a:cs typeface="Times New Roman" panose="02020603050405020304" charset="0"/>
              </a:rPr>
              <a:t>Zero manual TEST_ASSERT needed for the HAL interaction.</a:t>
            </a:r>
            <a:endParaRPr lang="en-US" sz="2000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b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Step 5 — when something goes wrong,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charset="0"/>
                <a:ea typeface="+mj-lt"/>
                <a:cs typeface="Times New Roman" panose="02020603050405020304" charset="0"/>
              </a:rPr>
              <a:t>CMock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charset="0"/>
                <a:ea typeface="+mj-lt"/>
                <a:cs typeface="Times New Roman" panose="02020603050405020304" charset="0"/>
              </a:rPr>
              <a:t> tells you exactly which argument failed and what the mismatch was 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7411"/>
            <a:ext cx="10515600" cy="153118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>
                <a:latin typeface="Times New Roman" panose="02020603050405020304" charset="0"/>
                <a:ea typeface="+mj-lt"/>
                <a:cs typeface="Times New Roman" panose="02020603050405020304" charset="0"/>
              </a:rPr>
              <a:t>Best Practices</a:t>
            </a:r>
            <a:b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br>
              <a:rPr lang="en-US" sz="20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r>
              <a:rPr lang="en-US" sz="2000">
                <a:latin typeface="Times New Roman" panose="02020603050405020304" charset="0"/>
                <a:ea typeface="+mj-lt"/>
                <a:cs typeface="Times New Roman" panose="02020603050405020304" charset="0"/>
              </a:rPr>
              <a:t>Keep tests independent</a:t>
            </a:r>
            <a:endParaRPr lang="en-US" sz="2000">
              <a:latin typeface="Times New Roman" panose="02020603050405020304" charset="0"/>
              <a:ea typeface="+mj-lt"/>
              <a:cs typeface="Times New Roman" panose="02020603050405020304" charset="0"/>
            </a:endParaRPr>
          </a:p>
          <a:p>
            <a:r>
              <a:rPr lang="en-US" sz="2000">
                <a:latin typeface="Times New Roman" panose="02020603050405020304" charset="0"/>
                <a:ea typeface="+mj-lt"/>
                <a:cs typeface="Times New Roman" panose="02020603050405020304" charset="0"/>
              </a:rPr>
              <a:t>Each test runs alone — no shared state</a:t>
            </a:r>
            <a:endParaRPr lang="en-US" sz="2000">
              <a:latin typeface="Times New Roman" panose="02020603050405020304" charset="0"/>
              <a:ea typeface="+mj-lt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b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Bad</a:t>
            </a:r>
            <a:endParaRPr lang="en-US">
              <a:solidFill>
                <a:srgbClr val="C00000"/>
              </a:solid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int g_counter = 0;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
void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test_increment_A(void) {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
 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g_counter++;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
  TEST_ASSERT_EQUAL(1,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g_counter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);
}
void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test_increment_B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(void) {
 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g_counter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++;
  // FAILS if A ran first!
  // counter is already 1
  TEST_ASSERT_EQUAL(1,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g_counter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);
}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Good — </a:t>
            </a:r>
            <a:r>
              <a:rPr lang="en-US" b="0" dirty="0" err="1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setUp</a:t>
            </a:r>
            <a:r>
              <a:rPr lang="en-US" b="0" dirty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resets state</a:t>
            </a:r>
            <a:endParaRPr lang="en-US" dirty="0">
              <a:solidFill>
                <a:srgbClr val="C00000"/>
              </a:solid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3820" y="2505075"/>
            <a:ext cx="5231568" cy="434982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int </a:t>
            </a:r>
            <a:r>
              <a:rPr lang="en-US" sz="18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g_counter</a:t>
            </a:r>
            <a:r>
              <a:rPr lang="en-US" sz="18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;
void </a:t>
            </a:r>
            <a:r>
              <a:rPr lang="en-US" sz="18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setUp</a:t>
            </a:r>
            <a:r>
              <a:rPr lang="en-US" sz="18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(void) {
  </a:t>
            </a:r>
            <a:r>
              <a:rPr lang="en-US" sz="18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g_counter</a:t>
            </a:r>
            <a:r>
              <a:rPr lang="en-US" sz="18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 = 0; // reset before each test
}
void </a:t>
            </a:r>
            <a:r>
              <a:rPr lang="en-US" sz="18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test_increment_A</a:t>
            </a:r>
            <a:r>
              <a:rPr lang="en-US" sz="18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(void) {
  </a:t>
            </a:r>
            <a:r>
              <a:rPr lang="en-US" sz="18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g_counter</a:t>
            </a:r>
            <a:r>
              <a:rPr lang="en-US" sz="18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++;
  TEST_ASSERT_EQUAL(1, </a:t>
            </a:r>
            <a:r>
              <a:rPr lang="en-US" sz="18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g_counter</a:t>
            </a:r>
            <a:r>
              <a:rPr lang="en-US" sz="18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);
}
void </a:t>
            </a:r>
            <a:r>
              <a:rPr lang="en-US" sz="18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test_increment_B</a:t>
            </a:r>
            <a:r>
              <a:rPr lang="en-US" sz="18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(void) {
  </a:t>
            </a:r>
            <a:r>
              <a:rPr lang="en-US" sz="18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g_counter</a:t>
            </a:r>
            <a:r>
              <a:rPr lang="en-US" sz="18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++;
  TEST_ASSERT_EQUAL(1, </a:t>
            </a:r>
            <a:r>
              <a:rPr lang="en-US" sz="1800" dirty="0" err="1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g_counter</a:t>
            </a:r>
            <a:r>
              <a:rPr lang="en-US" sz="1800" dirty="0">
                <a:highlight>
                  <a:srgbClr val="F5F4ED"/>
                </a:highlight>
                <a:latin typeface="Times New Roman" panose="02020603050405020304" charset="0"/>
                <a:cs typeface="Times New Roman" panose="02020603050405020304" charset="0"/>
              </a:rPr>
              <a:t>); // always passes
}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695325"/>
            <a:ext cx="11163935" cy="54997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Rule:    Always use 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setUp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() to reset all variables and mock expectations. A test must produce the same result whether it runs first, last, or alone. 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Independent tests — 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setUp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() is your reset button. Every test must start with a clean slate, otherwise one failing test silently corrupts the next one.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latin typeface="Times New Roman" panose="02020603050405020304" charset="0"/>
                <a:ea typeface="+mn-lt"/>
                <a:cs typeface="Times New Roman" panose="02020603050405020304" charset="0"/>
              </a:rPr>
              <a:t>The problem:  shared state makes tests depend on each other's execution order.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95047" y="3106661"/>
          <a:ext cx="9590992" cy="15950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827895"/>
                <a:gridCol w="4763097"/>
              </a:tblGrid>
              <a:tr h="527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Bad</a:t>
                      </a:r>
                      <a:endParaRPr lang="en-US" b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540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/>
                        </a:rPr>
                        <a:t>g_counter</a:t>
                      </a:r>
                      <a:r>
                        <a:rPr lang="en-US" dirty="0">
                          <a:latin typeface="Courier New" panose="02070309020205020404"/>
                        </a:rPr>
                        <a:t> = 0</a:t>
                      </a:r>
                      <a:r>
                        <a:rPr lang="en-US" dirty="0"/>
                        <a:t> set once globally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/>
                        </a:rPr>
                        <a:t>setUp</a:t>
                      </a:r>
                      <a:r>
                        <a:rPr lang="en-US" dirty="0">
                          <a:latin typeface="Courier New" panose="02070309020205020404"/>
                        </a:rPr>
                        <a:t>()</a:t>
                      </a:r>
                      <a:r>
                        <a:rPr lang="en-US" dirty="0"/>
                        <a:t> resets it before every test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527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B fails if Test A ran first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B always passes regardless of order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>
                <a:solidFill>
                  <a:srgbClr val="141413"/>
                </a:solidFill>
                <a:latin typeface="Times New Roman" panose="02020603050405020304" charset="0"/>
                <a:ea typeface="Anthropic Sans"/>
                <a:cs typeface="Times New Roman" panose="02020603050405020304" charset="0"/>
              </a:rPr>
              <a:t>Use meaningful test names</a:t>
            </a:r>
            <a:br>
              <a:rPr lang="en-US" sz="2400" dirty="0">
                <a:solidFill>
                  <a:srgbClr val="141413"/>
                </a:solidFill>
                <a:latin typeface="Times New Roman" panose="02020603050405020304" charset="0"/>
                <a:ea typeface="Anthropic Sans"/>
                <a:cs typeface="Times New Roman" panose="02020603050405020304" charset="0"/>
              </a:rPr>
            </a:br>
            <a:endParaRPr lang="en-US" sz="2400" dirty="0">
              <a:solidFill>
                <a:srgbClr val="141413"/>
              </a:solidFill>
              <a:latin typeface="Times New Roman" panose="02020603050405020304" charset="0"/>
              <a:ea typeface="Anthropic Sans"/>
              <a:cs typeface="Times New Roman" panose="02020603050405020304" charset="0"/>
            </a:endParaRPr>
          </a:p>
          <a:p>
            <a:r>
              <a:rPr lang="en-US" sz="2400">
                <a:solidFill>
                  <a:srgbClr val="3D3D3A"/>
                </a:solidFill>
                <a:latin typeface="Times New Roman" panose="02020603050405020304" charset="0"/>
                <a:ea typeface="Anthropic Sans"/>
                <a:cs typeface="Times New Roman" panose="02020603050405020304" charset="0"/>
              </a:rPr>
              <a:t>Name = function + scenario + expected result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b="0">
                <a:solidFill>
                  <a:srgbClr val="791F1F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Bad — vague names</a:t>
            </a:r>
            <a:endParaRPr lang="en-US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36" y="2650218"/>
            <a:ext cx="5157787" cy="368458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r>
              <a:rPr lang="en-US" sz="2000">
                <a:latin typeface="Times New Roman" panose="02020603050405020304" charset="0"/>
                <a:ea typeface="+mn-lt"/>
                <a:cs typeface="Times New Roman" panose="02020603050405020304" charset="0"/>
              </a:rPr>
              <a:t>void test1(void) { ... }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void </a:t>
            </a:r>
            <a:r>
              <a:rPr lang="en-US" sz="20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test_gpio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(void) { ... }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void </a:t>
            </a:r>
            <a:r>
              <a:rPr lang="en-US" sz="20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test_led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(void) { ... }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void </a:t>
            </a:r>
            <a:r>
              <a:rPr lang="en-US" sz="20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test_adc_func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(void) { ... }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   </a:t>
            </a:r>
            <a:r>
              <a:rPr lang="en-US" sz="2800" b="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800" b="0">
                <a:solidFill>
                  <a:srgbClr val="27500A"/>
                </a:solidFill>
                <a:highlight>
                  <a:srgbClr val="EAF3DE"/>
                </a:highlight>
                <a:latin typeface="Times New Roman" panose="02020603050405020304" charset="0"/>
                <a:ea typeface="+mn-lt"/>
                <a:cs typeface="Times New Roman" panose="02020603050405020304" charset="0"/>
              </a:rPr>
              <a:t>Good — descriptive names</a:t>
            </a:r>
            <a:endParaRPr lang="en-US" sz="2800">
              <a:solidFill>
                <a:srgbClr val="000000"/>
              </a:solid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48867" y="2505075"/>
            <a:ext cx="6174997" cy="368458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void </a:t>
            </a:r>
            <a:r>
              <a:rPr lang="en-US" sz="20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test_led_turn_on_sets_gpio_high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(void){ ... }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voidtest_adc_read_returns_zero_on_timeout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(void){  }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void </a:t>
            </a:r>
            <a:r>
              <a:rPr lang="en-US" sz="20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test_uart_send_fails_when_buffer_full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(void){ ... }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5610" y="719455"/>
            <a:ext cx="10970260" cy="56089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Pattern: test_[function][scenario][expected] When a test fails, the name alone tells you what broke, under what condition, and what was expected — without reading the code.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 Meaningful names — follow the pattern test_[function][scenario][expected]. When CI shows a failure at 2am, the name alone tells you what broke without reading any code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86190" y="3841326"/>
          <a:ext cx="9930476" cy="109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863617"/>
                <a:gridCol w="5066859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Bad</a:t>
                      </a:r>
                      <a:endParaRPr lang="en-US" b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Good</a:t>
                      </a:r>
                      <a:endParaRPr lang="en-US" b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/>
                        </a:rPr>
                        <a:t>test1()</a:t>
                      </a:r>
                      <a:r>
                        <a:rPr lang="en-US" dirty="0"/>
                        <a:t>, </a:t>
                      </a:r>
                      <a:r>
                        <a:rPr lang="en-US" dirty="0" err="1">
                          <a:latin typeface="Courier New" panose="02070309020205020404"/>
                        </a:rPr>
                        <a:t>test_gpio</a:t>
                      </a:r>
                      <a:r>
                        <a:rPr lang="en-US" dirty="0">
                          <a:latin typeface="Courier New" panose="02070309020205020404"/>
                        </a:rPr>
                        <a:t>()</a:t>
                      </a:r>
                      <a:r>
                        <a:rPr lang="en-US" dirty="0"/>
                        <a:t>, </a:t>
                      </a:r>
                      <a:r>
                        <a:rPr lang="en-US" dirty="0" err="1">
                          <a:latin typeface="Courier New" panose="02070309020205020404"/>
                        </a:rPr>
                        <a:t>test_led</a:t>
                      </a:r>
                      <a:r>
                        <a:rPr lang="en-US" dirty="0">
                          <a:latin typeface="Courier New" panose="02070309020205020404"/>
                        </a:rPr>
                        <a:t>()</a:t>
                      </a:r>
                      <a:endParaRPr lang="en-US" dirty="0">
                        <a:latin typeface="Courier New" panose="02070309020205020404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/>
                        </a:rPr>
                        <a:t>test_led_turn_on_sets_gpio_high</a:t>
                      </a:r>
                      <a:r>
                        <a:rPr lang="en-US" dirty="0">
                          <a:latin typeface="Courier New" panose="02070309020205020404"/>
                        </a:rPr>
                        <a:t>()</a:t>
                      </a:r>
                      <a:endParaRPr lang="en-US" dirty="0">
                        <a:latin typeface="Courier New" panose="02070309020205020404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Tells you nothing when it fails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Name tells you exactly what failed and why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277183"/>
          </a:xfrm>
        </p:spPr>
        <p:txBody>
          <a:bodyPr/>
          <a:lstStyle/>
          <a:p>
            <a:r>
              <a:rPr lang="en-US" sz="2400">
                <a:ea typeface="+mj-lt"/>
                <a:cs typeface="+mj-lt"/>
              </a:rPr>
              <a:t>Automate test execution</a:t>
            </a:r>
            <a:br>
              <a:rPr lang="en-US" sz="2400" dirty="0">
                <a:ea typeface="+mj-lt"/>
                <a:cs typeface="+mj-lt"/>
              </a:rPr>
            </a:br>
            <a:endParaRPr lang="en-US" sz="2400"/>
          </a:p>
          <a:p>
            <a:r>
              <a:rPr lang="en-US" sz="2400">
                <a:ea typeface="+mj-lt"/>
                <a:cs typeface="+mj-lt"/>
              </a:rPr>
              <a:t>Tests run on every code change</a:t>
            </a:r>
            <a:endParaRPr lang="en-US"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93258"/>
            <a:ext cx="5242453" cy="811817"/>
          </a:xfrm>
        </p:spPr>
        <p:txBody>
          <a:bodyPr vert="horz" lIns="91440" tIns="45720" rIns="91440" bIns="45720" rtlCol="0" anchor="b">
            <a:noAutofit/>
          </a:bodyPr>
          <a:lstStyle/>
          <a:p>
            <a:endParaRPr lang="en-US" sz="2000" b="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endParaRPr lang="en-US" sz="2000" b="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endParaRPr lang="en-US" sz="2000" b="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endParaRPr lang="en-US" sz="2000" b="0" dirty="0">
              <a:solidFill>
                <a:srgbClr val="C00000"/>
              </a:solid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endParaRPr lang="en-US" sz="2000" b="0" dirty="0">
              <a:solidFill>
                <a:srgbClr val="C00000"/>
              </a:solid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endParaRPr lang="en-US" sz="2000" b="0" dirty="0">
              <a:solidFill>
                <a:srgbClr val="C00000"/>
              </a:solid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endParaRPr lang="en-US" sz="2000" b="0">
              <a:solidFill>
                <a:srgbClr val="C00000"/>
              </a:solid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endParaRPr lang="en-US" sz="2000" b="0">
              <a:solidFill>
                <a:srgbClr val="C00000"/>
              </a:solid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endParaRPr lang="en-US" sz="2000" b="0">
              <a:solidFill>
                <a:srgbClr val="C00000"/>
              </a:solid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endParaRPr lang="en-US" sz="2000" b="0">
              <a:solidFill>
                <a:srgbClr val="C00000"/>
              </a:solid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r>
              <a:rPr lang="en-US" sz="2000" b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IN" altLang="en-US" sz="2000" b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 </a:t>
            </a:r>
            <a:r>
              <a:rPr lang="en-US" sz="2000" b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Bad — manual only</a:t>
            </a:r>
            <a:endParaRPr lang="en-US" sz="2000">
              <a:solidFill>
                <a:srgbClr val="C00000"/>
              </a:solid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0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charset="0"/>
                <a:ea typeface="+mn-lt"/>
                <a:cs typeface="Times New Roman" panose="02020603050405020304" charset="0"/>
              </a:rPr>
              <a:t># Developer remembers to run tests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charset="0"/>
                <a:ea typeface="+mn-lt"/>
                <a:cs typeface="Times New Roman" panose="02020603050405020304" charset="0"/>
              </a:rPr>
              <a:t># manually — sometimes forgets</a:t>
            </a:r>
            <a:endParaRPr lang="en-US" sz="200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$ </a:t>
            </a:r>
            <a:r>
              <a:rPr lang="en-US" sz="20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ceedling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0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test:all</a:t>
            </a:r>
            <a:endParaRPr lang="en-US" sz="2000" dirty="0" err="1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charset="0"/>
                <a:ea typeface="+mn-lt"/>
                <a:cs typeface="Times New Roman" panose="02020603050405020304" charset="0"/>
              </a:rPr>
              <a:t>(only runs when remembered)</a:t>
            </a:r>
            <a:endParaRPr lang="en-US" sz="200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charset="0"/>
                <a:ea typeface="+mn-lt"/>
                <a:cs typeface="Times New Roman" panose="02020603050405020304" charset="0"/>
              </a:rPr>
              <a:t># Bug gets merged because</a:t>
            </a:r>
            <a:endParaRPr lang="en-US" sz="200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# tests weren't run before push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11725" y="1705353"/>
            <a:ext cx="5243663" cy="388485"/>
          </a:xfrm>
        </p:spPr>
        <p:txBody>
          <a:bodyPr>
            <a:normAutofit/>
          </a:bodyPr>
          <a:lstStyle/>
          <a:p>
            <a:r>
              <a:rPr lang="en-US" sz="2000" b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Good — CI/CD pipeline</a:t>
            </a:r>
            <a:endParaRPr lang="en-US" sz="200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3820" y="2311552"/>
            <a:ext cx="5231568" cy="387811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# .</a:t>
            </a:r>
            <a:r>
              <a:rPr lang="en-US" sz="1800" dirty="0" err="1">
                <a:latin typeface="Times New Roman" panose="02020603050405020304" charset="0"/>
                <a:cs typeface="Times New Roman" panose="02020603050405020304" charset="0"/>
              </a:rPr>
              <a:t>github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/workflows/</a:t>
            </a:r>
            <a:r>
              <a:rPr lang="en-US" sz="1800" dirty="0" err="1">
                <a:latin typeface="Times New Roman" panose="02020603050405020304" charset="0"/>
                <a:cs typeface="Times New Roman" panose="02020603050405020304" charset="0"/>
              </a:rPr>
              <a:t>test.yml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
on: [push, </a:t>
            </a:r>
            <a:r>
              <a:rPr lang="en-US" sz="1800" dirty="0" err="1">
                <a:latin typeface="Times New Roman" panose="02020603050405020304" charset="0"/>
                <a:cs typeface="Times New Roman" panose="02020603050405020304" charset="0"/>
              </a:rPr>
              <a:t>pull_request]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
jobs:
  unit-tests:
    runs-on: ubuntu-latest
    steps:
      - uses: actions/checkout@v3
      - name: Install Ruby + </a:t>
            </a:r>
            <a:r>
              <a:rPr lang="en-US" sz="1800" dirty="0" err="1">
                <a:latin typeface="Times New Roman" panose="02020603050405020304" charset="0"/>
                <a:cs typeface="Times New Roman" panose="02020603050405020304" charset="0"/>
              </a:rPr>
              <a:t>Ceedling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
        run: gem install </a:t>
            </a:r>
            <a:r>
              <a:rPr lang="en-US" sz="1800" dirty="0" err="1">
                <a:latin typeface="Times New Roman" panose="02020603050405020304" charset="0"/>
                <a:cs typeface="Times New Roman" panose="02020603050405020304" charset="0"/>
              </a:rPr>
              <a:t>ceedling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
      - name: Run all unit tests
        run: </a:t>
            </a:r>
            <a:r>
              <a:rPr lang="en-US" sz="1800" dirty="0" err="1">
                <a:latin typeface="Times New Roman" panose="02020603050405020304" charset="0"/>
                <a:cs typeface="Times New Roman" panose="02020603050405020304" charset="0"/>
              </a:rPr>
              <a:t>ceedling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800" dirty="0" err="1">
                <a:latin typeface="Times New Roman" panose="02020603050405020304" charset="0"/>
                <a:cs typeface="Times New Roman" panose="02020603050405020304" charset="0"/>
              </a:rPr>
              <a:t>test:all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
      - name: Fail if any test fails
        run: exit $?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2585" y="562610"/>
            <a:ext cx="11611610" cy="5824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Goal: No human should need to remember to run tests. Every push triggers them automatically. A failed test blocks the merge. 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Automate execution — humans forget; pipelines don't. Wire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Ceedling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into GitHub Actions or Jenkins so every push triggers a full test run automatically.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0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algn="ctr"/>
            <a:endParaRPr lang="en-US" sz="20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algn="ctr"/>
            <a:r>
              <a:rPr lang="en-US" sz="2000">
                <a:latin typeface="Times New Roman" panose="02020603050405020304" charset="0"/>
                <a:ea typeface="+mn-lt"/>
                <a:cs typeface="Times New Roman" panose="02020603050405020304" charset="0"/>
              </a:rPr>
              <a:t>The problem: humans forget; automation never does.</a:t>
            </a:r>
            <a:endParaRPr lang="en-US" sz="20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algn="ctr"/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7809" y="2878666"/>
          <a:ext cx="9885591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81432"/>
                <a:gridCol w="4904159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Bad</a:t>
                      </a:r>
                      <a:endParaRPr lang="en-US" b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Good</a:t>
                      </a:r>
                      <a:endParaRPr lang="en-US" b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Developer manually runs </a:t>
                      </a:r>
                      <a:r>
                        <a:rPr lang="en-US" dirty="0" err="1">
                          <a:latin typeface="Courier New" panose="02070309020205020404"/>
                        </a:rPr>
                        <a:t>ceedling</a:t>
                      </a:r>
                      <a:r>
                        <a:rPr lang="en-US" dirty="0">
                          <a:latin typeface="Courier New" panose="02070309020205020404"/>
                        </a:rPr>
                        <a:t> </a:t>
                      </a:r>
                      <a:r>
                        <a:rPr lang="en-US" dirty="0" err="1">
                          <a:latin typeface="Courier New" panose="02070309020205020404"/>
                        </a:rPr>
                        <a:t>test:all</a:t>
                      </a:r>
                      <a:endParaRPr lang="en-US" dirty="0" err="1">
                        <a:latin typeface="Courier New" panose="02070309020205020404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GitHub Actions runs tests on every push automatically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Bugs slip through when forgotten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Every commit is tested — no human needed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Times New Roman" panose="02020603050405020304" charset="0"/>
                <a:ea typeface="+mj-lt"/>
                <a:cs typeface="Times New Roman" panose="02020603050405020304" charset="0"/>
              </a:rPr>
              <a:t>Mock hardware dependencies</a:t>
            </a:r>
            <a:br>
              <a:rPr lang="en-US" sz="24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</a:b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Replace HAL calls with </a:t>
            </a:r>
            <a:r>
              <a:rPr lang="en-US" sz="240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CMock</a:t>
            </a:r>
            <a:r>
              <a:rPr lang="en-US" sz="240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fake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Bad — calls real HAL</a:t>
            </a:r>
            <a:endParaRPr lang="en-US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charset="0"/>
                <a:ea typeface="+mn-lt"/>
                <a:cs typeface="Times New Roman" panose="02020603050405020304" charset="0"/>
              </a:rPr>
              <a:t>// test directly calls HAL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void </a:t>
            </a:r>
            <a:r>
              <a:rPr lang="en-US" sz="20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test_led_on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(void) {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  </a:t>
            </a:r>
            <a:r>
              <a:rPr lang="en-US" sz="2000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led_turn_on</a:t>
            </a: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();</a:t>
            </a:r>
            <a:endParaRPr lang="en-US" sz="20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  // How do we verify GPIO was set?</a:t>
            </a:r>
            <a:endParaRPr lang="en-US" sz="2000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  // We can't — no real hardware.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charset="0"/>
                <a:ea typeface="+mn-lt"/>
                <a:cs typeface="Times New Roman" panose="02020603050405020304" charset="0"/>
              </a:rPr>
              <a:t> // Test crashes or does nothing.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charset="0"/>
                <a:ea typeface="+mn-lt"/>
                <a:cs typeface="Times New Roman" panose="02020603050405020304" charset="0"/>
              </a:rPr>
              <a:t>  TEST_ASSERT_TRUE(1); // meaningless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charset="0"/>
                <a:ea typeface="+mn-lt"/>
                <a:cs typeface="Times New Roman" panose="02020603050405020304" charset="0"/>
              </a:rPr>
              <a:t>}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0" dirty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Good — </a:t>
            </a:r>
            <a:r>
              <a:rPr lang="en-US" b="0" dirty="0" err="1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CMock</a:t>
            </a:r>
            <a:r>
              <a:rPr lang="en-US" b="0" dirty="0">
                <a:solidFill>
                  <a:srgbClr val="C00000"/>
                </a:solid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intercepts</a:t>
            </a:r>
            <a:endParaRPr lang="en-US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3820" y="2505075"/>
            <a:ext cx="5231568" cy="39869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#include "mock_stm32f4xx_hal.h"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
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void test_led_on_drives_gpio_high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(void) {
  //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CMock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intercepts this HAL call
 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HAL_GPIO_WritePin_Expect(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
    GPIOA, GPIO_PIN_5, GPIO_PIN_SET
  );
 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led_turn_on();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
  //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CMock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verifies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args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automatically
  // No hardware needed — runs on PC
}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3143" y="659190"/>
            <a:ext cx="10740571" cy="59080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Principle: Your test should verify your logic, not the HAL. Mock every hardware-facing call so tests run anywhere, instantly, without a board connected.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The problem: without mocking, you can't test hardware logic on a PC.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9904" y="2358571"/>
          <a:ext cx="10612272" cy="150362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06136"/>
                <a:gridCol w="5306136"/>
              </a:tblGrid>
              <a:tr h="388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Bad</a:t>
                      </a:r>
                      <a:endParaRPr lang="en-US" b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Good</a:t>
                      </a:r>
                      <a:endParaRPr lang="en-US" b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725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Calls real </a:t>
                      </a:r>
                      <a:r>
                        <a:rPr lang="en-US" dirty="0" err="1">
                          <a:latin typeface="Courier New" panose="02070309020205020404"/>
                        </a:rPr>
                        <a:t>led_turn_on</a:t>
                      </a:r>
                      <a:r>
                        <a:rPr lang="en-US" dirty="0">
                          <a:latin typeface="Courier New" panose="02070309020205020404"/>
                        </a:rPr>
                        <a:t>()</a:t>
                      </a:r>
                      <a:r>
                        <a:rPr lang="en-US" dirty="0"/>
                        <a:t> — can't verify GPIO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/>
                        </a:rPr>
                        <a:t>HAL_GPIO_WritePin_Expect</a:t>
                      </a:r>
                      <a:r>
                        <a:rPr lang="en-US" dirty="0">
                          <a:latin typeface="Courier New" panose="02070309020205020404"/>
                        </a:rPr>
                        <a:t>()</a:t>
                      </a:r>
                      <a:r>
                        <a:rPr lang="en-US" dirty="0"/>
                        <a:t> intercepts the HAL call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88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Crashes without real hardware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Runs on any PC, </a:t>
                      </a:r>
                      <a:r>
                        <a:rPr lang="en-US" dirty="0" err="1"/>
                        <a:t>CMock</a:t>
                      </a:r>
                      <a:r>
                        <a:rPr lang="en-US" dirty="0"/>
                        <a:t> verifies arguments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Times New Roman" panose="02020603050405020304" charset="0"/>
                <a:ea typeface="+mj-lt"/>
                <a:cs typeface="Times New Roman" panose="02020603050405020304" charset="0"/>
              </a:rPr>
              <a:t>Benefits for Our Team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Faster debugging in STM32 projects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Confidence in firmware updates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Easier collaboration &amp; code reviews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Long-term maintainability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latin typeface="Times New Roman" panose="02020603050405020304" charset="0"/>
                <a:ea typeface="+mj-lt"/>
                <a:cs typeface="Times New Roman" panose="02020603050405020304" charset="0"/>
              </a:rPr>
              <a:t>Conclusion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Unit testing is not optional — it’s essential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With </a:t>
            </a:r>
            <a:r>
              <a:rPr lang="en-US" dirty="0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Ceedling</a:t>
            </a:r>
            <a:r>
              <a:rPr lang="en-US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 + STM32CubeIDE, we can integrate seamlessly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Next step: Set up test framework in our project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12041</Words>
  <Application>WPS Presentation</Application>
  <PresentationFormat>Widescreen</PresentationFormat>
  <Paragraphs>342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Arial</vt:lpstr>
      <vt:lpstr>SimSun</vt:lpstr>
      <vt:lpstr>Wingdings</vt:lpstr>
      <vt:lpstr>Consolas</vt:lpstr>
      <vt:lpstr>Aptos</vt:lpstr>
      <vt:lpstr>Segoe UI</vt:lpstr>
      <vt:lpstr>Arial,Sans-Serif</vt:lpstr>
      <vt:lpstr>Segoe Print</vt:lpstr>
      <vt:lpstr>Arial</vt:lpstr>
      <vt:lpstr>Aptos Display</vt:lpstr>
      <vt:lpstr>Segoe UI Variable Display</vt:lpstr>
      <vt:lpstr>Microsoft YaHei</vt:lpstr>
      <vt:lpstr>Arial Unicode MS</vt:lpstr>
      <vt:lpstr>Calibri</vt:lpstr>
      <vt:lpstr>Aptos Display</vt:lpstr>
      <vt:lpstr>Courier New</vt:lpstr>
      <vt:lpstr>Anthropic Sans</vt:lpstr>
      <vt:lpstr>Aptos</vt:lpstr>
      <vt:lpstr>Times New Roman</vt:lpstr>
      <vt:lpstr>office theme</vt:lpstr>
      <vt:lpstr>Unit Testing </vt:lpstr>
      <vt:lpstr>What is Unit Testing?</vt:lpstr>
      <vt:lpstr>Real example — STM32 C code  What a unit test actually looks like</vt:lpstr>
      <vt:lpstr>Why Unit Testing Matters</vt:lpstr>
      <vt:lpstr>PowerPoint 演示文稿</vt:lpstr>
      <vt:lpstr>Reason 1 — No hardware needed  Tests run on  PC in milliseconds</vt:lpstr>
      <vt:lpstr>Reason 2 — Early bug detection  Catch logic errors before they reach hardware</vt:lpstr>
      <vt:lpstr>Unit Testing Workflow</vt:lpstr>
      <vt:lpstr>Tools for Unit Testing</vt:lpstr>
      <vt:lpstr>PowerPoint 演示文稿</vt:lpstr>
      <vt:lpstr>PowerPoint 演示文稿</vt:lpstr>
      <vt:lpstr>Ceedling — project setup  Ceedling uses a project.yml file to configure your project. It tells the build system where your source files, test files, and includes are located.</vt:lpstr>
      <vt:lpstr>      :plugins:
  :enabled:
    - gcov            # Code coverage report
    - junit_tests_report
# Run all tests:  ceedling test:all  # Run one test:   ceedling test:test_sensor  Ceedling — terminal output  $ ceedling test:all
------- Unit Test Summary -------
[PASS] test_sensor_read.c  (3 tests)
[PASS] test_gpio_toggle.c  (2 tests)
[FAIL] test_uart_send.c    (1 of 4 FAILED)
FAILED TEST: test_uart_send_when_buffer_full
Expected 0 Was 1
 Tests: 9  Failures: 1  Ignored: 0        </vt:lpstr>
      <vt:lpstr>Unity — source function being tested  Suppose we have a C function add_values() in STM32 project:</vt:lpstr>
      <vt:lpstr> </vt:lpstr>
      <vt:lpstr>CMock — the problem it solves  function calls HAL_GPIO_WritePin() — real STM32 hardware. CMock auto-generates a fake version so you can test without any hardware.</vt:lpstr>
      <vt:lpstr>// test/test_led_control.c
#include "unity.h"
#include "mock_stm32f4xx_hal.h"  // CMock auto-generated
#include "led_control.h"
void test_led_turn_on_calls_hal_correctly(void) {
    // EXPECT: HAL_GPIO_WritePin must be called once
    // with these exact arguments
    HAL_GPIO_WritePin_Expect(
        GPIOA,           // port
        GPIO_PIN_5,      // pin
        GPIO_PIN_SET     // state
    );
    // ACT: call our function
    led_turn_on();
    // CMock automatically verifies the HAL was called
    // No real hardware needed!
}     </vt:lpstr>
      <vt:lpstr> Step 5 — when something goes wrong, CMock tells you exactly which argument failed and what the mismatch was .</vt:lpstr>
      <vt:lpstr>Each test runs alone — no shared state</vt:lpstr>
      <vt:lpstr>PowerPoint 演示文稿</vt:lpstr>
      <vt:lpstr>Name = function + scenario + expected result</vt:lpstr>
      <vt:lpstr>PowerPoint 演示文稿</vt:lpstr>
      <vt:lpstr>Tests run on every code change</vt:lpstr>
      <vt:lpstr>PowerPoint 演示文稿</vt:lpstr>
      <vt:lpstr>Replace HAL calls with CMock fake</vt:lpstr>
      <vt:lpstr>PowerPoint 演示文稿</vt:lpstr>
      <vt:lpstr>Benefits for Our Team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priya</cp:lastModifiedBy>
  <cp:revision>694</cp:revision>
  <dcterms:created xsi:type="dcterms:W3CDTF">2026-03-27T09:03:00Z</dcterms:created>
  <dcterms:modified xsi:type="dcterms:W3CDTF">2026-06-28T08:38:35Z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0786A87E4A4249AA877095D3DDBDDF50_12</vt:lpwstr>
  </property>
  <property fmtid="{D5CDD505-2E9C-101B-9397-08002B2CF9AE}" pid="3" name="KSOProductBuildVer">
    <vt:lpwstr>1033-12.1.0.26880</vt:lpwstr>
  </property>
</Properties>
</file>