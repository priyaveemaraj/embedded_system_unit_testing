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8" r:id="rId8"/>
    <p:sldId id="269" r:id="rId9"/>
    <p:sldId id="271" r:id="rId10"/>
    <p:sldId id="272" r:id="rId11"/>
    <p:sldId id="273" r:id="rId12"/>
    <p:sldId id="274" r:id="rId13"/>
    <p:sldId id="275" r:id="rId14"/>
    <p:sldId id="276" r:id="rId15"/>
    <p:sldId id="277" r:id="rId16"/>
    <p:sldId id="278" r:id="rId17"/>
    <p:sldId id="260" r:id="rId18"/>
    <p:sldId id="261" r:id="rId19"/>
    <p:sldId id="280" r:id="rId20"/>
    <p:sldId id="262" r:id="rId21"/>
    <p:sldId id="263" r:id="rId22"/>
    <p:sldId id="295" r:id="rId23"/>
    <p:sldId id="281" r:id="rId24"/>
    <p:sldId id="264" r:id="rId25"/>
    <p:sldId id="282" r:id="rId26"/>
    <p:sldId id="283" r:id="rId27"/>
    <p:sldId id="284" r:id="rId28"/>
    <p:sldId id="285" r:id="rId29"/>
    <p:sldId id="286" r:id="rId30"/>
    <p:sldId id="265" r:id="rId31"/>
    <p:sldId id="287" r:id="rId32"/>
    <p:sldId id="288" r:id="rId33"/>
    <p:sldId id="289" r:id="rId34"/>
    <p:sldId id="290" r:id="rId35"/>
    <p:sldId id="291" r:id="rId36"/>
    <p:sldId id="266" r:id="rId37"/>
    <p:sldId id="292" r:id="rId38"/>
    <p:sldId id="293" r:id="rId39"/>
    <p:sldId id="294" r:id="rId40"/>
    <p:sldId id="267"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2.png"/><Relationship Id="rId1"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6.png"/><Relationship Id="rId1" Type="http://schemas.openxmlformats.org/officeDocument/2006/relationships/image" Target="../media/image25.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14.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9.png"/><Relationship Id="rId1"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1.png"/><Relationship Id="rId1" Type="http://schemas.openxmlformats.org/officeDocument/2006/relationships/image" Target="../media/image30.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3.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4.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5.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37.png"/><Relationship Id="rId1"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065A82">
              <a:alpha val="45000"/>
            </a:srgbClr>
          </a:solidFill>
        </p:spPr>
      </p:sp>
      <p:sp>
        <p:nvSpPr>
          <p:cNvPr id="3" name="Shape 1"/>
          <p:cNvSpPr/>
          <p:nvPr/>
        </p:nvSpPr>
        <p:spPr>
          <a:xfrm>
            <a:off x="10424160" y="3291840"/>
            <a:ext cx="3840480" cy="3840480"/>
          </a:xfrm>
          <a:prstGeom prst="ellipse">
            <a:avLst/>
          </a:prstGeom>
          <a:solidFill>
            <a:srgbClr val="1C7293">
              <a:alpha val="55000"/>
            </a:srgbClr>
          </a:solidFill>
        </p:spPr>
      </p:sp>
      <p:pic>
        <p:nvPicPr>
          <p:cNvPr id="4" name="Image 0" descr="preencoded.png"/>
          <p:cNvPicPr>
            <a:picLocks noChangeAspect="1"/>
          </p:cNvPicPr>
          <p:nvPr/>
        </p:nvPicPr>
        <p:blipFill>
          <a:blip r:embed="rId1"/>
          <a:stretch>
            <a:fillRect/>
          </a:stretch>
        </p:blipFill>
        <p:spPr>
          <a:xfrm>
            <a:off x="640080" y="685800"/>
            <a:ext cx="566928" cy="566928"/>
          </a:xfrm>
          <a:prstGeom prst="rect">
            <a:avLst/>
          </a:prstGeom>
        </p:spPr>
      </p:pic>
      <p:sp>
        <p:nvSpPr>
          <p:cNvPr id="5" name="Text 2"/>
          <p:cNvSpPr/>
          <p:nvPr/>
        </p:nvSpPr>
        <p:spPr>
          <a:xfrm>
            <a:off x="1325880" y="685800"/>
            <a:ext cx="5486400" cy="566928"/>
          </a:xfrm>
          <a:prstGeom prst="rect">
            <a:avLst/>
          </a:prstGeom>
          <a:noFill/>
        </p:spPr>
        <p:txBody>
          <a:bodyPr wrap="square" lIns="0" tIns="0" rIns="0" bIns="0" rtlCol="0" anchor="ctr"/>
          <a:lstStyle/>
          <a:p>
            <a:pPr marL="0" indent="0">
              <a:buNone/>
            </a:pPr>
            <a:r>
              <a:rPr lang="en-US" sz="1600" b="1" kern="0" spc="200" dirty="0">
                <a:solidFill>
                  <a:srgbClr val="F2A93B"/>
                </a:solidFill>
                <a:latin typeface="Calibri" panose="020F0502020204030204" pitchFamily="34" charset="0"/>
                <a:ea typeface="Calibri" panose="020F0502020204030204" pitchFamily="34" charset="-122"/>
                <a:cs typeface="Calibri" panose="020F0502020204030204" pitchFamily="34" charset="-120"/>
              </a:rPr>
              <a:t>EMBEDDED UNIT TESTING</a:t>
            </a:r>
            <a:endParaRPr lang="en-US" sz="1600" dirty="0"/>
          </a:p>
        </p:txBody>
      </p:sp>
      <p:sp>
        <p:nvSpPr>
          <p:cNvPr id="6" name="Text 3"/>
          <p:cNvSpPr/>
          <p:nvPr/>
        </p:nvSpPr>
        <p:spPr>
          <a:xfrm>
            <a:off x="640080" y="2286000"/>
            <a:ext cx="10515600" cy="1005840"/>
          </a:xfrm>
          <a:prstGeom prst="rect">
            <a:avLst/>
          </a:prstGeom>
          <a:noFill/>
        </p:spPr>
        <p:txBody>
          <a:bodyPr wrap="square" lIns="0" tIns="0" rIns="0" bIns="0" rtlCol="0" anchor="ctr"/>
          <a:lstStyle/>
          <a:p>
            <a:pPr marL="0" indent="0">
              <a:buNone/>
            </a:pPr>
            <a:r>
              <a:rPr lang="en-US" sz="5100" b="1" dirty="0">
                <a:solidFill>
                  <a:srgbClr val="FFFFFF"/>
                </a:solidFill>
                <a:latin typeface="Cambria" panose="02040503050406030204" pitchFamily="34" charset="0"/>
                <a:ea typeface="Cambria" panose="02040503050406030204" pitchFamily="34" charset="-122"/>
                <a:cs typeface="Cambria" panose="02040503050406030204" pitchFamily="34" charset="-120"/>
              </a:rPr>
              <a:t>Mocking in Embedded C</a:t>
            </a:r>
            <a:endParaRPr lang="en-US" sz="5100" dirty="0"/>
          </a:p>
        </p:txBody>
      </p:sp>
      <p:sp>
        <p:nvSpPr>
          <p:cNvPr id="7" name="Text 4"/>
          <p:cNvSpPr/>
          <p:nvPr/>
        </p:nvSpPr>
        <p:spPr>
          <a:xfrm>
            <a:off x="640080" y="3246120"/>
            <a:ext cx="10058400" cy="640080"/>
          </a:xfrm>
          <a:prstGeom prst="rect">
            <a:avLst/>
          </a:prstGeom>
          <a:noFill/>
        </p:spPr>
        <p:txBody>
          <a:bodyPr wrap="square" lIns="0" tIns="0" rIns="0" bIns="0" rtlCol="0" anchor="ctr"/>
          <a:lstStyle/>
          <a:p>
            <a:pPr marL="0" indent="0">
              <a:buNone/>
            </a:pPr>
            <a:r>
              <a:rPr lang="en-US" sz="2300" dirty="0">
                <a:solidFill>
                  <a:srgbClr val="CADCFC"/>
                </a:solidFill>
                <a:latin typeface="Calibri" panose="020F0502020204030204" pitchFamily="34" charset="0"/>
                <a:ea typeface="Calibri" panose="020F0502020204030204" pitchFamily="34" charset="-122"/>
                <a:cs typeface="Calibri" panose="020F0502020204030204" pitchFamily="34" charset="-120"/>
              </a:rPr>
              <a:t>Using CMock to Isolate, Simulate &amp; Test in Ceedling</a:t>
            </a:r>
            <a:endParaRPr lang="en-US" sz="2300" dirty="0"/>
          </a:p>
        </p:txBody>
      </p:sp>
      <p:sp>
        <p:nvSpPr>
          <p:cNvPr id="8" name="Shape 5"/>
          <p:cNvSpPr/>
          <p:nvPr/>
        </p:nvSpPr>
        <p:spPr>
          <a:xfrm>
            <a:off x="640080" y="4160520"/>
            <a:ext cx="4206240" cy="18288"/>
          </a:xfrm>
          <a:prstGeom prst="rect">
            <a:avLst/>
          </a:prstGeom>
          <a:solidFill>
            <a:srgbClr val="FFFFFF"/>
          </a:solidFill>
        </p:spPr>
      </p:sp>
      <p:sp>
        <p:nvSpPr>
          <p:cNvPr id="9" name="Shape 6"/>
          <p:cNvSpPr/>
          <p:nvPr/>
        </p:nvSpPr>
        <p:spPr>
          <a:xfrm>
            <a:off x="640080" y="4572000"/>
            <a:ext cx="1929384" cy="457200"/>
          </a:xfrm>
          <a:prstGeom prst="roundRect">
            <a:avLst>
              <a:gd name="adj" fmla="val 16000"/>
            </a:avLst>
          </a:prstGeom>
          <a:solidFill>
            <a:srgbClr val="FFFFFF">
              <a:alpha val="10000"/>
            </a:srgbClr>
          </a:solidFill>
          <a:ln w="9525">
            <a:solidFill>
              <a:srgbClr val="FFFFFF"/>
            </a:solidFill>
            <a:prstDash val="solid"/>
          </a:ln>
        </p:spPr>
      </p:sp>
      <p:sp>
        <p:nvSpPr>
          <p:cNvPr id="10" name="Text 7"/>
          <p:cNvSpPr/>
          <p:nvPr/>
        </p:nvSpPr>
        <p:spPr>
          <a:xfrm>
            <a:off x="640080" y="4572000"/>
            <a:ext cx="1929384" cy="457200"/>
          </a:xfrm>
          <a:prstGeom prst="rect">
            <a:avLst/>
          </a:prstGeom>
          <a:noFill/>
        </p:spPr>
        <p:txBody>
          <a:bodyPr wrap="square" lIns="0" tIns="0" rIns="0" bIns="0" rtlCol="0" anchor="ctr"/>
          <a:lstStyle/>
          <a:p>
            <a:pPr marL="0" indent="0" algn="ctr">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What is Mocking?</a:t>
            </a:r>
            <a:endParaRPr lang="en-US" sz="1400" dirty="0"/>
          </a:p>
        </p:txBody>
      </p:sp>
      <p:sp>
        <p:nvSpPr>
          <p:cNvPr id="11" name="Shape 8"/>
          <p:cNvSpPr/>
          <p:nvPr/>
        </p:nvSpPr>
        <p:spPr>
          <a:xfrm>
            <a:off x="2798064" y="4572000"/>
            <a:ext cx="1527048" cy="457200"/>
          </a:xfrm>
          <a:prstGeom prst="roundRect">
            <a:avLst>
              <a:gd name="adj" fmla="val 16000"/>
            </a:avLst>
          </a:prstGeom>
          <a:solidFill>
            <a:srgbClr val="FFFFFF">
              <a:alpha val="10000"/>
            </a:srgbClr>
          </a:solidFill>
          <a:ln w="9525">
            <a:solidFill>
              <a:srgbClr val="FFFFFF"/>
            </a:solidFill>
            <a:prstDash val="solid"/>
          </a:ln>
        </p:spPr>
      </p:sp>
      <p:sp>
        <p:nvSpPr>
          <p:cNvPr id="12" name="Text 9"/>
          <p:cNvSpPr/>
          <p:nvPr/>
        </p:nvSpPr>
        <p:spPr>
          <a:xfrm>
            <a:off x="2798064" y="4572000"/>
            <a:ext cx="1527048" cy="457200"/>
          </a:xfrm>
          <a:prstGeom prst="rect">
            <a:avLst/>
          </a:prstGeom>
          <a:noFill/>
        </p:spPr>
        <p:txBody>
          <a:bodyPr wrap="square" lIns="0" tIns="0" rIns="0" bIns="0" rtlCol="0" anchor="ctr"/>
          <a:lstStyle/>
          <a:p>
            <a:pPr marL="0" indent="0" algn="ctr">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CMock Basics</a:t>
            </a:r>
            <a:endParaRPr lang="en-US" sz="1400" dirty="0"/>
          </a:p>
        </p:txBody>
      </p:sp>
      <p:sp>
        <p:nvSpPr>
          <p:cNvPr id="13" name="Shape 10"/>
          <p:cNvSpPr/>
          <p:nvPr/>
        </p:nvSpPr>
        <p:spPr>
          <a:xfrm>
            <a:off x="4553712" y="4572000"/>
            <a:ext cx="1627632" cy="457200"/>
          </a:xfrm>
          <a:prstGeom prst="roundRect">
            <a:avLst>
              <a:gd name="adj" fmla="val 16000"/>
            </a:avLst>
          </a:prstGeom>
          <a:solidFill>
            <a:srgbClr val="FFFFFF">
              <a:alpha val="10000"/>
            </a:srgbClr>
          </a:solidFill>
          <a:ln w="9525">
            <a:solidFill>
              <a:srgbClr val="FFFFFF"/>
            </a:solidFill>
            <a:prstDash val="solid"/>
          </a:ln>
        </p:spPr>
      </p:sp>
      <p:sp>
        <p:nvSpPr>
          <p:cNvPr id="14" name="Text 11"/>
          <p:cNvSpPr/>
          <p:nvPr/>
        </p:nvSpPr>
        <p:spPr>
          <a:xfrm>
            <a:off x="4553712" y="4572000"/>
            <a:ext cx="1627632" cy="457200"/>
          </a:xfrm>
          <a:prstGeom prst="rect">
            <a:avLst/>
          </a:prstGeom>
          <a:noFill/>
        </p:spPr>
        <p:txBody>
          <a:bodyPr wrap="square" lIns="0" tIns="0" rIns="0" bIns="0" rtlCol="0" anchor="ctr"/>
          <a:lstStyle/>
          <a:p>
            <a:pPr marL="0" indent="0" algn="ctr">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Mock Variants</a:t>
            </a:r>
            <a:endParaRPr lang="en-US" sz="1400" dirty="0"/>
          </a:p>
        </p:txBody>
      </p:sp>
      <p:sp>
        <p:nvSpPr>
          <p:cNvPr id="15" name="Shape 12"/>
          <p:cNvSpPr/>
          <p:nvPr/>
        </p:nvSpPr>
        <p:spPr>
          <a:xfrm>
            <a:off x="6409944" y="4572000"/>
            <a:ext cx="1728216" cy="457200"/>
          </a:xfrm>
          <a:prstGeom prst="roundRect">
            <a:avLst>
              <a:gd name="adj" fmla="val 16000"/>
            </a:avLst>
          </a:prstGeom>
          <a:solidFill>
            <a:srgbClr val="FFFFFF">
              <a:alpha val="10000"/>
            </a:srgbClr>
          </a:solidFill>
          <a:ln w="9525">
            <a:solidFill>
              <a:srgbClr val="FFFFFF"/>
            </a:solidFill>
            <a:prstDash val="solid"/>
          </a:ln>
        </p:spPr>
      </p:sp>
      <p:sp>
        <p:nvSpPr>
          <p:cNvPr id="16" name="Text 13"/>
          <p:cNvSpPr/>
          <p:nvPr/>
        </p:nvSpPr>
        <p:spPr>
          <a:xfrm>
            <a:off x="6409944" y="4572000"/>
            <a:ext cx="1728216" cy="457200"/>
          </a:xfrm>
          <a:prstGeom prst="rect">
            <a:avLst/>
          </a:prstGeom>
          <a:noFill/>
        </p:spPr>
        <p:txBody>
          <a:bodyPr wrap="square" lIns="0" tIns="0" rIns="0" bIns="0" rtlCol="0" anchor="ctr"/>
          <a:lstStyle/>
          <a:p>
            <a:pPr marL="0" indent="0" algn="ctr">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Worked Example</a:t>
            </a:r>
            <a:endParaRPr lang="en-US" sz="1400" dirty="0"/>
          </a:p>
        </p:txBody>
      </p:sp>
      <p:sp>
        <p:nvSpPr>
          <p:cNvPr id="17" name="Text 14"/>
          <p:cNvSpPr/>
          <p:nvPr/>
        </p:nvSpPr>
        <p:spPr>
          <a:xfrm>
            <a:off x="640080" y="6263640"/>
            <a:ext cx="7315200" cy="320040"/>
          </a:xfrm>
          <a:prstGeom prst="rect">
            <a:avLst/>
          </a:prstGeom>
          <a:noFill/>
        </p:spPr>
        <p:txBody>
          <a:bodyPr wrap="square" lIns="0" tIns="0" rIns="0" bIns="0" rtlCol="0" anchor="ctr"/>
          <a:lstStyle/>
          <a:p>
            <a:pPr marL="0" indent="0">
              <a:buNone/>
            </a:pPr>
            <a:r>
              <a:rPr lang="en-US" sz="1300" dirty="0">
                <a:solidFill>
                  <a:srgbClr val="9FB3D6"/>
                </a:solidFill>
                <a:latin typeface="Calibri" panose="020F0502020204030204" pitchFamily="34" charset="0"/>
                <a:ea typeface="Calibri" panose="020F0502020204030204" pitchFamily="34" charset="-122"/>
                <a:cs typeface="Calibri" panose="020F0502020204030204" pitchFamily="34" charset="-120"/>
              </a:rPr>
              <a:t>Reference: embetronicx.com  |  Unit Testing in C series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500" b="1" kern="0" spc="200" dirty="0">
                <a:solidFill>
                  <a:srgbClr val="1C7293"/>
                </a:solidFill>
                <a:latin typeface="Calibri" panose="020F0502020204030204" pitchFamily="34" charset="0"/>
                <a:ea typeface="Calibri" panose="020F0502020204030204" pitchFamily="34" charset="-122"/>
                <a:cs typeface="Calibri" panose="020F0502020204030204" pitchFamily="34" charset="-120"/>
              </a:rPr>
              <a:t>THE CORE IDEA</a:t>
            </a:r>
            <a:endParaRPr lang="en-US" sz="1500" dirty="0"/>
          </a:p>
        </p:txBody>
      </p:sp>
      <p:sp>
        <p:nvSpPr>
          <p:cNvPr id="3" name="Text 1"/>
          <p:cNvSpPr/>
          <p:nvPr/>
        </p:nvSpPr>
        <p:spPr>
          <a:xfrm>
            <a:off x="548640" y="658368"/>
            <a:ext cx="10789920" cy="685800"/>
          </a:xfrm>
          <a:prstGeom prst="rect">
            <a:avLst/>
          </a:prstGeom>
          <a:noFill/>
        </p:spPr>
        <p:txBody>
          <a:bodyPr wrap="square" lIns="0" tIns="0" rIns="0" bIns="0" rtlCol="0" anchor="ctr"/>
          <a:lstStyle/>
          <a:p>
            <a:pPr marL="0" indent="0">
              <a:buNone/>
            </a:pPr>
            <a:r>
              <a:rPr lang="en-US" sz="3400" b="1" dirty="0">
                <a:solidFill>
                  <a:srgbClr val="1E2530"/>
                </a:solidFill>
                <a:latin typeface="Cambria" panose="02040503050406030204" pitchFamily="34" charset="0"/>
                <a:ea typeface="Cambria" panose="02040503050406030204" pitchFamily="34" charset="-122"/>
                <a:cs typeface="Cambria" panose="02040503050406030204" pitchFamily="34" charset="-120"/>
              </a:rPr>
              <a:t>What is Mocking?</a:t>
            </a:r>
            <a:endParaRPr lang="en-US" sz="3400" dirty="0"/>
          </a:p>
        </p:txBody>
      </p:sp>
      <p:sp>
        <p:nvSpPr>
          <p:cNvPr id="4" name="Shape 2"/>
          <p:cNvSpPr/>
          <p:nvPr/>
        </p:nvSpPr>
        <p:spPr>
          <a:xfrm>
            <a:off x="548640" y="1600200"/>
            <a:ext cx="5943600" cy="4297680"/>
          </a:xfrm>
          <a:prstGeom prst="roundRect">
            <a:avLst>
              <a:gd name="adj" fmla="val 1915"/>
            </a:avLst>
          </a:prstGeom>
          <a:solidFill>
            <a:srgbClr val="FFFFFF"/>
          </a:solidFill>
          <a:effectLst>
            <a:outerShdw blurRad="101600" dist="38100" dir="5400000" algn="bl" rotWithShape="0">
              <a:srgbClr val="000000">
                <a:alpha val="8000"/>
              </a:srgbClr>
            </a:outerShdw>
          </a:effectLst>
        </p:spPr>
      </p:sp>
      <p:pic>
        <p:nvPicPr>
          <p:cNvPr id="5" name="Image 0" descr="preencoded.png"/>
          <p:cNvPicPr>
            <a:picLocks noChangeAspect="1"/>
          </p:cNvPicPr>
          <p:nvPr/>
        </p:nvPicPr>
        <p:blipFill>
          <a:blip r:embed="rId1"/>
          <a:stretch>
            <a:fillRect/>
          </a:stretch>
        </p:blipFill>
        <p:spPr>
          <a:xfrm>
            <a:off x="868680" y="1874520"/>
            <a:ext cx="502920" cy="502920"/>
          </a:xfrm>
          <a:prstGeom prst="rect">
            <a:avLst/>
          </a:prstGeom>
        </p:spPr>
      </p:pic>
      <p:sp>
        <p:nvSpPr>
          <p:cNvPr id="6" name="Text 3"/>
          <p:cNvSpPr/>
          <p:nvPr/>
        </p:nvSpPr>
        <p:spPr>
          <a:xfrm>
            <a:off x="1508760" y="1874520"/>
            <a:ext cx="4754880" cy="502920"/>
          </a:xfrm>
          <a:prstGeom prst="rect">
            <a:avLst/>
          </a:prstGeom>
          <a:noFill/>
        </p:spPr>
        <p:txBody>
          <a:bodyPr wrap="square" lIns="0" tIns="0" rIns="0" bIns="0" rtlCol="0" anchor="ctr"/>
          <a:lstStyle/>
          <a:p>
            <a:pPr marL="0" indent="0">
              <a:buNone/>
            </a:pPr>
            <a:r>
              <a:rPr lang="en-US" sz="2200" b="1" dirty="0">
                <a:solidFill>
                  <a:srgbClr val="1E2530"/>
                </a:solidFill>
                <a:latin typeface="Cambria" panose="02040503050406030204" pitchFamily="34" charset="0"/>
                <a:ea typeface="Cambria" panose="02040503050406030204" pitchFamily="34" charset="-122"/>
                <a:cs typeface="Cambria" panose="02040503050406030204" pitchFamily="34" charset="-120"/>
              </a:rPr>
              <a:t>A Controlled Imitation</a:t>
            </a:r>
            <a:endParaRPr lang="en-US" sz="2200" dirty="0"/>
          </a:p>
        </p:txBody>
      </p:sp>
      <p:sp>
        <p:nvSpPr>
          <p:cNvPr id="7" name="Text 4"/>
          <p:cNvSpPr/>
          <p:nvPr/>
        </p:nvSpPr>
        <p:spPr>
          <a:xfrm>
            <a:off x="868680" y="2606040"/>
            <a:ext cx="5349240" cy="3108960"/>
          </a:xfrm>
          <a:prstGeom prst="rect">
            <a:avLst/>
          </a:prstGeom>
          <a:noFill/>
        </p:spPr>
        <p:txBody>
          <a:bodyPr wrap="square" lIns="0" tIns="0" rIns="0" bIns="0" rtlCol="0" anchor="ctr"/>
          <a:lstStyle/>
          <a:p>
            <a:pPr marL="0" indent="0">
              <a:lnSpc>
                <a:spcPct val="115000"/>
              </a:lnSpc>
              <a:spcAft>
                <a:spcPts val="1200"/>
              </a:spcAft>
              <a:buNone/>
            </a:pPr>
            <a:r>
              <a:rPr lang="en-US" sz="1750" dirty="0">
                <a:solidFill>
                  <a:srgbClr val="1E2530"/>
                </a:solidFill>
                <a:latin typeface="Calibri" panose="020F0502020204030204" pitchFamily="34" charset="0"/>
                <a:ea typeface="Calibri" panose="020F0502020204030204" pitchFamily="34" charset="-122"/>
                <a:cs typeface="Calibri" panose="020F0502020204030204" pitchFamily="34" charset="-120"/>
              </a:rPr>
              <a:t>Mocking means creating a replica of a real object or function, so its behavior can be simulated in a controlled way.</a:t>
            </a:r>
            <a:endParaRPr lang="en-US" sz="1750" dirty="0"/>
          </a:p>
          <a:p>
            <a:pPr marL="0" indent="0">
              <a:lnSpc>
                <a:spcPct val="115000"/>
              </a:lnSpc>
              <a:spcAft>
                <a:spcPts val="1200"/>
              </a:spcAft>
              <a:buNone/>
            </a:pPr>
            <a:r>
              <a:rPr lang="en-US" sz="1750" dirty="0">
                <a:solidFill>
                  <a:srgbClr val="1E2530"/>
                </a:solidFill>
                <a:latin typeface="Calibri" panose="020F0502020204030204" pitchFamily="34" charset="0"/>
                <a:ea typeface="Calibri" panose="020F0502020204030204" pitchFamily="34" charset="-122"/>
                <a:cs typeface="Calibri" panose="020F0502020204030204" pitchFamily="34" charset="-120"/>
              </a:rPr>
              <a:t>It replaces real functions with alternate, fake implementations — called “mocks.”</a:t>
            </a:r>
            <a:endParaRPr lang="en-US" sz="1750" dirty="0"/>
          </a:p>
          <a:p>
            <a:pPr marL="0" indent="0">
              <a:lnSpc>
                <a:spcPct val="115000"/>
              </a:lnSpc>
              <a:buNone/>
            </a:pPr>
            <a:r>
              <a:rPr lang="en-US" sz="1750" dirty="0">
                <a:solidFill>
                  <a:srgbClr val="1E2530"/>
                </a:solidFill>
                <a:latin typeface="Calibri" panose="020F0502020204030204" pitchFamily="34" charset="0"/>
                <a:ea typeface="Calibri" panose="020F0502020204030204" pitchFamily="34" charset="-122"/>
                <a:cs typeface="Calibri" panose="020F0502020204030204" pitchFamily="34" charset="-120"/>
              </a:rPr>
              <a:t>This removes real-world dependencies during a test run.</a:t>
            </a:r>
            <a:endParaRPr lang="en-US" sz="1750" dirty="0"/>
          </a:p>
        </p:txBody>
      </p:sp>
      <p:sp>
        <p:nvSpPr>
          <p:cNvPr id="8" name="Shape 5"/>
          <p:cNvSpPr/>
          <p:nvPr/>
        </p:nvSpPr>
        <p:spPr>
          <a:xfrm>
            <a:off x="6720840" y="1600200"/>
            <a:ext cx="4892040" cy="4297680"/>
          </a:xfrm>
          <a:prstGeom prst="roundRect">
            <a:avLst>
              <a:gd name="adj" fmla="val 1915"/>
            </a:avLst>
          </a:prstGeom>
          <a:solidFill>
            <a:srgbClr val="21295C"/>
          </a:solidFill>
        </p:spPr>
      </p:sp>
      <p:pic>
        <p:nvPicPr>
          <p:cNvPr id="9" name="Image 1" descr="preencoded.png"/>
          <p:cNvPicPr>
            <a:picLocks noChangeAspect="1"/>
          </p:cNvPicPr>
          <p:nvPr/>
        </p:nvPicPr>
        <p:blipFill>
          <a:blip r:embed="rId2"/>
          <a:stretch>
            <a:fillRect/>
          </a:stretch>
        </p:blipFill>
        <p:spPr>
          <a:xfrm>
            <a:off x="7040880" y="1874520"/>
            <a:ext cx="457200" cy="457200"/>
          </a:xfrm>
          <a:prstGeom prst="rect">
            <a:avLst/>
          </a:prstGeom>
        </p:spPr>
      </p:pic>
      <p:sp>
        <p:nvSpPr>
          <p:cNvPr id="10" name="Text 6"/>
          <p:cNvSpPr/>
          <p:nvPr/>
        </p:nvSpPr>
        <p:spPr>
          <a:xfrm>
            <a:off x="7589520" y="1874520"/>
            <a:ext cx="3840480" cy="457200"/>
          </a:xfrm>
          <a:prstGeom prst="rect">
            <a:avLst/>
          </a:prstGeom>
          <a:noFill/>
        </p:spPr>
        <p:txBody>
          <a:bodyPr wrap="square" lIns="0" tIns="0" rIns="0" bIns="0" rtlCol="0" anchor="ctr"/>
          <a:lstStyle/>
          <a:p>
            <a:pPr marL="0" indent="0">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Why We Need It</a:t>
            </a:r>
            <a:endParaRPr lang="en-US" sz="2000" dirty="0"/>
          </a:p>
        </p:txBody>
      </p:sp>
      <p:sp>
        <p:nvSpPr>
          <p:cNvPr id="11" name="Text 7"/>
          <p:cNvSpPr/>
          <p:nvPr/>
        </p:nvSpPr>
        <p:spPr>
          <a:xfrm>
            <a:off x="7040880" y="2514600"/>
            <a:ext cx="4343400" cy="3200400"/>
          </a:xfrm>
          <a:prstGeom prst="rect">
            <a:avLst/>
          </a:prstGeom>
          <a:noFill/>
        </p:spPr>
        <p:txBody>
          <a:bodyPr wrap="square" lIns="0" tIns="0" rIns="0" bIns="0" rtlCol="0" anchor="ctr"/>
          <a:lstStyle/>
          <a:p>
            <a:pPr marL="177800" indent="-177800">
              <a:lnSpc>
                <a:spcPct val="110000"/>
              </a:lnSpc>
              <a:spcAft>
                <a:spcPts val="1000"/>
              </a:spcAft>
              <a:buSzPct val="100000"/>
              <a:buChar char="•"/>
            </a:pPr>
            <a:r>
              <a:rPr lang="en-US" sz="1550" dirty="0">
                <a:solidFill>
                  <a:srgbClr val="DCE6F5"/>
                </a:solidFill>
                <a:latin typeface="Calibri" panose="020F0502020204030204" pitchFamily="34" charset="0"/>
                <a:ea typeface="Calibri" panose="020F0502020204030204" pitchFamily="34" charset="-122"/>
                <a:cs typeface="Calibri" panose="020F0502020204030204" pitchFamily="34" charset="-120"/>
              </a:rPr>
              <a:t>Code under test often depends on other modules</a:t>
            </a:r>
            <a:endParaRPr lang="en-US" sz="1550" dirty="0"/>
          </a:p>
          <a:p>
            <a:pPr marL="177800" indent="-177800">
              <a:lnSpc>
                <a:spcPct val="110000"/>
              </a:lnSpc>
              <a:spcAft>
                <a:spcPts val="1000"/>
              </a:spcAft>
              <a:buSzPct val="100000"/>
              <a:buChar char="•"/>
            </a:pPr>
            <a:r>
              <a:rPr lang="en-US" sz="1550" dirty="0">
                <a:solidFill>
                  <a:srgbClr val="DCE6F5"/>
                </a:solidFill>
                <a:latin typeface="Calibri" panose="020F0502020204030204" pitchFamily="34" charset="0"/>
                <a:ea typeface="Calibri" panose="020F0502020204030204" pitchFamily="34" charset="-122"/>
                <a:cs typeface="Calibri" panose="020F0502020204030204" pitchFamily="34" charset="-120"/>
              </a:rPr>
              <a:t>Mocks break that dependency so code can run in isolation</a:t>
            </a:r>
            <a:endParaRPr lang="en-US" sz="1550" dirty="0"/>
          </a:p>
          <a:p>
            <a:pPr marL="177800" indent="-177800">
              <a:lnSpc>
                <a:spcPct val="110000"/>
              </a:lnSpc>
              <a:spcAft>
                <a:spcPts val="1000"/>
              </a:spcAft>
              <a:buSzPct val="100000"/>
              <a:buChar char="•"/>
            </a:pPr>
            <a:r>
              <a:rPr lang="en-US" sz="1550" dirty="0">
                <a:solidFill>
                  <a:srgbClr val="DCE6F5"/>
                </a:solidFill>
                <a:latin typeface="Calibri" panose="020F0502020204030204" pitchFamily="34" charset="0"/>
                <a:ea typeface="Calibri" panose="020F0502020204030204" pitchFamily="34" charset="-122"/>
                <a:cs typeface="Calibri" panose="020F0502020204030204" pitchFamily="34" charset="-120"/>
              </a:rPr>
              <a:t>Ceedling ships an inbuilt mocking tool — CMock</a:t>
            </a:r>
            <a:endParaRPr lang="en-US" sz="1550" dirty="0"/>
          </a:p>
          <a:p>
            <a:pPr marL="177800" indent="-177800">
              <a:lnSpc>
                <a:spcPct val="110000"/>
              </a:lnSpc>
              <a:spcAft>
                <a:spcPts val="1000"/>
              </a:spcAft>
              <a:buSzPct val="100000"/>
              <a:buChar char="•"/>
            </a:pPr>
            <a:r>
              <a:rPr lang="en-US" sz="1550" dirty="0">
                <a:solidFill>
                  <a:srgbClr val="DCE6F5"/>
                </a:solidFill>
                <a:latin typeface="Calibri" panose="020F0502020204030204" pitchFamily="34" charset="0"/>
                <a:ea typeface="Calibri" panose="020F0502020204030204" pitchFamily="34" charset="-122"/>
                <a:cs typeface="Calibri" panose="020F0502020204030204" pitchFamily="34" charset="-120"/>
              </a:rPr>
              <a:t>No extra installation is required</a:t>
            </a:r>
            <a:endParaRPr lang="en-US" sz="1550" dirty="0"/>
          </a:p>
        </p:txBody>
      </p:sp>
      <p:sp>
        <p:nvSpPr>
          <p:cNvPr id="12" name="Text 8"/>
          <p:cNvSpPr/>
          <p:nvPr/>
        </p:nvSpPr>
        <p:spPr>
          <a:xfrm>
            <a:off x="457200" y="6473952"/>
            <a:ext cx="5486400" cy="274320"/>
          </a:xfrm>
          <a:prstGeom prst="rect">
            <a:avLst/>
          </a:prstGeom>
          <a:noFill/>
        </p:spPr>
        <p:txBody>
          <a:bodyPr wrap="square" lIns="0" tIns="0" rIns="0" bIns="0" rtlCol="0" anchor="ctr"/>
          <a:lstStyle/>
          <a:p>
            <a:pPr marL="0" indent="0" algn="l">
              <a:buNone/>
            </a:pPr>
            <a:r>
              <a:rPr lang="en-US" sz="1050" dirty="0">
                <a:solidFill>
                  <a:srgbClr val="5B6B79"/>
                </a:solidFill>
                <a:latin typeface="Calibri" panose="020F0502020204030204" pitchFamily="34" charset="0"/>
                <a:ea typeface="Calibri" panose="020F0502020204030204" pitchFamily="34" charset="-122"/>
                <a:cs typeface="Calibri" panose="020F0502020204030204" pitchFamily="34" charset="-120"/>
              </a:rPr>
              <a:t>Mocking in Embedded C  |  CMock</a:t>
            </a:r>
            <a:endParaRPr lang="en-US" sz="1050" dirty="0"/>
          </a:p>
        </p:txBody>
      </p:sp>
      <p:sp>
        <p:nvSpPr>
          <p:cNvPr id="13" name="Text 9"/>
          <p:cNvSpPr/>
          <p:nvPr/>
        </p:nvSpPr>
        <p:spPr>
          <a:xfrm>
            <a:off x="11247120" y="6473952"/>
            <a:ext cx="457200" cy="274320"/>
          </a:xfrm>
          <a:prstGeom prst="rect">
            <a:avLst/>
          </a:prstGeom>
          <a:noFill/>
        </p:spPr>
        <p:txBody>
          <a:bodyPr wrap="square" lIns="0" tIns="0" rIns="0" bIns="0" rtlCol="0" anchor="ctr"/>
          <a:lstStyle/>
          <a:p>
            <a:pPr marL="0" indent="0" algn="r">
              <a:buNone/>
            </a:pPr>
            <a:r>
              <a:rPr lang="en-US" sz="1050" dirty="0">
                <a:solidFill>
                  <a:srgbClr val="5B6B79"/>
                </a:solidFill>
                <a:latin typeface="Calibri" panose="020F0502020204030204" pitchFamily="34" charset="0"/>
                <a:ea typeface="Calibri" panose="020F0502020204030204" pitchFamily="34" charset="-122"/>
                <a:cs typeface="Calibri" panose="020F0502020204030204"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500" b="1" kern="0" spc="200" dirty="0">
                <a:solidFill>
                  <a:srgbClr val="1C7293"/>
                </a:solidFill>
                <a:latin typeface="Calibri" panose="020F0502020204030204" pitchFamily="34" charset="0"/>
                <a:ea typeface="Calibri" panose="020F0502020204030204" pitchFamily="34" charset="-122"/>
                <a:cs typeface="Calibri" panose="020F0502020204030204" pitchFamily="34" charset="-120"/>
              </a:rPr>
              <a:t>THE TOOL</a:t>
            </a:r>
            <a:endParaRPr lang="en-US" sz="1500" dirty="0"/>
          </a:p>
        </p:txBody>
      </p:sp>
      <p:sp>
        <p:nvSpPr>
          <p:cNvPr id="3" name="Text 1"/>
          <p:cNvSpPr/>
          <p:nvPr/>
        </p:nvSpPr>
        <p:spPr>
          <a:xfrm>
            <a:off x="548640" y="658368"/>
            <a:ext cx="10789920" cy="685800"/>
          </a:xfrm>
          <a:prstGeom prst="rect">
            <a:avLst/>
          </a:prstGeom>
          <a:noFill/>
        </p:spPr>
        <p:txBody>
          <a:bodyPr wrap="square" lIns="0" tIns="0" rIns="0" bIns="0" rtlCol="0" anchor="ctr"/>
          <a:lstStyle/>
          <a:p>
            <a:pPr marL="0" indent="0">
              <a:buNone/>
            </a:pPr>
            <a:r>
              <a:rPr lang="en-US" sz="3400" b="1" dirty="0">
                <a:solidFill>
                  <a:srgbClr val="1E2530"/>
                </a:solidFill>
                <a:latin typeface="Cambria" panose="02040503050406030204" pitchFamily="34" charset="0"/>
                <a:ea typeface="Cambria" panose="02040503050406030204" pitchFamily="34" charset="-122"/>
                <a:cs typeface="Cambria" panose="02040503050406030204" pitchFamily="34" charset="-120"/>
              </a:rPr>
              <a:t>What is CMock?</a:t>
            </a:r>
            <a:endParaRPr lang="en-US" sz="3400" dirty="0"/>
          </a:p>
        </p:txBody>
      </p:sp>
      <p:sp>
        <p:nvSpPr>
          <p:cNvPr id="4" name="Text 2"/>
          <p:cNvSpPr/>
          <p:nvPr/>
        </p:nvSpPr>
        <p:spPr>
          <a:xfrm>
            <a:off x="548640" y="1508760"/>
            <a:ext cx="10607040" cy="548640"/>
          </a:xfrm>
          <a:prstGeom prst="rect">
            <a:avLst/>
          </a:prstGeom>
          <a:noFill/>
        </p:spPr>
        <p:txBody>
          <a:bodyPr wrap="square" lIns="0" tIns="0" rIns="0" bIns="0" rtlCol="0" anchor="ctr"/>
          <a:lstStyle/>
          <a:p>
            <a:pPr marL="0" indent="0">
              <a:buNone/>
            </a:pPr>
            <a:r>
              <a:rPr lang="en-US" sz="1800" dirty="0">
                <a:solidFill>
                  <a:srgbClr val="5B6B79"/>
                </a:solidFill>
                <a:latin typeface="Calibri" panose="020F0502020204030204" pitchFamily="34" charset="0"/>
                <a:ea typeface="Calibri" panose="020F0502020204030204" pitchFamily="34" charset="-122"/>
                <a:cs typeface="Calibri" panose="020F0502020204030204" pitchFamily="34" charset="-120"/>
              </a:rPr>
              <a:t>CMock is a framework that generates mock functions automatically from a header file's API — no manual fake-writing needed.</a:t>
            </a:r>
            <a:endParaRPr lang="en-US" sz="1800" dirty="0"/>
          </a:p>
        </p:txBody>
      </p:sp>
      <p:sp>
        <p:nvSpPr>
          <p:cNvPr id="5" name="Shape 3"/>
          <p:cNvSpPr/>
          <p:nvPr/>
        </p:nvSpPr>
        <p:spPr>
          <a:xfrm>
            <a:off x="548640" y="2331720"/>
            <a:ext cx="3429000" cy="2880360"/>
          </a:xfrm>
          <a:prstGeom prst="roundRect">
            <a:avLst>
              <a:gd name="adj" fmla="val 2857"/>
            </a:avLst>
          </a:prstGeom>
          <a:solidFill>
            <a:srgbClr val="FFFFFF"/>
          </a:solidFill>
          <a:effectLst>
            <a:outerShdw blurRad="101600" dist="38100" dir="5400000" algn="bl" rotWithShape="0">
              <a:srgbClr val="000000">
                <a:alpha val="8000"/>
              </a:srgbClr>
            </a:outerShdw>
          </a:effectLst>
        </p:spPr>
      </p:sp>
      <p:sp>
        <p:nvSpPr>
          <p:cNvPr id="6" name="Shape 4"/>
          <p:cNvSpPr/>
          <p:nvPr/>
        </p:nvSpPr>
        <p:spPr>
          <a:xfrm>
            <a:off x="868680" y="2651760"/>
            <a:ext cx="685800" cy="685800"/>
          </a:xfrm>
          <a:prstGeom prst="ellipse">
            <a:avLst/>
          </a:prstGeom>
          <a:solidFill>
            <a:srgbClr val="E7F1F6"/>
          </a:solidFill>
        </p:spPr>
      </p:sp>
      <p:pic>
        <p:nvPicPr>
          <p:cNvPr id="7" name="Image 0" descr="preencoded.png"/>
          <p:cNvPicPr>
            <a:picLocks noChangeAspect="1"/>
          </p:cNvPicPr>
          <p:nvPr/>
        </p:nvPicPr>
        <p:blipFill>
          <a:blip r:embed="rId1"/>
          <a:stretch>
            <a:fillRect/>
          </a:stretch>
        </p:blipFill>
        <p:spPr>
          <a:xfrm>
            <a:off x="1033272" y="2816352"/>
            <a:ext cx="365760" cy="365760"/>
          </a:xfrm>
          <a:prstGeom prst="rect">
            <a:avLst/>
          </a:prstGeom>
        </p:spPr>
      </p:pic>
      <p:sp>
        <p:nvSpPr>
          <p:cNvPr id="8" name="Text 5"/>
          <p:cNvSpPr/>
          <p:nvPr/>
        </p:nvSpPr>
        <p:spPr>
          <a:xfrm>
            <a:off x="822960" y="3520440"/>
            <a:ext cx="2880360" cy="411480"/>
          </a:xfrm>
          <a:prstGeom prst="rect">
            <a:avLst/>
          </a:prstGeom>
          <a:noFill/>
        </p:spPr>
        <p:txBody>
          <a:bodyPr wrap="square" lIns="0" tIns="0" rIns="0" bIns="0" rtlCol="0" anchor="ctr"/>
          <a:lstStyle/>
          <a:p>
            <a:pPr marL="0" indent="0">
              <a:buNone/>
            </a:pPr>
            <a:r>
              <a:rPr lang="en-US" sz="1800" b="1" dirty="0">
                <a:solidFill>
                  <a:srgbClr val="1E2530"/>
                </a:solidFill>
                <a:latin typeface="Cambria" panose="02040503050406030204" pitchFamily="34" charset="0"/>
                <a:ea typeface="Cambria" panose="02040503050406030204" pitchFamily="34" charset="-122"/>
                <a:cs typeface="Cambria" panose="02040503050406030204" pitchFamily="34" charset="-120"/>
              </a:rPr>
              <a:t>1. Point at a Header</a:t>
            </a:r>
            <a:endParaRPr lang="en-US" sz="1800" dirty="0"/>
          </a:p>
        </p:txBody>
      </p:sp>
      <p:sp>
        <p:nvSpPr>
          <p:cNvPr id="9" name="Text 6"/>
          <p:cNvSpPr/>
          <p:nvPr/>
        </p:nvSpPr>
        <p:spPr>
          <a:xfrm>
            <a:off x="822960" y="3950208"/>
            <a:ext cx="2880360" cy="1143000"/>
          </a:xfrm>
          <a:prstGeom prst="rect">
            <a:avLst/>
          </a:prstGeom>
          <a:noFill/>
        </p:spPr>
        <p:txBody>
          <a:bodyPr wrap="square" lIns="0" tIns="0" rIns="0" bIns="0" rtlCol="0" anchor="ctr"/>
          <a:lstStyle/>
          <a:p>
            <a:pPr marL="0" indent="0">
              <a:lnSpc>
                <a:spcPct val="112000"/>
              </a:lnSpc>
              <a:buNone/>
            </a:pPr>
            <a:r>
              <a:rPr lang="en-US" sz="1400" dirty="0">
                <a:solidFill>
                  <a:srgbClr val="5B6B79"/>
                </a:solidFill>
                <a:latin typeface="Calibri" panose="020F0502020204030204" pitchFamily="34" charset="0"/>
                <a:ea typeface="Calibri" panose="020F0502020204030204" pitchFamily="34" charset="-122"/>
                <a:cs typeface="Calibri" panose="020F0502020204030204" pitchFamily="34" charset="-120"/>
              </a:rPr>
              <a:t>Add a mock header to your test file, e.g. mock_example.h for example.h.</a:t>
            </a:r>
            <a:endParaRPr lang="en-US" sz="1400" dirty="0"/>
          </a:p>
        </p:txBody>
      </p:sp>
      <p:sp>
        <p:nvSpPr>
          <p:cNvPr id="10" name="Shape 7"/>
          <p:cNvSpPr/>
          <p:nvPr/>
        </p:nvSpPr>
        <p:spPr>
          <a:xfrm>
            <a:off x="4297680" y="2331720"/>
            <a:ext cx="3429000" cy="2880360"/>
          </a:xfrm>
          <a:prstGeom prst="roundRect">
            <a:avLst>
              <a:gd name="adj" fmla="val 2857"/>
            </a:avLst>
          </a:prstGeom>
          <a:solidFill>
            <a:srgbClr val="FFFFFF"/>
          </a:solidFill>
          <a:effectLst>
            <a:outerShdw blurRad="101600" dist="38100" dir="5400000" algn="bl" rotWithShape="0">
              <a:srgbClr val="000000">
                <a:alpha val="8000"/>
              </a:srgbClr>
            </a:outerShdw>
          </a:effectLst>
        </p:spPr>
      </p:sp>
      <p:sp>
        <p:nvSpPr>
          <p:cNvPr id="11" name="Shape 8"/>
          <p:cNvSpPr/>
          <p:nvPr/>
        </p:nvSpPr>
        <p:spPr>
          <a:xfrm>
            <a:off x="4617720" y="2651760"/>
            <a:ext cx="685800" cy="685800"/>
          </a:xfrm>
          <a:prstGeom prst="ellipse">
            <a:avLst/>
          </a:prstGeom>
          <a:solidFill>
            <a:srgbClr val="E7F1F6"/>
          </a:solidFill>
        </p:spPr>
      </p:sp>
      <p:pic>
        <p:nvPicPr>
          <p:cNvPr id="12" name="Image 1" descr="preencoded.png"/>
          <p:cNvPicPr>
            <a:picLocks noChangeAspect="1"/>
          </p:cNvPicPr>
          <p:nvPr/>
        </p:nvPicPr>
        <p:blipFill>
          <a:blip r:embed="rId2"/>
          <a:stretch>
            <a:fillRect/>
          </a:stretch>
        </p:blipFill>
        <p:spPr>
          <a:xfrm>
            <a:off x="4782312" y="2816352"/>
            <a:ext cx="365760" cy="365760"/>
          </a:xfrm>
          <a:prstGeom prst="rect">
            <a:avLst/>
          </a:prstGeom>
        </p:spPr>
      </p:pic>
      <p:sp>
        <p:nvSpPr>
          <p:cNvPr id="13" name="Text 9"/>
          <p:cNvSpPr/>
          <p:nvPr/>
        </p:nvSpPr>
        <p:spPr>
          <a:xfrm>
            <a:off x="4572000" y="3520440"/>
            <a:ext cx="2880360" cy="411480"/>
          </a:xfrm>
          <a:prstGeom prst="rect">
            <a:avLst/>
          </a:prstGeom>
          <a:noFill/>
        </p:spPr>
        <p:txBody>
          <a:bodyPr wrap="square" lIns="0" tIns="0" rIns="0" bIns="0" rtlCol="0" anchor="ctr"/>
          <a:lstStyle/>
          <a:p>
            <a:pPr marL="0" indent="0">
              <a:buNone/>
            </a:pPr>
            <a:r>
              <a:rPr lang="en-US" sz="1800" b="1" dirty="0">
                <a:solidFill>
                  <a:srgbClr val="1E2530"/>
                </a:solidFill>
                <a:latin typeface="Cambria" panose="02040503050406030204" pitchFamily="34" charset="0"/>
                <a:ea typeface="Cambria" panose="02040503050406030204" pitchFamily="34" charset="-122"/>
                <a:cs typeface="Cambria" panose="02040503050406030204" pitchFamily="34" charset="-120"/>
              </a:rPr>
              <a:t>2. CMock Generates It</a:t>
            </a:r>
            <a:endParaRPr lang="en-US" sz="1800" dirty="0"/>
          </a:p>
        </p:txBody>
      </p:sp>
      <p:sp>
        <p:nvSpPr>
          <p:cNvPr id="14" name="Text 10"/>
          <p:cNvSpPr/>
          <p:nvPr/>
        </p:nvSpPr>
        <p:spPr>
          <a:xfrm>
            <a:off x="4572000" y="3950208"/>
            <a:ext cx="2880360" cy="1143000"/>
          </a:xfrm>
          <a:prstGeom prst="rect">
            <a:avLst/>
          </a:prstGeom>
          <a:noFill/>
        </p:spPr>
        <p:txBody>
          <a:bodyPr wrap="square" lIns="0" tIns="0" rIns="0" bIns="0" rtlCol="0" anchor="ctr"/>
          <a:lstStyle/>
          <a:p>
            <a:pPr marL="0" indent="0">
              <a:lnSpc>
                <a:spcPct val="112000"/>
              </a:lnSpc>
              <a:buNone/>
            </a:pPr>
            <a:r>
              <a:rPr lang="en-US" sz="1400" dirty="0">
                <a:solidFill>
                  <a:srgbClr val="5B6B79"/>
                </a:solidFill>
                <a:latin typeface="Calibri" panose="020F0502020204030204" pitchFamily="34" charset="0"/>
                <a:ea typeface="Calibri" panose="020F0502020204030204" pitchFamily="34" charset="-122"/>
                <a:cs typeface="Calibri" panose="020F0502020204030204" pitchFamily="34" charset="-120"/>
              </a:rPr>
              <a:t>Ceedling auto-creates mock_example.h and mock_example.c — fully compiled mocks.</a:t>
            </a:r>
            <a:endParaRPr lang="en-US" sz="1400" dirty="0"/>
          </a:p>
        </p:txBody>
      </p:sp>
      <p:sp>
        <p:nvSpPr>
          <p:cNvPr id="15" name="Shape 11"/>
          <p:cNvSpPr/>
          <p:nvPr/>
        </p:nvSpPr>
        <p:spPr>
          <a:xfrm>
            <a:off x="8046720" y="2331720"/>
            <a:ext cx="3429000" cy="2880360"/>
          </a:xfrm>
          <a:prstGeom prst="roundRect">
            <a:avLst>
              <a:gd name="adj" fmla="val 2857"/>
            </a:avLst>
          </a:prstGeom>
          <a:solidFill>
            <a:srgbClr val="FFFFFF"/>
          </a:solidFill>
          <a:effectLst>
            <a:outerShdw blurRad="101600" dist="38100" dir="5400000" algn="bl" rotWithShape="0">
              <a:srgbClr val="000000">
                <a:alpha val="8000"/>
              </a:srgbClr>
            </a:outerShdw>
          </a:effectLst>
        </p:spPr>
      </p:sp>
      <p:sp>
        <p:nvSpPr>
          <p:cNvPr id="16" name="Shape 12"/>
          <p:cNvSpPr/>
          <p:nvPr/>
        </p:nvSpPr>
        <p:spPr>
          <a:xfrm>
            <a:off x="8366760" y="2651760"/>
            <a:ext cx="685800" cy="685800"/>
          </a:xfrm>
          <a:prstGeom prst="ellipse">
            <a:avLst/>
          </a:prstGeom>
          <a:solidFill>
            <a:srgbClr val="E7F1F6"/>
          </a:solidFill>
        </p:spPr>
      </p:sp>
      <p:pic>
        <p:nvPicPr>
          <p:cNvPr id="17" name="Image 2" descr="preencoded.png"/>
          <p:cNvPicPr>
            <a:picLocks noChangeAspect="1"/>
          </p:cNvPicPr>
          <p:nvPr/>
        </p:nvPicPr>
        <p:blipFill>
          <a:blip r:embed="rId3"/>
          <a:stretch>
            <a:fillRect/>
          </a:stretch>
        </p:blipFill>
        <p:spPr>
          <a:xfrm>
            <a:off x="8531352" y="2816352"/>
            <a:ext cx="365760" cy="365760"/>
          </a:xfrm>
          <a:prstGeom prst="rect">
            <a:avLst/>
          </a:prstGeom>
        </p:spPr>
      </p:pic>
      <p:sp>
        <p:nvSpPr>
          <p:cNvPr id="18" name="Text 13"/>
          <p:cNvSpPr/>
          <p:nvPr/>
        </p:nvSpPr>
        <p:spPr>
          <a:xfrm>
            <a:off x="8321040" y="3520440"/>
            <a:ext cx="2880360" cy="411480"/>
          </a:xfrm>
          <a:prstGeom prst="rect">
            <a:avLst/>
          </a:prstGeom>
          <a:noFill/>
        </p:spPr>
        <p:txBody>
          <a:bodyPr wrap="square" lIns="0" tIns="0" rIns="0" bIns="0" rtlCol="0" anchor="ctr"/>
          <a:lstStyle/>
          <a:p>
            <a:pPr marL="0" indent="0">
              <a:buNone/>
            </a:pPr>
            <a:r>
              <a:rPr lang="en-US" sz="1800" b="1" dirty="0">
                <a:solidFill>
                  <a:srgbClr val="1E2530"/>
                </a:solidFill>
                <a:latin typeface="Cambria" panose="02040503050406030204" pitchFamily="34" charset="0"/>
                <a:ea typeface="Cambria" panose="02040503050406030204" pitchFamily="34" charset="-122"/>
                <a:cs typeface="Cambria" panose="02040503050406030204" pitchFamily="34" charset="-120"/>
              </a:rPr>
              <a:t>3. Control the Mock</a:t>
            </a:r>
            <a:endParaRPr lang="en-US" sz="1800" dirty="0"/>
          </a:p>
        </p:txBody>
      </p:sp>
      <p:sp>
        <p:nvSpPr>
          <p:cNvPr id="19" name="Text 14"/>
          <p:cNvSpPr/>
          <p:nvPr/>
        </p:nvSpPr>
        <p:spPr>
          <a:xfrm>
            <a:off x="8321040" y="3950208"/>
            <a:ext cx="2880360" cy="1143000"/>
          </a:xfrm>
          <a:prstGeom prst="rect">
            <a:avLst/>
          </a:prstGeom>
          <a:noFill/>
        </p:spPr>
        <p:txBody>
          <a:bodyPr wrap="square" lIns="0" tIns="0" rIns="0" bIns="0" rtlCol="0" anchor="ctr"/>
          <a:lstStyle/>
          <a:p>
            <a:pPr marL="0" indent="0">
              <a:lnSpc>
                <a:spcPct val="112000"/>
              </a:lnSpc>
              <a:buNone/>
            </a:pPr>
            <a:r>
              <a:rPr lang="en-US" sz="1400" dirty="0">
                <a:solidFill>
                  <a:srgbClr val="5B6B79"/>
                </a:solidFill>
                <a:latin typeface="Calibri" panose="020F0502020204030204" pitchFamily="34" charset="0"/>
                <a:ea typeface="Calibri" panose="020F0502020204030204" pitchFamily="34" charset="-122"/>
                <a:cs typeface="Calibri" panose="020F0502020204030204" pitchFamily="34" charset="-120"/>
              </a:rPr>
              <a:t>Use generated functions to set return values and verify call order &amp; arguments.</a:t>
            </a:r>
            <a:endParaRPr lang="en-US" sz="1400" dirty="0"/>
          </a:p>
        </p:txBody>
      </p:sp>
      <p:sp>
        <p:nvSpPr>
          <p:cNvPr id="20" name="Shape 15"/>
          <p:cNvSpPr/>
          <p:nvPr/>
        </p:nvSpPr>
        <p:spPr>
          <a:xfrm>
            <a:off x="548640" y="5440680"/>
            <a:ext cx="11064240" cy="777240"/>
          </a:xfrm>
          <a:prstGeom prst="roundRect">
            <a:avLst>
              <a:gd name="adj" fmla="val 9412"/>
            </a:avLst>
          </a:prstGeom>
          <a:solidFill>
            <a:srgbClr val="FFF4E3"/>
          </a:solidFill>
        </p:spPr>
      </p:sp>
      <p:sp>
        <p:nvSpPr>
          <p:cNvPr id="21" name="Text 16"/>
          <p:cNvSpPr/>
          <p:nvPr/>
        </p:nvSpPr>
        <p:spPr>
          <a:xfrm>
            <a:off x="822960" y="5440680"/>
            <a:ext cx="10515600" cy="777240"/>
          </a:xfrm>
          <a:prstGeom prst="rect">
            <a:avLst/>
          </a:prstGeom>
          <a:noFill/>
        </p:spPr>
        <p:txBody>
          <a:bodyPr wrap="square" lIns="0" tIns="0" rIns="0" bIns="0" rtlCol="0" anchor="ctr"/>
          <a:lstStyle/>
          <a:p>
            <a:pPr marL="0" indent="0">
              <a:buNone/>
            </a:pPr>
            <a:r>
              <a:rPr lang="en-US" sz="1550" b="1" dirty="0">
                <a:solidFill>
                  <a:srgbClr val="1E2530"/>
                </a:solidFill>
              </a:rPr>
              <a:t>Key syntax:  </a:t>
            </a:r>
            <a:r>
              <a:rPr lang="en-US" sz="1550" b="1" dirty="0">
                <a:solidFill>
                  <a:srgbClr val="065A82"/>
                </a:solidFill>
                <a:latin typeface="Courier New" panose="02070309020205020404" pitchFamily="34" charset="0"/>
                <a:ea typeface="Courier New" panose="02070309020205020404" pitchFamily="34" charset="-122"/>
                <a:cs typeface="Courier New" panose="02070309020205020404" pitchFamily="34" charset="-120"/>
              </a:rPr>
              <a:t>#include "mock_adc.h"</a:t>
            </a:r>
            <a:r>
              <a:rPr lang="en-US" sz="1550" dirty="0">
                <a:solidFill>
                  <a:srgbClr val="1E2530"/>
                </a:solidFill>
              </a:rPr>
              <a:t>   — generates mocks for every function declared in adc.h</a:t>
            </a:r>
            <a:endParaRPr lang="en-US" sz="1550" dirty="0"/>
          </a:p>
        </p:txBody>
      </p:sp>
      <p:sp>
        <p:nvSpPr>
          <p:cNvPr id="22" name="Text 17"/>
          <p:cNvSpPr/>
          <p:nvPr/>
        </p:nvSpPr>
        <p:spPr>
          <a:xfrm>
            <a:off x="457200" y="6473952"/>
            <a:ext cx="5486400" cy="274320"/>
          </a:xfrm>
          <a:prstGeom prst="rect">
            <a:avLst/>
          </a:prstGeom>
          <a:noFill/>
        </p:spPr>
        <p:txBody>
          <a:bodyPr wrap="square" lIns="0" tIns="0" rIns="0" bIns="0" rtlCol="0" anchor="ctr"/>
          <a:lstStyle/>
          <a:p>
            <a:pPr marL="0" indent="0" algn="l">
              <a:buNone/>
            </a:pPr>
            <a:r>
              <a:rPr lang="en-US" sz="1050" dirty="0">
                <a:solidFill>
                  <a:srgbClr val="5B6B79"/>
                </a:solidFill>
                <a:latin typeface="Calibri" panose="020F0502020204030204" pitchFamily="34" charset="0"/>
                <a:ea typeface="Calibri" panose="020F0502020204030204" pitchFamily="34" charset="-122"/>
                <a:cs typeface="Calibri" panose="020F0502020204030204" pitchFamily="34" charset="-120"/>
              </a:rPr>
              <a:t>Mocking in Embedded C  |  CMock</a:t>
            </a:r>
            <a:endParaRPr lang="en-US" sz="1050" dirty="0"/>
          </a:p>
        </p:txBody>
      </p:sp>
      <p:sp>
        <p:nvSpPr>
          <p:cNvPr id="23" name="Text 18"/>
          <p:cNvSpPr/>
          <p:nvPr/>
        </p:nvSpPr>
        <p:spPr>
          <a:xfrm>
            <a:off x="11247120" y="6473952"/>
            <a:ext cx="457200" cy="274320"/>
          </a:xfrm>
          <a:prstGeom prst="rect">
            <a:avLst/>
          </a:prstGeom>
          <a:noFill/>
        </p:spPr>
        <p:txBody>
          <a:bodyPr wrap="square" lIns="0" tIns="0" rIns="0" bIns="0" rtlCol="0" anchor="ctr"/>
          <a:lstStyle/>
          <a:p>
            <a:pPr marL="0" indent="0" algn="r">
              <a:buNone/>
            </a:pPr>
            <a:r>
              <a:rPr lang="en-US" sz="1050" dirty="0">
                <a:solidFill>
                  <a:srgbClr val="5B6B79"/>
                </a:solidFill>
                <a:latin typeface="Calibri" panose="020F0502020204030204" pitchFamily="34" charset="0"/>
                <a:ea typeface="Calibri" panose="020F0502020204030204" pitchFamily="34" charset="-122"/>
                <a:cs typeface="Calibri" panose="020F0502020204030204"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500" b="1" kern="0" spc="200" dirty="0">
                <a:solidFill>
                  <a:srgbClr val="1C7293"/>
                </a:solidFill>
                <a:latin typeface="Calibri" panose="020F0502020204030204" pitchFamily="34" charset="0"/>
                <a:ea typeface="Calibri" panose="020F0502020204030204" pitchFamily="34" charset="-122"/>
                <a:cs typeface="Calibri" panose="020F0502020204030204" pitchFamily="34" charset="-120"/>
              </a:rPr>
              <a:t>WORKED EXAMPLE</a:t>
            </a:r>
            <a:endParaRPr lang="en-US" sz="1500" dirty="0"/>
          </a:p>
        </p:txBody>
      </p:sp>
      <p:sp>
        <p:nvSpPr>
          <p:cNvPr id="3" name="Text 1"/>
          <p:cNvSpPr/>
          <p:nvPr/>
        </p:nvSpPr>
        <p:spPr>
          <a:xfrm>
            <a:off x="548640" y="658368"/>
            <a:ext cx="10789920" cy="685800"/>
          </a:xfrm>
          <a:prstGeom prst="rect">
            <a:avLst/>
          </a:prstGeom>
          <a:noFill/>
        </p:spPr>
        <p:txBody>
          <a:bodyPr wrap="square" lIns="0" tIns="0" rIns="0" bIns="0" rtlCol="0" anchor="ctr"/>
          <a:lstStyle/>
          <a:p>
            <a:pPr marL="0" indent="0">
              <a:buNone/>
            </a:pPr>
            <a:r>
              <a:rPr lang="en-US" sz="3400" b="1" dirty="0">
                <a:solidFill>
                  <a:srgbClr val="1E2530"/>
                </a:solidFill>
                <a:latin typeface="Cambria" panose="02040503050406030204" pitchFamily="34" charset="0"/>
                <a:ea typeface="Cambria" panose="02040503050406030204" pitchFamily="34" charset="-122"/>
                <a:cs typeface="Cambria" panose="02040503050406030204" pitchFamily="34" charset="-120"/>
              </a:rPr>
              <a:t>Setting Up: What if We Don't Mock?</a:t>
            </a:r>
            <a:endParaRPr lang="en-US" sz="3400" dirty="0"/>
          </a:p>
        </p:txBody>
      </p:sp>
      <p:sp>
        <p:nvSpPr>
          <p:cNvPr id="4" name="Text 2"/>
          <p:cNvSpPr/>
          <p:nvPr/>
        </p:nvSpPr>
        <p:spPr>
          <a:xfrm>
            <a:off x="548640" y="1463040"/>
            <a:ext cx="6400800" cy="822960"/>
          </a:xfrm>
          <a:prstGeom prst="rect">
            <a:avLst/>
          </a:prstGeom>
          <a:noFill/>
        </p:spPr>
        <p:txBody>
          <a:bodyPr wrap="square" lIns="0" tIns="0" rIns="0" bIns="0" rtlCol="0" anchor="ctr"/>
          <a:lstStyle/>
          <a:p>
            <a:pPr marL="0" indent="0">
              <a:lnSpc>
                <a:spcPct val="115000"/>
              </a:lnSpc>
              <a:buNone/>
            </a:pPr>
            <a:r>
              <a:rPr lang="en-US" sz="1600" dirty="0">
                <a:solidFill>
                  <a:srgbClr val="5B6B79"/>
                </a:solidFill>
                <a:latin typeface="Calibri" panose="020F0502020204030204" pitchFamily="34" charset="0"/>
                <a:ea typeface="Calibri" panose="020F0502020204030204" pitchFamily="34" charset="-122"/>
                <a:cs typeface="Calibri" panose="020F0502020204030204" pitchFamily="34" charset="-120"/>
              </a:rPr>
              <a:t>Scenario: bit_manipulation.c now calls adc_read() from a new adc module, and prints whether temperature is High or Low.</a:t>
            </a:r>
            <a:endParaRPr lang="en-US" sz="1600" dirty="0"/>
          </a:p>
        </p:txBody>
      </p:sp>
      <p:sp>
        <p:nvSpPr>
          <p:cNvPr id="5" name="Text 3"/>
          <p:cNvSpPr/>
          <p:nvPr/>
        </p:nvSpPr>
        <p:spPr>
          <a:xfrm>
            <a:off x="548640" y="2331720"/>
            <a:ext cx="6035040" cy="2011680"/>
          </a:xfrm>
          <a:prstGeom prst="rect">
            <a:avLst/>
          </a:prstGeom>
          <a:noFill/>
        </p:spPr>
        <p:txBody>
          <a:bodyPr wrap="square" lIns="0" tIns="0" rIns="0" bIns="0" rtlCol="0" anchor="ctr"/>
          <a:lstStyle/>
          <a:p>
            <a:pPr marL="177800" indent="-177800">
              <a:lnSpc>
                <a:spcPct val="115000"/>
              </a:lnSpc>
              <a:spcAft>
                <a:spcPts val="1000"/>
              </a:spcAft>
              <a:buSzPct val="100000"/>
              <a:buChar char="•"/>
            </a:pPr>
            <a:r>
              <a:rPr lang="en-US" sz="1550" dirty="0">
                <a:solidFill>
                  <a:srgbClr val="1E2530"/>
                </a:solidFill>
                <a:latin typeface="Calibri" panose="020F0502020204030204" pitchFamily="34" charset="0"/>
                <a:ea typeface="Calibri" panose="020F0502020204030204" pitchFamily="34" charset="-122"/>
                <a:cs typeface="Calibri" panose="020F0502020204030204" pitchFamily="34" charset="-120"/>
              </a:rPr>
              <a:t>New source files adc.c / adc.h hold the adc_read() function</a:t>
            </a:r>
            <a:endParaRPr lang="en-US" sz="1550" dirty="0"/>
          </a:p>
          <a:p>
            <a:pPr marL="177800" indent="-177800">
              <a:lnSpc>
                <a:spcPct val="115000"/>
              </a:lnSpc>
              <a:spcAft>
                <a:spcPts val="1000"/>
              </a:spcAft>
              <a:buSzPct val="100000"/>
              <a:buChar char="•"/>
            </a:pPr>
            <a:r>
              <a:rPr lang="en-US" sz="1550" dirty="0">
                <a:solidFill>
                  <a:srgbClr val="1E2530"/>
                </a:solidFill>
                <a:latin typeface="Calibri" panose="020F0502020204030204" pitchFamily="34" charset="0"/>
                <a:ea typeface="Calibri" panose="020F0502020204030204" pitchFamily="34" charset="-122"/>
                <a:cs typeface="Calibri" panose="020F0502020204030204" pitchFamily="34" charset="-120"/>
              </a:rPr>
              <a:t>do_bit_man() now prints “Temperature is High/Low”</a:t>
            </a:r>
            <a:endParaRPr lang="en-US" sz="1550" dirty="0"/>
          </a:p>
          <a:p>
            <a:pPr marL="177800" indent="-177800">
              <a:lnSpc>
                <a:spcPct val="115000"/>
              </a:lnSpc>
              <a:spcAft>
                <a:spcPts val="1000"/>
              </a:spcAft>
              <a:buSzPct val="100000"/>
              <a:buChar char="•"/>
            </a:pPr>
            <a:r>
              <a:rPr lang="en-US" sz="1550" dirty="0">
                <a:solidFill>
                  <a:srgbClr val="1E2530"/>
                </a:solidFill>
                <a:latin typeface="Calibri" panose="020F0502020204030204" pitchFamily="34" charset="0"/>
                <a:ea typeface="Calibri" panose="020F0502020204030204" pitchFamily="34" charset="-122"/>
                <a:cs typeface="Calibri" panose="020F0502020204030204" pitchFamily="34" charset="-120"/>
              </a:rPr>
              <a:t>test_bit_manipulation.c is untouched — just adds #include "adc.h"</a:t>
            </a:r>
            <a:endParaRPr lang="en-US" sz="1550" dirty="0"/>
          </a:p>
        </p:txBody>
      </p:sp>
      <p:sp>
        <p:nvSpPr>
          <p:cNvPr id="6" name="Shape 4"/>
          <p:cNvSpPr/>
          <p:nvPr/>
        </p:nvSpPr>
        <p:spPr>
          <a:xfrm>
            <a:off x="548640" y="4480560"/>
            <a:ext cx="6035040" cy="1417320"/>
          </a:xfrm>
          <a:prstGeom prst="roundRect">
            <a:avLst>
              <a:gd name="adj" fmla="val 5161"/>
            </a:avLst>
          </a:prstGeom>
          <a:solidFill>
            <a:srgbClr val="21295C"/>
          </a:solidFill>
        </p:spPr>
      </p:sp>
      <p:pic>
        <p:nvPicPr>
          <p:cNvPr id="7" name="Image 0" descr="preencoded.png"/>
          <p:cNvPicPr>
            <a:picLocks noChangeAspect="1"/>
          </p:cNvPicPr>
          <p:nvPr/>
        </p:nvPicPr>
        <p:blipFill>
          <a:blip r:embed="rId1"/>
          <a:stretch>
            <a:fillRect/>
          </a:stretch>
        </p:blipFill>
        <p:spPr>
          <a:xfrm>
            <a:off x="822960" y="4709160"/>
            <a:ext cx="384048" cy="384048"/>
          </a:xfrm>
          <a:prstGeom prst="rect">
            <a:avLst/>
          </a:prstGeom>
        </p:spPr>
      </p:pic>
      <p:sp>
        <p:nvSpPr>
          <p:cNvPr id="8" name="Text 5"/>
          <p:cNvSpPr/>
          <p:nvPr/>
        </p:nvSpPr>
        <p:spPr>
          <a:xfrm>
            <a:off x="1371600" y="4617720"/>
            <a:ext cx="5029200" cy="1143000"/>
          </a:xfrm>
          <a:prstGeom prst="rect">
            <a:avLst/>
          </a:prstGeom>
          <a:noFill/>
        </p:spPr>
        <p:txBody>
          <a:bodyPr wrap="square" lIns="0" tIns="0" rIns="0" bIns="0" rtlCol="0" anchor="ctr"/>
          <a:lstStyle/>
          <a:p>
            <a:pPr marL="0" indent="0">
              <a:lnSpc>
                <a:spcPct val="115000"/>
              </a:lnSpc>
              <a:buNone/>
            </a:pPr>
            <a:r>
              <a:rPr lang="en-US" sz="1450" dirty="0">
                <a:solidFill>
                  <a:srgbClr val="E8EEF7"/>
                </a:solidFill>
                <a:latin typeface="Calibri" panose="020F0502020204030204" pitchFamily="34" charset="0"/>
                <a:ea typeface="Calibri" panose="020F0502020204030204" pitchFamily="34" charset="-122"/>
                <a:cs typeface="Calibri" panose="020F0502020204030204" pitchFamily="34" charset="-120"/>
              </a:rPr>
              <a:t>Without a mock, the real adc_read() executes during the test — the module under test is no longer isolated.</a:t>
            </a:r>
            <a:endParaRPr lang="en-US" sz="1450" dirty="0"/>
          </a:p>
        </p:txBody>
      </p:sp>
      <p:sp>
        <p:nvSpPr>
          <p:cNvPr id="9" name="Shape 6"/>
          <p:cNvSpPr/>
          <p:nvPr/>
        </p:nvSpPr>
        <p:spPr>
          <a:xfrm>
            <a:off x="6903720" y="1463040"/>
            <a:ext cx="4709160" cy="4434840"/>
          </a:xfrm>
          <a:prstGeom prst="roundRect">
            <a:avLst>
              <a:gd name="adj" fmla="val 1856"/>
            </a:avLst>
          </a:prstGeom>
          <a:solidFill>
            <a:srgbClr val="1B2436"/>
          </a:solidFill>
          <a:effectLst>
            <a:outerShdw blurRad="127000" dist="38100" dir="5400000" algn="bl" rotWithShape="0">
              <a:srgbClr val="000000">
                <a:alpha val="15000"/>
              </a:srgbClr>
            </a:outerShdw>
          </a:effectLst>
        </p:spPr>
      </p:sp>
      <p:sp>
        <p:nvSpPr>
          <p:cNvPr id="10" name="Text 7"/>
          <p:cNvSpPr/>
          <p:nvPr/>
        </p:nvSpPr>
        <p:spPr>
          <a:xfrm>
            <a:off x="7223760" y="1691640"/>
            <a:ext cx="4114800" cy="365760"/>
          </a:xfrm>
          <a:prstGeom prst="rect">
            <a:avLst/>
          </a:prstGeom>
          <a:noFill/>
        </p:spPr>
        <p:txBody>
          <a:bodyPr wrap="square" lIns="0" tIns="0" rIns="0" bIns="0" rtlCol="0" anchor="ctr"/>
          <a:lstStyle/>
          <a:p>
            <a:pPr marL="0" indent="0">
              <a:buNone/>
            </a:pPr>
            <a:r>
              <a:rPr lang="en-US" sz="1600" b="1"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SIMPLE_PROG</a:t>
            </a:r>
            <a:endParaRPr lang="en-US" sz="1600" dirty="0"/>
          </a:p>
        </p:txBody>
      </p:sp>
      <p:sp>
        <p:nvSpPr>
          <p:cNvPr id="11" name="Text 8"/>
          <p:cNvSpPr/>
          <p:nvPr/>
        </p:nvSpPr>
        <p:spPr>
          <a:xfrm>
            <a:off x="7223760" y="2148840"/>
            <a:ext cx="3931920" cy="320040"/>
          </a:xfrm>
          <a:prstGeom prst="rect">
            <a:avLst/>
          </a:prstGeom>
          <a:noFill/>
        </p:spPr>
        <p:txBody>
          <a:bodyPr wrap="square" lIns="0" tIns="0" rIns="0" bIns="0" rtlCol="0" anchor="ctr"/>
          <a:lstStyle/>
          <a:p>
            <a:pPr marL="0" indent="0">
              <a:buNone/>
            </a:pPr>
            <a:r>
              <a:rPr lang="en-US" sz="1450" dirty="0">
                <a:solidFill>
                  <a:srgbClr val="C7D2E0"/>
                </a:solidFill>
                <a:latin typeface="Courier New" panose="02070309020205020404" pitchFamily="34" charset="0"/>
                <a:ea typeface="Courier New" panose="02070309020205020404" pitchFamily="34" charset="-122"/>
                <a:cs typeface="Courier New" panose="02070309020205020404" pitchFamily="34" charset="-120"/>
              </a:rPr>
              <a:t>▸ build</a:t>
            </a:r>
            <a:endParaRPr lang="en-US" sz="1450" dirty="0"/>
          </a:p>
        </p:txBody>
      </p:sp>
      <p:sp>
        <p:nvSpPr>
          <p:cNvPr id="12" name="Text 9"/>
          <p:cNvSpPr/>
          <p:nvPr/>
        </p:nvSpPr>
        <p:spPr>
          <a:xfrm>
            <a:off x="7223760" y="2487168"/>
            <a:ext cx="3931920" cy="320040"/>
          </a:xfrm>
          <a:prstGeom prst="rect">
            <a:avLst/>
          </a:prstGeom>
          <a:noFill/>
        </p:spPr>
        <p:txBody>
          <a:bodyPr wrap="square" lIns="0" tIns="0" rIns="0" bIns="0" rtlCol="0" anchor="ctr"/>
          <a:lstStyle/>
          <a:p>
            <a:pPr marL="0" indent="0">
              <a:buNone/>
            </a:pPr>
            <a:r>
              <a:rPr lang="en-US" sz="1450" dirty="0">
                <a:solidFill>
                  <a:srgbClr val="C7D2E0"/>
                </a:solidFill>
                <a:latin typeface="Courier New" panose="02070309020205020404" pitchFamily="34" charset="0"/>
                <a:ea typeface="Courier New" panose="02070309020205020404" pitchFamily="34" charset="-122"/>
                <a:cs typeface="Courier New" panose="02070309020205020404" pitchFamily="34" charset="-120"/>
              </a:rPr>
              <a:t>▾ src</a:t>
            </a:r>
            <a:endParaRPr lang="en-US" sz="1450" dirty="0"/>
          </a:p>
        </p:txBody>
      </p:sp>
      <p:sp>
        <p:nvSpPr>
          <p:cNvPr id="13" name="Text 10"/>
          <p:cNvSpPr/>
          <p:nvPr/>
        </p:nvSpPr>
        <p:spPr>
          <a:xfrm>
            <a:off x="7516368" y="2825496"/>
            <a:ext cx="3639312" cy="320040"/>
          </a:xfrm>
          <a:prstGeom prst="rect">
            <a:avLst/>
          </a:prstGeom>
          <a:noFill/>
        </p:spPr>
        <p:txBody>
          <a:bodyPr wrap="square" lIns="0" tIns="0" rIns="0" bIns="0" rtlCol="0" anchor="ctr"/>
          <a:lstStyle/>
          <a:p>
            <a:pPr marL="0" indent="0">
              <a:buNone/>
            </a:pPr>
            <a:r>
              <a:rPr lang="en-US" sz="1450" b="1" dirty="0">
                <a:solidFill>
                  <a:srgbClr val="F2A93B"/>
                </a:solidFill>
                <a:latin typeface="Courier New" panose="02070309020205020404" pitchFamily="34" charset="0"/>
                <a:ea typeface="Courier New" panose="02070309020205020404" pitchFamily="34" charset="-122"/>
                <a:cs typeface="Courier New" panose="02070309020205020404" pitchFamily="34" charset="-120"/>
              </a:rPr>
              <a:t>C  adc.c</a:t>
            </a:r>
            <a:endParaRPr lang="en-US" sz="1450" dirty="0"/>
          </a:p>
        </p:txBody>
      </p:sp>
      <p:sp>
        <p:nvSpPr>
          <p:cNvPr id="14" name="Text 11"/>
          <p:cNvSpPr/>
          <p:nvPr/>
        </p:nvSpPr>
        <p:spPr>
          <a:xfrm>
            <a:off x="7516368" y="3163824"/>
            <a:ext cx="3639312" cy="320040"/>
          </a:xfrm>
          <a:prstGeom prst="rect">
            <a:avLst/>
          </a:prstGeom>
          <a:noFill/>
        </p:spPr>
        <p:txBody>
          <a:bodyPr wrap="square" lIns="0" tIns="0" rIns="0" bIns="0" rtlCol="0" anchor="ctr"/>
          <a:lstStyle/>
          <a:p>
            <a:pPr marL="0" indent="0">
              <a:buNone/>
            </a:pPr>
            <a:r>
              <a:rPr lang="en-US" sz="1450" b="1" dirty="0">
                <a:solidFill>
                  <a:srgbClr val="F2A93B"/>
                </a:solidFill>
                <a:latin typeface="Courier New" panose="02070309020205020404" pitchFamily="34" charset="0"/>
                <a:ea typeface="Courier New" panose="02070309020205020404" pitchFamily="34" charset="-122"/>
                <a:cs typeface="Courier New" panose="02070309020205020404" pitchFamily="34" charset="-120"/>
              </a:rPr>
              <a:t>C  adc.h</a:t>
            </a:r>
            <a:endParaRPr lang="en-US" sz="1450" dirty="0"/>
          </a:p>
        </p:txBody>
      </p:sp>
      <p:sp>
        <p:nvSpPr>
          <p:cNvPr id="15" name="Text 12"/>
          <p:cNvSpPr/>
          <p:nvPr/>
        </p:nvSpPr>
        <p:spPr>
          <a:xfrm>
            <a:off x="7516368" y="3502152"/>
            <a:ext cx="3639312" cy="320040"/>
          </a:xfrm>
          <a:prstGeom prst="rect">
            <a:avLst/>
          </a:prstGeom>
          <a:noFill/>
        </p:spPr>
        <p:txBody>
          <a:bodyPr wrap="square" lIns="0" tIns="0" rIns="0" bIns="0" rtlCol="0" anchor="ctr"/>
          <a:lstStyle/>
          <a:p>
            <a:pPr marL="0" indent="0">
              <a:buNone/>
            </a:pPr>
            <a:r>
              <a:rPr lang="en-US" sz="1450" dirty="0">
                <a:solidFill>
                  <a:srgbClr val="C7D2E0"/>
                </a:solidFill>
                <a:latin typeface="Courier New" panose="02070309020205020404" pitchFamily="34" charset="0"/>
                <a:ea typeface="Courier New" panose="02070309020205020404" pitchFamily="34" charset="-122"/>
                <a:cs typeface="Courier New" panose="02070309020205020404" pitchFamily="34" charset="-120"/>
              </a:rPr>
              <a:t>C  bit_manipulation.c</a:t>
            </a:r>
            <a:endParaRPr lang="en-US" sz="1450" dirty="0"/>
          </a:p>
        </p:txBody>
      </p:sp>
      <p:sp>
        <p:nvSpPr>
          <p:cNvPr id="16" name="Text 13"/>
          <p:cNvSpPr/>
          <p:nvPr/>
        </p:nvSpPr>
        <p:spPr>
          <a:xfrm>
            <a:off x="7516368" y="3840480"/>
            <a:ext cx="3639312" cy="320040"/>
          </a:xfrm>
          <a:prstGeom prst="rect">
            <a:avLst/>
          </a:prstGeom>
          <a:noFill/>
        </p:spPr>
        <p:txBody>
          <a:bodyPr wrap="square" lIns="0" tIns="0" rIns="0" bIns="0" rtlCol="0" anchor="ctr"/>
          <a:lstStyle/>
          <a:p>
            <a:pPr marL="0" indent="0">
              <a:buNone/>
            </a:pPr>
            <a:r>
              <a:rPr lang="en-US" sz="1450" dirty="0">
                <a:solidFill>
                  <a:srgbClr val="C7D2E0"/>
                </a:solidFill>
                <a:latin typeface="Courier New" panose="02070309020205020404" pitchFamily="34" charset="0"/>
                <a:ea typeface="Courier New" panose="02070309020205020404" pitchFamily="34" charset="-122"/>
                <a:cs typeface="Courier New" panose="02070309020205020404" pitchFamily="34" charset="-120"/>
              </a:rPr>
              <a:t>C  bit_manipulation.h</a:t>
            </a:r>
            <a:endParaRPr lang="en-US" sz="1450" dirty="0"/>
          </a:p>
        </p:txBody>
      </p:sp>
      <p:sp>
        <p:nvSpPr>
          <p:cNvPr id="17" name="Text 14"/>
          <p:cNvSpPr/>
          <p:nvPr/>
        </p:nvSpPr>
        <p:spPr>
          <a:xfrm>
            <a:off x="7223760" y="4178808"/>
            <a:ext cx="3931920" cy="320040"/>
          </a:xfrm>
          <a:prstGeom prst="rect">
            <a:avLst/>
          </a:prstGeom>
          <a:noFill/>
        </p:spPr>
        <p:txBody>
          <a:bodyPr wrap="square" lIns="0" tIns="0" rIns="0" bIns="0" rtlCol="0" anchor="ctr"/>
          <a:lstStyle/>
          <a:p>
            <a:pPr marL="0" indent="0">
              <a:buNone/>
            </a:pPr>
            <a:r>
              <a:rPr lang="en-US" sz="1450" dirty="0">
                <a:solidFill>
                  <a:srgbClr val="C7D2E0"/>
                </a:solidFill>
                <a:latin typeface="Courier New" panose="02070309020205020404" pitchFamily="34" charset="0"/>
                <a:ea typeface="Courier New" panose="02070309020205020404" pitchFamily="34" charset="-122"/>
                <a:cs typeface="Courier New" panose="02070309020205020404" pitchFamily="34" charset="-120"/>
              </a:rPr>
              <a:t>▾ test</a:t>
            </a:r>
            <a:endParaRPr lang="en-US" sz="1450" dirty="0"/>
          </a:p>
        </p:txBody>
      </p:sp>
      <p:sp>
        <p:nvSpPr>
          <p:cNvPr id="18" name="Text 15"/>
          <p:cNvSpPr/>
          <p:nvPr/>
        </p:nvSpPr>
        <p:spPr>
          <a:xfrm>
            <a:off x="7516368" y="4517136"/>
            <a:ext cx="3639312" cy="320040"/>
          </a:xfrm>
          <a:prstGeom prst="rect">
            <a:avLst/>
          </a:prstGeom>
          <a:noFill/>
        </p:spPr>
        <p:txBody>
          <a:bodyPr wrap="square" lIns="0" tIns="0" rIns="0" bIns="0" rtlCol="0" anchor="ctr"/>
          <a:lstStyle/>
          <a:p>
            <a:pPr marL="0" indent="0">
              <a:buNone/>
            </a:pPr>
            <a:r>
              <a:rPr lang="en-US" sz="1450" dirty="0">
                <a:solidFill>
                  <a:srgbClr val="C7D2E0"/>
                </a:solidFill>
                <a:latin typeface="Courier New" panose="02070309020205020404" pitchFamily="34" charset="0"/>
                <a:ea typeface="Courier New" panose="02070309020205020404" pitchFamily="34" charset="-122"/>
                <a:cs typeface="Courier New" panose="02070309020205020404" pitchFamily="34" charset="-120"/>
              </a:rPr>
              <a:t>▸ support</a:t>
            </a:r>
            <a:endParaRPr lang="en-US" sz="1450" dirty="0"/>
          </a:p>
        </p:txBody>
      </p:sp>
      <p:sp>
        <p:nvSpPr>
          <p:cNvPr id="19" name="Text 16"/>
          <p:cNvSpPr/>
          <p:nvPr/>
        </p:nvSpPr>
        <p:spPr>
          <a:xfrm>
            <a:off x="7516368" y="4855464"/>
            <a:ext cx="3639312" cy="320040"/>
          </a:xfrm>
          <a:prstGeom prst="rect">
            <a:avLst/>
          </a:prstGeom>
          <a:noFill/>
        </p:spPr>
        <p:txBody>
          <a:bodyPr wrap="square" lIns="0" tIns="0" rIns="0" bIns="0" rtlCol="0" anchor="ctr"/>
          <a:lstStyle/>
          <a:p>
            <a:pPr marL="0" indent="0">
              <a:buNone/>
            </a:pPr>
            <a:r>
              <a:rPr lang="en-US" sz="1450" dirty="0">
                <a:solidFill>
                  <a:srgbClr val="C7D2E0"/>
                </a:solidFill>
                <a:latin typeface="Courier New" panose="02070309020205020404" pitchFamily="34" charset="0"/>
                <a:ea typeface="Courier New" panose="02070309020205020404" pitchFamily="34" charset="-122"/>
                <a:cs typeface="Courier New" panose="02070309020205020404" pitchFamily="34" charset="-120"/>
              </a:rPr>
              <a:t>C  test_bit_manipulation.c</a:t>
            </a:r>
            <a:endParaRPr lang="en-US" sz="1450" dirty="0"/>
          </a:p>
        </p:txBody>
      </p:sp>
      <p:sp>
        <p:nvSpPr>
          <p:cNvPr id="20" name="Text 17"/>
          <p:cNvSpPr/>
          <p:nvPr/>
        </p:nvSpPr>
        <p:spPr>
          <a:xfrm>
            <a:off x="7223760" y="5193792"/>
            <a:ext cx="3931920" cy="320040"/>
          </a:xfrm>
          <a:prstGeom prst="rect">
            <a:avLst/>
          </a:prstGeom>
          <a:noFill/>
        </p:spPr>
        <p:txBody>
          <a:bodyPr wrap="square" lIns="0" tIns="0" rIns="0" bIns="0" rtlCol="0" anchor="ctr"/>
          <a:lstStyle/>
          <a:p>
            <a:pPr marL="0" indent="0">
              <a:buNone/>
            </a:pPr>
            <a:r>
              <a:rPr lang="en-US" sz="1450" dirty="0">
                <a:solidFill>
                  <a:srgbClr val="C7D2E0"/>
                </a:solidFill>
                <a:latin typeface="Courier New" panose="02070309020205020404" pitchFamily="34" charset="0"/>
                <a:ea typeface="Courier New" panose="02070309020205020404" pitchFamily="34" charset="-122"/>
                <a:cs typeface="Courier New" panose="02070309020205020404" pitchFamily="34" charset="-120"/>
              </a:rPr>
              <a:t>!  project.yml</a:t>
            </a:r>
            <a:endParaRPr lang="en-US" sz="1450" dirty="0"/>
          </a:p>
        </p:txBody>
      </p:sp>
      <p:sp>
        <p:nvSpPr>
          <p:cNvPr id="21" name="Text 18"/>
          <p:cNvSpPr/>
          <p:nvPr/>
        </p:nvSpPr>
        <p:spPr>
          <a:xfrm>
            <a:off x="7223760" y="5669280"/>
            <a:ext cx="4114800" cy="365760"/>
          </a:xfrm>
          <a:prstGeom prst="rect">
            <a:avLst/>
          </a:prstGeom>
          <a:noFill/>
        </p:spPr>
        <p:txBody>
          <a:bodyPr wrap="square" lIns="0" tIns="0" rIns="0" bIns="0" rtlCol="0" anchor="ctr"/>
          <a:lstStyle/>
          <a:p>
            <a:pPr marL="0" indent="0">
              <a:buNone/>
            </a:pPr>
            <a:r>
              <a:rPr lang="en-US" sz="1350" i="1" dirty="0">
                <a:solidFill>
                  <a:srgbClr val="F2A93B"/>
                </a:solidFill>
                <a:latin typeface="Calibri" panose="020F0502020204030204" pitchFamily="34" charset="0"/>
                <a:ea typeface="Calibri" panose="020F0502020204030204" pitchFamily="34" charset="-122"/>
                <a:cs typeface="Calibri" panose="020F0502020204030204" pitchFamily="34" charset="-120"/>
              </a:rPr>
              <a:t>adc.c / adc.h → new dependency files</a:t>
            </a:r>
            <a:endParaRPr lang="en-US" sz="1350" dirty="0"/>
          </a:p>
        </p:txBody>
      </p:sp>
      <p:sp>
        <p:nvSpPr>
          <p:cNvPr id="22" name="Text 19"/>
          <p:cNvSpPr/>
          <p:nvPr/>
        </p:nvSpPr>
        <p:spPr>
          <a:xfrm>
            <a:off x="457200" y="6473952"/>
            <a:ext cx="5486400" cy="274320"/>
          </a:xfrm>
          <a:prstGeom prst="rect">
            <a:avLst/>
          </a:prstGeom>
          <a:noFill/>
        </p:spPr>
        <p:txBody>
          <a:bodyPr wrap="square" lIns="0" tIns="0" rIns="0" bIns="0" rtlCol="0" anchor="ctr"/>
          <a:lstStyle/>
          <a:p>
            <a:pPr marL="0" indent="0" algn="l">
              <a:buNone/>
            </a:pPr>
            <a:r>
              <a:rPr lang="en-US" sz="1050" dirty="0">
                <a:solidFill>
                  <a:srgbClr val="5B6B79"/>
                </a:solidFill>
                <a:latin typeface="Calibri" panose="020F0502020204030204" pitchFamily="34" charset="0"/>
                <a:ea typeface="Calibri" panose="020F0502020204030204" pitchFamily="34" charset="-122"/>
                <a:cs typeface="Calibri" panose="020F0502020204030204" pitchFamily="34" charset="-120"/>
              </a:rPr>
              <a:t>Mocking in Embedded C  |  CMock</a:t>
            </a:r>
            <a:endParaRPr lang="en-US" sz="1050" dirty="0"/>
          </a:p>
        </p:txBody>
      </p:sp>
      <p:sp>
        <p:nvSpPr>
          <p:cNvPr id="23" name="Text 20"/>
          <p:cNvSpPr/>
          <p:nvPr/>
        </p:nvSpPr>
        <p:spPr>
          <a:xfrm>
            <a:off x="11247120" y="6473952"/>
            <a:ext cx="457200" cy="274320"/>
          </a:xfrm>
          <a:prstGeom prst="rect">
            <a:avLst/>
          </a:prstGeom>
          <a:noFill/>
        </p:spPr>
        <p:txBody>
          <a:bodyPr wrap="square" lIns="0" tIns="0" rIns="0" bIns="0" rtlCol="0" anchor="ctr"/>
          <a:lstStyle/>
          <a:p>
            <a:pPr marL="0" indent="0" algn="r">
              <a:buNone/>
            </a:pPr>
            <a:r>
              <a:rPr lang="en-US" sz="1050" dirty="0">
                <a:solidFill>
                  <a:srgbClr val="5B6B79"/>
                </a:solidFill>
                <a:latin typeface="Calibri" panose="020F0502020204030204" pitchFamily="34" charset="0"/>
                <a:ea typeface="Calibri" panose="020F0502020204030204" pitchFamily="34" charset="-122"/>
                <a:cs typeface="Calibri" panose="020F0502020204030204"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20700" y="662940"/>
            <a:ext cx="11237595" cy="5351145"/>
          </a:xfrm>
          <a:prstGeom prst="rect">
            <a:avLst/>
          </a:prstGeom>
          <a:noFill/>
        </p:spPr>
        <p:txBody>
          <a:bodyPr wrap="square" rtlCol="0">
            <a:noAutofit/>
          </a:bodyPr>
          <a:p>
            <a:r>
              <a:rPr lang="en-US" altLang="en-US">
                <a:latin typeface="Times New Roman" panose="02020603050405020304" charset="0"/>
                <a:cs typeface="Times New Roman" panose="02020603050405020304" charset="0"/>
              </a:rPr>
              <a:t>Code:</a:t>
            </a:r>
            <a:endParaRPr lang="en-US" altLang="en-US">
              <a:latin typeface="Times New Roman" panose="02020603050405020304" charset="0"/>
              <a:cs typeface="Times New Roman" panose="02020603050405020304" charset="0"/>
            </a:endParaRPr>
          </a:p>
          <a:p>
            <a:br>
              <a:rPr lang="en-US" altLang="en-US">
                <a:latin typeface="Times New Roman" panose="02020603050405020304" charset="0"/>
                <a:cs typeface="Times New Roman" panose="02020603050405020304" charset="0"/>
              </a:rPr>
            </a:br>
            <a:r>
              <a:rPr lang="en-US" altLang="en-US">
                <a:latin typeface="Times New Roman" panose="02020603050405020304" charset="0"/>
                <a:cs typeface="Times New Roman" panose="02020603050405020304" charset="0"/>
              </a:rPr>
              <a:t>adc.h</a:t>
            </a:r>
            <a:br>
              <a:rPr lang="en-US" altLang="en-US">
                <a:latin typeface="Times New Roman" panose="02020603050405020304" charset="0"/>
                <a:cs typeface="Times New Roman" panose="02020603050405020304" charset="0"/>
              </a:rPr>
            </a:br>
            <a:br>
              <a:rPr lang="en-US" altLang="en-US">
                <a:latin typeface="Times New Roman" panose="02020603050405020304" charset="0"/>
                <a:cs typeface="Times New Roman" panose="02020603050405020304" charset="0"/>
              </a:rPr>
            </a:br>
            <a:r>
              <a:rPr lang="en-US" altLang="en-US">
                <a:latin typeface="Times New Roman" panose="02020603050405020304" charset="0"/>
                <a:cs typeface="Times New Roman" panose="02020603050405020304" charset="0"/>
              </a:rPr>
              <a:t>/* This source is just for understanding purpose.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There is no logic here. We are not going to use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this code. This will be used for understand the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Unit test.</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#ifndef ADC_H</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#define ADC_H</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Read ADC value */</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int adc_read( void );</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#endif // ADC_H</a:t>
            </a:r>
            <a:br>
              <a:rPr lang="en-US" altLang="en-US">
                <a:latin typeface="Times New Roman" panose="02020603050405020304" charset="0"/>
                <a:cs typeface="Times New Roman" panose="02020603050405020304" charset="0"/>
              </a:rPr>
            </a:b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52780" y="495935"/>
            <a:ext cx="11028045" cy="6176645"/>
          </a:xfrm>
          <a:prstGeom prst="rect">
            <a:avLst/>
          </a:prstGeom>
          <a:noFill/>
        </p:spPr>
        <p:txBody>
          <a:bodyPr wrap="square" rtlCol="0">
            <a:noAutofit/>
          </a:bodyPr>
          <a:p>
            <a:r>
              <a:rPr lang="en-US" altLang="en-US">
                <a:latin typeface="Times New Roman" panose="02020603050405020304" charset="0"/>
                <a:cs typeface="Times New Roman" panose="02020603050405020304" charset="0"/>
              </a:rPr>
              <a:t>adc.c</a:t>
            </a:r>
            <a:br>
              <a:rPr lang="en-US" altLang="en-US">
                <a:latin typeface="Times New Roman" panose="02020603050405020304" charset="0"/>
                <a:cs typeface="Times New Roman" panose="02020603050405020304" charset="0"/>
              </a:rPr>
            </a:br>
            <a:br>
              <a:rPr lang="en-US" altLang="en-US">
                <a:latin typeface="Times New Roman" panose="02020603050405020304" charset="0"/>
                <a:cs typeface="Times New Roman" panose="02020603050405020304" charset="0"/>
              </a:rPr>
            </a:br>
            <a:r>
              <a:rPr lang="en-US" altLang="en-US">
                <a:latin typeface="Times New Roman" panose="02020603050405020304" charset="0"/>
                <a:cs typeface="Times New Roman" panose="02020603050405020304" charset="0"/>
              </a:rPr>
              <a:t>/* This source is just for understanding purpose.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There is no logic here. We are not going to use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this code outside. This will be used for understand the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Unit test mock.</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#include "adc.h"</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//We will assume that, ADC value will be updated in this value.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volatile int adc_value = 0;</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int adc_read( void )</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 We will assume that some other function outside is updating this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 adc_value variable. This variable will have updated adc's value.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 So, Simply return that variable for explain mock test.</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return adc_value;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10590" y="222885"/>
            <a:ext cx="11218545" cy="18216245"/>
          </a:xfrm>
          <a:prstGeom prst="rect">
            <a:avLst/>
          </a:prstGeom>
        </p:spPr>
        <p:txBody>
          <a:bodyPr>
            <a:noAutofit/>
          </a:bodyPr>
          <a:p>
            <a:pPr marL="0" indent="0">
              <a:spcBef>
                <a:spcPct val="0"/>
              </a:spcBef>
              <a:spcAft>
                <a:spcPts val="1000"/>
              </a:spcAft>
            </a:pPr>
            <a:r>
              <a:rPr lang="en-US" altLang="zh-CN" sz="1600" b="1" i="0">
                <a:solidFill>
                  <a:srgbClr val="FF0000"/>
                </a:solidFill>
                <a:latin typeface="Arial" panose="020B0604020202020204"/>
                <a:ea typeface="Arial" panose="020B0604020202020204"/>
              </a:rPr>
              <a:t>bit_manipulation.c</a:t>
            </a:r>
            <a:br>
              <a:rPr lang="en-US" altLang="zh-CN" sz="1600" b="1" i="0">
                <a:solidFill>
                  <a:schemeClr val="tx1"/>
                </a:solidFill>
                <a:latin typeface="Arial" panose="020B0604020202020204"/>
                <a:ea typeface="Arial" panose="020B0604020202020204"/>
              </a:rPr>
            </a:br>
            <a:r>
              <a:rPr lang="en-US" altLang="en-US" sz="1600" b="1" i="0">
                <a:solidFill>
                  <a:schemeClr val="tx1"/>
                </a:solidFill>
                <a:latin typeface="Arial" panose="020B0604020202020204"/>
                <a:ea typeface="Arial" panose="020B0604020202020204"/>
              </a:rPr>
              <a:t>#include "bit_manipulation.h"</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i="0">
                <a:solidFill>
                  <a:schemeClr val="tx1"/>
                </a:solidFill>
                <a:latin typeface="Arial" panose="020B0604020202020204"/>
                <a:ea typeface="Arial" panose="020B0604020202020204"/>
              </a:rPr>
              <a:t>#include "adc.h"</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i="0">
                <a:solidFill>
                  <a:schemeClr val="tx1"/>
                </a:solidFill>
                <a:latin typeface="Arial" panose="020B0604020202020204"/>
                <a:ea typeface="Arial" panose="020B0604020202020204"/>
              </a:rPr>
              <a:t>uint8_t Jill = 0x00;</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i="0">
                <a:solidFill>
                  <a:schemeClr val="tx1"/>
                </a:solidFill>
                <a:latin typeface="Arial" panose="020B0604020202020204"/>
                <a:ea typeface="Arial" panose="020B0604020202020204"/>
              </a:rPr>
              <a:t>uint8_t Jung = 0xFF;</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i="0">
                <a:solidFill>
                  <a:schemeClr val="tx1"/>
                </a:solidFill>
                <a:latin typeface="Arial" panose="020B0604020202020204"/>
                <a:ea typeface="Arial" panose="020B0604020202020204"/>
              </a:rPr>
              <a:t>uint8_t Jukk = 0x00;</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i="0">
                <a:solidFill>
                  <a:schemeClr val="tx1"/>
                </a:solidFill>
                <a:latin typeface="Arial" panose="020B0604020202020204"/>
                <a:ea typeface="Arial" panose="020B0604020202020204"/>
              </a:rPr>
              <a:t>int8_t do_bit_man(int8_t position</a:t>
            </a:r>
            <a:r>
              <a:rPr lang="en-IN" altLang="en-US" sz="1600" b="1" i="0">
                <a:solidFill>
                  <a:schemeClr val="tx1"/>
                </a:solidFill>
                <a:latin typeface="Arial" panose="020B0604020202020204"/>
                <a:ea typeface="Arial" panose="020B0604020202020204"/>
              </a:rPr>
              <a:t> </a:t>
            </a:r>
            <a:r>
              <a:rPr lang="en-US" altLang="en-US" sz="1600" b="1" i="0">
                <a:solidFill>
                  <a:schemeClr val="tx1"/>
                </a:solidFill>
                <a:latin typeface="Arial" panose="020B0604020202020204"/>
                <a:ea typeface="Arial" panose="020B0604020202020204"/>
              </a:rPr>
              <a:t>{   </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i="0">
                <a:solidFill>
                  <a:schemeClr val="tx1"/>
                </a:solidFill>
                <a:latin typeface="Arial" panose="020B0604020202020204"/>
                <a:ea typeface="Arial" panose="020B0604020202020204"/>
              </a:rPr>
              <a:t>    if( ( position &lt; 0 ) || ( position &gt; 7 ) ) </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i="0">
                <a:solidFill>
                  <a:schemeClr val="tx1"/>
                </a:solidFill>
                <a:latin typeface="Arial" panose="020B0604020202020204"/>
                <a:ea typeface="Arial" panose="020B0604020202020204"/>
              </a:rPr>
              <a:t>    {  //positon should be 0 to 7. Because we are going to modify 8 bit value.</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i="0">
                <a:solidFill>
                  <a:schemeClr val="tx1"/>
                </a:solidFill>
                <a:latin typeface="Arial" panose="020B0604020202020204"/>
                <a:ea typeface="Arial" panose="020B0604020202020204"/>
              </a:rPr>
              <a:t>        return -1</a:t>
            </a:r>
            <a:r>
              <a:rPr lang="en-IN" altLang="en-US" sz="1600" b="1" i="0">
                <a:solidFill>
                  <a:schemeClr val="tx1"/>
                </a:solidFill>
                <a:latin typeface="Arial" panose="020B0604020202020204"/>
                <a:ea typeface="Arial" panose="020B0604020202020204"/>
              </a:rPr>
              <a:t>; </a:t>
            </a:r>
            <a:r>
              <a:rPr lang="en-US" altLang="en-US" sz="1600" b="1" i="0">
                <a:solidFill>
                  <a:schemeClr val="tx1"/>
                </a:solidFill>
                <a:latin typeface="Arial" panose="020B0604020202020204"/>
                <a:ea typeface="Arial" panose="020B0604020202020204"/>
              </a:rPr>
              <a:t> }   </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i="0">
                <a:solidFill>
                  <a:schemeClr val="tx1"/>
                </a:solidFill>
                <a:latin typeface="Arial" panose="020B0604020202020204"/>
                <a:ea typeface="Arial" panose="020B0604020202020204"/>
              </a:rPr>
              <a:t>    //set particular bit</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i="0">
                <a:solidFill>
                  <a:schemeClr val="tx1"/>
                </a:solidFill>
                <a:latin typeface="Arial" panose="020B0604020202020204"/>
                <a:ea typeface="Arial" panose="020B0604020202020204"/>
              </a:rPr>
              <a:t>    Jill |= ( 1 &lt;&lt; position );</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i="0">
                <a:solidFill>
                  <a:schemeClr val="tx1"/>
                </a:solidFill>
                <a:latin typeface="Arial" panose="020B0604020202020204"/>
                <a:ea typeface="Arial" panose="020B0604020202020204"/>
              </a:rPr>
              <a:t>    //clear particular bit</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i="0">
                <a:solidFill>
                  <a:schemeClr val="tx1"/>
                </a:solidFill>
                <a:latin typeface="Arial" panose="020B0604020202020204"/>
                <a:ea typeface="Arial" panose="020B0604020202020204"/>
              </a:rPr>
              <a:t>    Jung &amp;= ~( 1 &lt;&lt; position );</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i="0">
                <a:solidFill>
                  <a:schemeClr val="tx1"/>
                </a:solidFill>
                <a:latin typeface="Arial" panose="020B0604020202020204"/>
                <a:ea typeface="Arial" panose="020B0604020202020204"/>
              </a:rPr>
              <a:t>    //toggle particular bit</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i="0">
                <a:solidFill>
                  <a:schemeClr val="tx1"/>
                </a:solidFill>
                <a:latin typeface="Arial" panose="020B0604020202020204"/>
                <a:ea typeface="Arial" panose="020B0604020202020204"/>
              </a:rPr>
              <a:t>    Jukk ^= ( 1 &lt;&lt; position );</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i="0">
                <a:solidFill>
                  <a:schemeClr val="tx1"/>
                </a:solidFill>
                <a:latin typeface="Arial" panose="020B0604020202020204"/>
                <a:ea typeface="Arial" panose="020B0604020202020204"/>
              </a:rPr>
              <a:t>    </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i="0">
                <a:solidFill>
                  <a:schemeClr val="tx1"/>
                </a:solidFill>
                <a:latin typeface="Arial" panose="020B0604020202020204"/>
                <a:ea typeface="Arial" panose="020B0604020202020204"/>
              </a:rPr>
              <a:t>   </a:t>
            </a:r>
            <a:endParaRPr lang="en-US" altLang="en-US" sz="1600" b="1" i="0">
              <a:solidFill>
                <a:srgbClr val="FF0040"/>
              </a:solidFill>
              <a:latin typeface="Arial" panose="020B0604020202020204"/>
              <a:ea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25145" y="299085"/>
            <a:ext cx="10491470" cy="6430645"/>
          </a:xfrm>
          <a:prstGeom prst="rect">
            <a:avLst/>
          </a:prstGeom>
          <a:noFill/>
        </p:spPr>
        <p:txBody>
          <a:bodyPr wrap="square" rtlCol="0" anchor="t">
            <a:noAutofit/>
          </a:bodyPr>
          <a:p>
            <a:pPr marL="0" indent="0">
              <a:spcBef>
                <a:spcPct val="0"/>
              </a:spcBef>
              <a:spcAft>
                <a:spcPts val="1000"/>
              </a:spcAft>
            </a:pPr>
            <a:r>
              <a:rPr lang="en-US" altLang="en-US" sz="1600" b="1">
                <a:latin typeface="Arial" panose="020B0604020202020204"/>
                <a:ea typeface="Arial" panose="020B0604020202020204"/>
                <a:sym typeface="+mn-ea"/>
              </a:rPr>
              <a:t>    //set particular bit</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a:latin typeface="Arial" panose="020B0604020202020204"/>
                <a:ea typeface="Arial" panose="020B0604020202020204"/>
                <a:sym typeface="+mn-ea"/>
              </a:rPr>
              <a:t>    Jill |= ( 1 &lt;&lt; position );</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a:latin typeface="Arial" panose="020B0604020202020204"/>
                <a:ea typeface="Arial" panose="020B0604020202020204"/>
                <a:sym typeface="+mn-ea"/>
              </a:rPr>
              <a:t>    //clear particular bit</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a:latin typeface="Arial" panose="020B0604020202020204"/>
                <a:ea typeface="Arial" panose="020B0604020202020204"/>
                <a:sym typeface="+mn-ea"/>
              </a:rPr>
              <a:t>    Jung &amp;= ~( 1 &lt;&lt; position );</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a:latin typeface="Arial" panose="020B0604020202020204"/>
                <a:ea typeface="Arial" panose="020B0604020202020204"/>
                <a:sym typeface="+mn-ea"/>
              </a:rPr>
              <a:t>    //toggle particular bit</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a:latin typeface="Arial" panose="020B0604020202020204"/>
                <a:ea typeface="Arial" panose="020B0604020202020204"/>
                <a:sym typeface="+mn-ea"/>
              </a:rPr>
              <a:t>    Jukk ^= ( 1 &lt;&lt; position );</a:t>
            </a:r>
            <a:br>
              <a:rPr lang="en-US" altLang="en-US" sz="1600" b="1">
                <a:latin typeface="Arial" panose="020B0604020202020204"/>
                <a:ea typeface="Arial" panose="020B0604020202020204"/>
                <a:sym typeface="+mn-ea"/>
              </a:rPr>
            </a:br>
            <a:br>
              <a:rPr lang="en-US" altLang="en-US" sz="1600" b="1">
                <a:latin typeface="Arial" panose="020B0604020202020204"/>
                <a:ea typeface="Arial" panose="020B0604020202020204"/>
                <a:sym typeface="+mn-ea"/>
              </a:rPr>
            </a:br>
            <a:r>
              <a:rPr lang="en-US" altLang="en-US" sz="1600" b="1">
                <a:latin typeface="Arial" panose="020B0604020202020204"/>
                <a:ea typeface="Arial" panose="020B0604020202020204"/>
                <a:sym typeface="+mn-ea"/>
              </a:rPr>
              <a:t>int result = adc_read();</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a:latin typeface="Arial" panose="020B0604020202020204"/>
                <a:ea typeface="Arial" panose="020B0604020202020204"/>
                <a:sym typeface="+mn-ea"/>
              </a:rPr>
              <a:t>    if( result &gt;= 30 )</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a:latin typeface="Arial" panose="020B0604020202020204"/>
                <a:ea typeface="Arial" panose="020B0604020202020204"/>
                <a:sym typeface="+mn-ea"/>
              </a:rPr>
              <a:t>    {</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a:latin typeface="Arial" panose="020B0604020202020204"/>
                <a:ea typeface="Arial" panose="020B0604020202020204"/>
                <a:sym typeface="+mn-ea"/>
              </a:rPr>
              <a:t>        printf("Temperature is High\n");</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a:latin typeface="Arial" panose="020B0604020202020204"/>
                <a:ea typeface="Arial" panose="020B0604020202020204"/>
                <a:sym typeface="+mn-ea"/>
              </a:rPr>
              <a:t>    }</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a:latin typeface="Arial" panose="020B0604020202020204"/>
                <a:ea typeface="Arial" panose="020B0604020202020204"/>
                <a:sym typeface="+mn-ea"/>
              </a:rPr>
              <a:t>    else</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a:latin typeface="Arial" panose="020B0604020202020204"/>
                <a:ea typeface="Arial" panose="020B0604020202020204"/>
                <a:sym typeface="+mn-ea"/>
              </a:rPr>
              <a:t>    {</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a:latin typeface="Arial" panose="020B0604020202020204"/>
                <a:ea typeface="Arial" panose="020B0604020202020204"/>
                <a:sym typeface="+mn-ea"/>
              </a:rPr>
              <a:t>        printf("Temperature is Low\n");</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a:latin typeface="Arial" panose="020B0604020202020204"/>
                <a:ea typeface="Arial" panose="020B0604020202020204"/>
                <a:sym typeface="+mn-ea"/>
              </a:rPr>
              <a:t>    }</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a:solidFill>
                  <a:schemeClr val="tx1"/>
                </a:solidFill>
                <a:latin typeface="Arial" panose="020B0604020202020204"/>
                <a:ea typeface="Arial" panose="020B0604020202020204"/>
                <a:sym typeface="+mn-ea"/>
              </a:rPr>
              <a:t>    return 0;</a:t>
            </a:r>
            <a:endParaRPr lang="en-US" altLang="en-US" sz="1600" b="1" i="0">
              <a:solidFill>
                <a:schemeClr val="tx1"/>
              </a:solidFill>
              <a:latin typeface="Arial" panose="020B0604020202020204"/>
              <a:ea typeface="Arial" panose="020B0604020202020204"/>
            </a:endParaRPr>
          </a:p>
          <a:p>
            <a:pPr marL="0" indent="0">
              <a:spcBef>
                <a:spcPct val="0"/>
              </a:spcBef>
              <a:spcAft>
                <a:spcPts val="1000"/>
              </a:spcAft>
            </a:pPr>
            <a:r>
              <a:rPr lang="en-US" altLang="en-US" sz="1600" b="1">
                <a:solidFill>
                  <a:schemeClr val="tx1"/>
                </a:solidFill>
                <a:latin typeface="Arial" panose="020B0604020202020204"/>
                <a:ea typeface="Arial" panose="020B0604020202020204"/>
                <a:sym typeface="+mn-ea"/>
              </a:rPr>
              <a:t>}</a:t>
            </a:r>
            <a:endParaRPr lang="en-US" altLang="en-US" sz="1600" b="1">
              <a:solidFill>
                <a:schemeClr val="tx1"/>
              </a:solidFill>
              <a:latin typeface="Arial" panose="020B0604020202020204"/>
              <a:ea typeface="Arial" panose="020B0604020202020204"/>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06475" y="670560"/>
            <a:ext cx="10364470" cy="5861685"/>
          </a:xfrm>
          <a:prstGeom prst="rect">
            <a:avLst/>
          </a:prstGeom>
          <a:noFill/>
        </p:spPr>
        <p:txBody>
          <a:bodyPr wrap="square" rtlCol="0">
            <a:noAutofit/>
          </a:bodyPr>
          <a:p>
            <a:r>
              <a:rPr lang="en-US" altLang="en-US">
                <a:solidFill>
                  <a:srgbClr val="FF0000"/>
                </a:solidFill>
              </a:rPr>
              <a:t>bit_manipulation.h</a:t>
            </a:r>
            <a:endParaRPr lang="en-US" altLang="en-US">
              <a:solidFill>
                <a:srgbClr val="FF0000"/>
              </a:solidFill>
            </a:endParaRPr>
          </a:p>
          <a:p>
            <a:br>
              <a:rPr lang="en-US" altLang="en-US"/>
            </a:br>
            <a:r>
              <a:rPr lang="en-US" altLang="en-US"/>
              <a:t>#ifndef BIT_MANIPULATION_H</a:t>
            </a:r>
            <a:endParaRPr lang="en-US" altLang="en-US"/>
          </a:p>
          <a:p>
            <a:r>
              <a:rPr lang="en-US" altLang="en-US"/>
              <a:t>#define BIT_MANIPULATION_H</a:t>
            </a:r>
            <a:endParaRPr lang="en-US" altLang="en-US"/>
          </a:p>
          <a:p>
            <a:endParaRPr lang="en-US" altLang="en-US"/>
          </a:p>
          <a:p>
            <a:r>
              <a:rPr lang="en-US" altLang="en-US"/>
              <a:t>#include &lt;stdio.h&gt;</a:t>
            </a:r>
            <a:endParaRPr lang="en-US" altLang="en-US"/>
          </a:p>
          <a:p>
            <a:r>
              <a:rPr lang="en-US" altLang="en-US"/>
              <a:t>#include &lt;stdint.h&gt;</a:t>
            </a:r>
            <a:endParaRPr lang="en-US" altLang="en-US"/>
          </a:p>
          <a:p>
            <a:endParaRPr lang="en-US" altLang="en-US"/>
          </a:p>
          <a:p>
            <a:r>
              <a:rPr lang="en-US" altLang="en-US"/>
              <a:t>int8_t do_bit_man(int8_t position);</a:t>
            </a:r>
            <a:endParaRPr lang="en-US" altLang="en-US"/>
          </a:p>
          <a:p>
            <a:endParaRPr lang="en-US" altLang="en-US"/>
          </a:p>
          <a:p>
            <a:r>
              <a:rPr lang="en-US" altLang="en-US"/>
              <a:t>#endif // BIT_MANIPULATION_H</a:t>
            </a:r>
            <a:br>
              <a:rPr lang="en-US" altLang="en-US"/>
            </a:br>
            <a:br>
              <a:rPr lang="en-US" altLang="en-US"/>
            </a:br>
            <a:r>
              <a:rPr lang="en-US" altLang="en-US">
                <a:solidFill>
                  <a:srgbClr val="FF0000"/>
                </a:solidFill>
              </a:rPr>
              <a:t>test_bit_manipulation.c</a:t>
            </a:r>
            <a:br>
              <a:rPr lang="en-US" altLang="en-US">
                <a:solidFill>
                  <a:srgbClr val="FF0000"/>
                </a:solidFill>
              </a:rPr>
            </a:br>
            <a:br>
              <a:rPr lang="en-US" altLang="en-US">
                <a:solidFill>
                  <a:srgbClr val="FF0000"/>
                </a:solidFill>
              </a:rPr>
            </a:br>
            <a:r>
              <a:rPr lang="en-US" altLang="en-US">
                <a:solidFill>
                  <a:schemeClr val="tx1"/>
                </a:solidFill>
              </a:rPr>
              <a:t>#include "unity.h"</a:t>
            </a:r>
            <a:endParaRPr lang="en-US" altLang="en-US">
              <a:solidFill>
                <a:schemeClr val="tx1"/>
              </a:solidFill>
            </a:endParaRPr>
          </a:p>
          <a:p>
            <a:r>
              <a:rPr lang="en-US" altLang="en-US">
                <a:solidFill>
                  <a:schemeClr val="tx1"/>
                </a:solidFill>
              </a:rPr>
              <a:t>#include "bit_manipulation.h"</a:t>
            </a:r>
            <a:endParaRPr lang="en-US" altLang="en-US">
              <a:solidFill>
                <a:schemeClr val="tx1"/>
              </a:solidFill>
            </a:endParaRPr>
          </a:p>
          <a:p>
            <a:r>
              <a:rPr lang="en-US" altLang="en-US">
                <a:solidFill>
                  <a:schemeClr val="tx1"/>
                </a:solidFill>
              </a:rPr>
              <a:t>#include "adc.h"</a:t>
            </a:r>
            <a:endParaRPr lang="en-US" altLang="en-US">
              <a:solidFill>
                <a:schemeClr val="tx1"/>
              </a:solidFill>
            </a:endParaRPr>
          </a:p>
          <a:p>
            <a:r>
              <a:rPr lang="en-US" altLang="en-US">
                <a:solidFill>
                  <a:schemeClr val="tx1"/>
                </a:solidFill>
              </a:rPr>
              <a:t>extern uint8_t Jill;</a:t>
            </a:r>
            <a:endParaRPr lang="en-US" altLang="en-US">
              <a:solidFill>
                <a:schemeClr val="tx1"/>
              </a:solidFill>
            </a:endParaRPr>
          </a:p>
          <a:p>
            <a:r>
              <a:rPr lang="en-US" altLang="en-US">
                <a:solidFill>
                  <a:schemeClr val="tx1"/>
                </a:solidFill>
              </a:rPr>
              <a:t>extern uint8_t Jung;</a:t>
            </a:r>
            <a:endParaRPr lang="en-US" altLang="en-US">
              <a:solidFill>
                <a:schemeClr val="tx1"/>
              </a:solidFill>
            </a:endParaRPr>
          </a:p>
          <a:p>
            <a:r>
              <a:rPr lang="en-US" altLang="en-US">
                <a:solidFill>
                  <a:schemeClr val="tx1"/>
                </a:solidFill>
              </a:rPr>
              <a:t>extern uint8_t Jukk;</a:t>
            </a:r>
            <a:endParaRPr lang="en-US" altLang="en-US">
              <a:solidFill>
                <a:schemeClr val="tx1"/>
              </a:solidFill>
            </a:endParaRPr>
          </a:p>
          <a:p>
            <a:endParaRPr lang="en-US" altLang="en-US">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39775" y="380365"/>
            <a:ext cx="10626725" cy="6176645"/>
          </a:xfrm>
          <a:prstGeom prst="rect">
            <a:avLst/>
          </a:prstGeom>
          <a:noFill/>
        </p:spPr>
        <p:txBody>
          <a:bodyPr wrap="square" rtlCol="0">
            <a:noAutofit/>
          </a:bodyPr>
          <a:p>
            <a:r>
              <a:rPr lang="en-US" altLang="en-US"/>
              <a:t>void setUp(void)</a:t>
            </a:r>
            <a:endParaRPr lang="en-US" altLang="en-US"/>
          </a:p>
          <a:p>
            <a:r>
              <a:rPr lang="en-US" altLang="en-US"/>
              <a:t>{</a:t>
            </a:r>
            <a:endParaRPr lang="en-US" altLang="en-US"/>
          </a:p>
          <a:p>
            <a:r>
              <a:rPr lang="en-US" altLang="en-US"/>
              <a:t>    Jill = 0x00;</a:t>
            </a:r>
            <a:endParaRPr lang="en-US" altLang="en-US"/>
          </a:p>
          <a:p>
            <a:r>
              <a:rPr lang="en-US" altLang="en-US"/>
              <a:t>    Jung = 0xFF;</a:t>
            </a:r>
            <a:endParaRPr lang="en-US" altLang="en-US"/>
          </a:p>
          <a:p>
            <a:r>
              <a:rPr lang="en-US" altLang="en-US"/>
              <a:t>    Jukk = 0x00;</a:t>
            </a:r>
            <a:endParaRPr lang="en-US" altLang="en-US"/>
          </a:p>
          <a:p>
            <a:r>
              <a:rPr lang="en-US" altLang="en-US"/>
              <a:t>}</a:t>
            </a:r>
            <a:endParaRPr lang="en-US" altLang="en-US"/>
          </a:p>
          <a:p>
            <a:r>
              <a:rPr lang="en-US" altLang="en-US"/>
              <a:t>void tearDown(void)</a:t>
            </a:r>
            <a:endParaRPr lang="en-US" altLang="en-US"/>
          </a:p>
          <a:p>
            <a:r>
              <a:rPr lang="en-US" altLang="en-US"/>
              <a:t>{</a:t>
            </a:r>
            <a:endParaRPr lang="en-US" altLang="en-US"/>
          </a:p>
          <a:p>
            <a:r>
              <a:rPr lang="en-US" altLang="en-US"/>
              <a:t>}</a:t>
            </a:r>
            <a:endParaRPr lang="en-US" altLang="en-US"/>
          </a:p>
          <a:p>
            <a:r>
              <a:rPr lang="en-US" altLang="en-US"/>
              <a:t>//Test Case 0</a:t>
            </a:r>
            <a:endParaRPr lang="en-US" altLang="en-US"/>
          </a:p>
          <a:p>
            <a:r>
              <a:rPr lang="en-US" altLang="en-US"/>
              <a:t>void test_do_bit_man_0(void)</a:t>
            </a:r>
            <a:endParaRPr lang="en-US" altLang="en-US"/>
          </a:p>
          <a:p>
            <a:r>
              <a:rPr lang="en-US" altLang="en-US"/>
              <a:t>{</a:t>
            </a:r>
            <a:endParaRPr lang="en-US" altLang="en-US"/>
          </a:p>
          <a:p>
            <a:r>
              <a:rPr lang="en-US" altLang="en-US"/>
              <a:t>    int8_t result;</a:t>
            </a:r>
            <a:endParaRPr lang="en-US" altLang="en-US"/>
          </a:p>
          <a:p>
            <a:r>
              <a:rPr lang="en-US" altLang="en-US"/>
              <a:t>    </a:t>
            </a:r>
            <a:endParaRPr lang="en-US" altLang="en-US"/>
          </a:p>
          <a:p>
            <a:r>
              <a:rPr lang="en-US" altLang="en-US"/>
              <a:t>    result = do_bit_man( 15 );</a:t>
            </a:r>
            <a:endParaRPr lang="en-US" altLang="en-US"/>
          </a:p>
          <a:p>
            <a:r>
              <a:rPr lang="en-US" altLang="en-US"/>
              <a:t>    </a:t>
            </a:r>
            <a:endParaRPr lang="en-US" altLang="en-US"/>
          </a:p>
          <a:p>
            <a:r>
              <a:rPr lang="en-US" altLang="en-US"/>
              <a:t>    TEST_ASSERT_EQUAL_INT8( -1, result );</a:t>
            </a:r>
            <a:endParaRPr lang="en-US" altLang="en-US"/>
          </a:p>
          <a:p>
            <a:r>
              <a:rPr lang="en-US" altLang="en-US"/>
              <a:t>    </a:t>
            </a:r>
            <a:endParaRPr lang="en-US" altLang="en-US"/>
          </a:p>
          <a:p>
            <a:r>
              <a:rPr lang="en-US" altLang="en-US"/>
              <a:t>    TEST_ASSERT_EQUAL_INT8( 0x00, Jill );</a:t>
            </a:r>
            <a:endParaRPr lang="en-US" altLang="en-US"/>
          </a:p>
          <a:p>
            <a:r>
              <a:rPr lang="en-US" altLang="en-US"/>
              <a:t>    TEST_ASSERT_EQUAL_INT8( 0xFF, Jung );</a:t>
            </a:r>
            <a:endParaRPr lang="en-US" altLang="en-US"/>
          </a:p>
          <a:p>
            <a:r>
              <a:rPr lang="en-US" altLang="en-US"/>
              <a:t>    TEST_ASSERT_EQUAL_INT8( 0x00, Jukk );</a:t>
            </a:r>
            <a:endParaRPr lang="en-US" altLang="en-US"/>
          </a:p>
          <a:p>
            <a:r>
              <a:rPr lang="en-US" altLang="en-US"/>
              <a:t>}</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44830" y="335280"/>
            <a:ext cx="11205845" cy="5653405"/>
          </a:xfrm>
          <a:prstGeom prst="rect">
            <a:avLst/>
          </a:prstGeom>
          <a:noFill/>
        </p:spPr>
        <p:txBody>
          <a:bodyPr wrap="square" rtlCol="0">
            <a:noAutofit/>
          </a:bodyPr>
          <a:p>
            <a:r>
              <a:rPr lang="en-US" altLang="en-US"/>
              <a:t>//Test Case 1</a:t>
            </a:r>
            <a:endParaRPr lang="en-US" altLang="en-US"/>
          </a:p>
          <a:p>
            <a:r>
              <a:rPr lang="en-US" altLang="en-US"/>
              <a:t>void test_do_bit_man_1(void)</a:t>
            </a:r>
            <a:endParaRPr lang="en-US" altLang="en-US"/>
          </a:p>
          <a:p>
            <a:r>
              <a:rPr lang="en-US" altLang="en-US"/>
              <a:t>{</a:t>
            </a:r>
            <a:endParaRPr lang="en-US" altLang="en-US"/>
          </a:p>
          <a:p>
            <a:r>
              <a:rPr lang="en-US" altLang="en-US"/>
              <a:t>    int8_t result;</a:t>
            </a:r>
            <a:endParaRPr lang="en-US" altLang="en-US"/>
          </a:p>
          <a:p>
            <a:r>
              <a:rPr lang="en-US" altLang="en-US"/>
              <a:t>    </a:t>
            </a:r>
            <a:endParaRPr lang="en-US" altLang="en-US"/>
          </a:p>
          <a:p>
            <a:r>
              <a:rPr lang="en-US" altLang="en-US"/>
              <a:t>    result = do_bit_man( -1 );</a:t>
            </a:r>
            <a:endParaRPr lang="en-US" altLang="en-US"/>
          </a:p>
          <a:p>
            <a:r>
              <a:rPr lang="en-US" altLang="en-US"/>
              <a:t>    </a:t>
            </a:r>
            <a:endParaRPr lang="en-US" altLang="en-US"/>
          </a:p>
          <a:p>
            <a:r>
              <a:rPr lang="en-US" altLang="en-US"/>
              <a:t>    TEST_ASSERT_EQUAL_INT8( -1, result );</a:t>
            </a:r>
            <a:endParaRPr lang="en-US" altLang="en-US"/>
          </a:p>
          <a:p>
            <a:r>
              <a:rPr lang="en-US" altLang="en-US"/>
              <a:t>    </a:t>
            </a:r>
            <a:endParaRPr lang="en-US" altLang="en-US"/>
          </a:p>
          <a:p>
            <a:r>
              <a:rPr lang="en-US" altLang="en-US"/>
              <a:t>    TEST_ASSERT_EQUAL_INT8( 0x00, Jill );</a:t>
            </a:r>
            <a:endParaRPr lang="en-US" altLang="en-US"/>
          </a:p>
          <a:p>
            <a:r>
              <a:rPr lang="en-US" altLang="en-US"/>
              <a:t>    TEST_ASSERT_EQUAL_INT8( 0xFF, Jung );</a:t>
            </a:r>
            <a:endParaRPr lang="en-US" altLang="en-US"/>
          </a:p>
          <a:p>
            <a:r>
              <a:rPr lang="en-US" altLang="en-US"/>
              <a:t>    TEST_ASSERT_EQUAL_INT8( 0x00, Jukk );</a:t>
            </a:r>
            <a:endParaRPr lang="en-US" altLang="en-US"/>
          </a:p>
          <a:p>
            <a:r>
              <a:rPr lang="en-US" altLang="en-US"/>
              <a:t>}</a:t>
            </a:r>
            <a:endParaRPr lang="en-US" altLang="en-US"/>
          </a:p>
          <a:p>
            <a:r>
              <a:rPr lang="en-US" altLang="en-US"/>
              <a:t>//Test Case 2</a:t>
            </a:r>
            <a:endParaRPr lang="en-US" altLang="en-US"/>
          </a:p>
          <a:p>
            <a:r>
              <a:rPr lang="en-US" altLang="en-US"/>
              <a:t>void test_do_bit_man_2(void)</a:t>
            </a:r>
            <a:endParaRPr lang="en-US" altLang="en-US"/>
          </a:p>
          <a:p>
            <a:r>
              <a:rPr lang="en-US" altLang="en-US"/>
              <a:t>{</a:t>
            </a:r>
            <a:endParaRPr lang="en-US" altLang="en-US"/>
          </a:p>
          <a:p>
            <a:r>
              <a:rPr lang="en-US" altLang="en-US"/>
              <a:t>    int8_t result;</a:t>
            </a:r>
            <a:endParaRPr lang="en-US" altLang="en-US"/>
          </a:p>
          <a:p>
            <a:r>
              <a:rPr lang="en-US" altLang="en-US"/>
              <a:t>    int8_t position = 5;</a:t>
            </a:r>
            <a:endParaRPr lang="en-US" altLang="en-US"/>
          </a:p>
          <a:p>
            <a:r>
              <a:rPr lang="en-US" altLang="en-US"/>
              <a:t>    result = do_bit_man( position );</a:t>
            </a:r>
            <a:endParaRPr lang="en-US" altLang="en-US"/>
          </a:p>
          <a:p>
            <a:r>
              <a:rPr lang="en-US" altLang="en-US"/>
              <a:t>    </a:t>
            </a: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630555" y="382270"/>
            <a:ext cx="10900410" cy="6134100"/>
          </a:xfrm>
          <a:prstGeom prst="rect">
            <a:avLst/>
          </a:prstGeom>
          <a:noFill/>
        </p:spPr>
        <p:txBody>
          <a:bodyPr wrap="square" rtlCol="0">
            <a:noAutofit/>
          </a:bodyPr>
          <a:p>
            <a:r>
              <a:rPr lang="en-US" altLang="en-US"/>
              <a:t>TEST_ASSERT_EQUAL_INT8( 0, result );</a:t>
            </a:r>
            <a:endParaRPr lang="en-US" altLang="en-US"/>
          </a:p>
          <a:p>
            <a:r>
              <a:rPr lang="en-US" altLang="en-US"/>
              <a:t>    </a:t>
            </a:r>
            <a:endParaRPr lang="en-US" altLang="en-US"/>
          </a:p>
          <a:p>
            <a:r>
              <a:rPr lang="en-US" altLang="en-US"/>
              <a:t>    TEST_ASSERT_BIT_HIGH( position, Jill );</a:t>
            </a:r>
            <a:endParaRPr lang="en-US" altLang="en-US"/>
          </a:p>
          <a:p>
            <a:r>
              <a:rPr lang="en-US" altLang="en-US"/>
              <a:t>    TEST_ASSERT_BIT_LOW( position, Jung );</a:t>
            </a:r>
            <a:endParaRPr lang="en-US" altLang="en-US"/>
          </a:p>
          <a:p>
            <a:r>
              <a:rPr lang="en-US" altLang="en-US"/>
              <a:t>    TEST_ASSERT_BIT_HIGH( position, Jukk );</a:t>
            </a:r>
            <a:endParaRPr lang="en-US" altLang="en-US"/>
          </a:p>
          <a:p>
            <a:r>
              <a:rPr lang="en-US" altLang="en-US"/>
              <a:t>}</a:t>
            </a:r>
            <a:br>
              <a:rPr lang="en-US" altLang="en-US"/>
            </a:br>
            <a:br>
              <a:rPr lang="en-US" altLang="en-US"/>
            </a:br>
            <a:r>
              <a:rPr lang="en-US" altLang="en-US"/>
              <a:t>That’s all. Let’s run the unit test using ceedling test:all.</a:t>
            </a:r>
            <a:br>
              <a:rPr lang="en-US" altLang="en-US"/>
            </a:br>
            <a:br>
              <a:rPr lang="en-US" altLang="en-US"/>
            </a:br>
            <a:r>
              <a:rPr lang="en-US" altLang="en-US"/>
              <a:t>simple_prog&gt;ceedling test:all</a:t>
            </a:r>
            <a:endParaRPr lang="en-US" altLang="en-US"/>
          </a:p>
          <a:p>
            <a:r>
              <a:rPr lang="en-US" altLang="en-US"/>
              <a:t>Test 'test_bit_manipulation.c'</a:t>
            </a:r>
            <a:endParaRPr lang="en-US" altLang="en-US"/>
          </a:p>
          <a:p>
            <a:r>
              <a:rPr lang="en-US" altLang="en-US"/>
              <a:t>------------------------------</a:t>
            </a:r>
            <a:endParaRPr lang="en-US" altLang="en-US"/>
          </a:p>
          <a:p>
            <a:r>
              <a:rPr lang="en-US" altLang="en-US"/>
              <a:t>Generating runner for test_bit_manipulation.c...</a:t>
            </a:r>
            <a:endParaRPr lang="en-US" altLang="en-US"/>
          </a:p>
          <a:p>
            <a:r>
              <a:rPr lang="en-US" altLang="en-US"/>
              <a:t>Compiling test_bit_manipulation_runner.c...</a:t>
            </a:r>
            <a:endParaRPr lang="en-US" altLang="en-US"/>
          </a:p>
          <a:p>
            <a:r>
              <a:rPr lang="en-US" altLang="en-US"/>
              <a:t>Compiling test_bit_manipulation.c...</a:t>
            </a:r>
            <a:endParaRPr lang="en-US" altLang="en-US"/>
          </a:p>
          <a:p>
            <a:r>
              <a:rPr lang="en-US" altLang="en-US"/>
              <a:t>Compiling unity.c...</a:t>
            </a:r>
            <a:endParaRPr lang="en-US" altLang="en-US"/>
          </a:p>
          <a:p>
            <a:r>
              <a:rPr lang="en-US" altLang="en-US"/>
              <a:t>Compiling bit_manipulation.c...</a:t>
            </a:r>
            <a:endParaRPr lang="en-US" altLang="en-US"/>
          </a:p>
          <a:p>
            <a:r>
              <a:rPr lang="en-US" altLang="en-US"/>
              <a:t>Compiling adc.c...</a:t>
            </a:r>
            <a:endParaRPr lang="en-US" altLang="en-US"/>
          </a:p>
          <a:p>
            <a:r>
              <a:rPr lang="en-US" altLang="en-US"/>
              <a:t>Compiling cmock.c...</a:t>
            </a:r>
            <a:endParaRPr lang="en-US" altLang="en-US"/>
          </a:p>
          <a:p>
            <a:r>
              <a:rPr lang="en-US" altLang="en-US"/>
              <a:t>Linking test_bit_manipulation.out...</a:t>
            </a:r>
            <a:endParaRPr lang="en-US" altLang="en-US"/>
          </a:p>
          <a:p>
            <a:r>
              <a:rPr lang="en-US" altLang="en-US"/>
              <a:t>Running test_bit_manipulation.out...</a:t>
            </a: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05790" y="379730"/>
            <a:ext cx="11026140" cy="6139180"/>
          </a:xfrm>
          <a:prstGeom prst="rect">
            <a:avLst/>
          </a:prstGeom>
          <a:noFill/>
        </p:spPr>
        <p:txBody>
          <a:bodyPr wrap="square" rtlCol="0">
            <a:noAutofit/>
          </a:bodyPr>
          <a:p>
            <a:r>
              <a:rPr lang="en-US" altLang="en-US"/>
              <a:t>-----------</a:t>
            </a:r>
            <a:endParaRPr lang="en-US" altLang="en-US"/>
          </a:p>
          <a:p>
            <a:r>
              <a:rPr lang="en-US" altLang="en-US"/>
              <a:t>TEST OUTPUT</a:t>
            </a:r>
            <a:endParaRPr lang="en-US" altLang="en-US"/>
          </a:p>
          <a:p>
            <a:r>
              <a:rPr lang="en-US" altLang="en-US"/>
              <a:t>-----------</a:t>
            </a:r>
            <a:endParaRPr lang="en-US" altLang="en-US"/>
          </a:p>
          <a:p>
            <a:r>
              <a:rPr lang="en-US" altLang="en-US"/>
              <a:t>[test_bit_manipulation.c]</a:t>
            </a:r>
            <a:endParaRPr lang="en-US" altLang="en-US"/>
          </a:p>
          <a:p>
            <a:r>
              <a:rPr lang="en-US" altLang="en-US"/>
              <a:t>  - "Temperature is Low"</a:t>
            </a:r>
            <a:endParaRPr lang="en-US" altLang="en-US"/>
          </a:p>
          <a:p>
            <a:r>
              <a:rPr lang="en-US" altLang="en-US"/>
              <a:t>--------------------</a:t>
            </a:r>
            <a:endParaRPr lang="en-US" altLang="en-US"/>
          </a:p>
          <a:p>
            <a:r>
              <a:rPr lang="en-US" altLang="en-US"/>
              <a:t>OVERALL TEST SUMMARY</a:t>
            </a:r>
            <a:endParaRPr lang="en-US" altLang="en-US"/>
          </a:p>
          <a:p>
            <a:r>
              <a:rPr lang="en-US" altLang="en-US"/>
              <a:t>--------------------</a:t>
            </a:r>
            <a:endParaRPr lang="en-US" altLang="en-US"/>
          </a:p>
          <a:p>
            <a:r>
              <a:rPr lang="en-US" altLang="en-US"/>
              <a:t>TESTED:  3</a:t>
            </a:r>
            <a:endParaRPr lang="en-US" altLang="en-US"/>
          </a:p>
          <a:p>
            <a:r>
              <a:rPr lang="en-US" altLang="en-US"/>
              <a:t>PASSED:  3</a:t>
            </a:r>
            <a:endParaRPr lang="en-US" altLang="en-US"/>
          </a:p>
          <a:p>
            <a:r>
              <a:rPr lang="en-US" altLang="en-US"/>
              <a:t>FAILED:  0</a:t>
            </a:r>
            <a:endParaRPr lang="en-US" altLang="en-US"/>
          </a:p>
          <a:p>
            <a:r>
              <a:rPr lang="en-US" altLang="en-US"/>
              <a:t>IGNORED: 0</a:t>
            </a:r>
            <a:br>
              <a:rPr lang="en-US" altLang="en-US"/>
            </a:br>
            <a:br>
              <a:rPr lang="en-US" altLang="en-US"/>
            </a:br>
            <a:r>
              <a:rPr lang="en-US" altLang="en-US"/>
              <a:t>Generate the report using the below commands.</a:t>
            </a:r>
            <a:br>
              <a:rPr lang="en-US" altLang="en-US"/>
            </a:br>
            <a:br>
              <a:rPr lang="en-US" altLang="en-US"/>
            </a:br>
            <a:r>
              <a:rPr lang="en-US" altLang="en-US"/>
              <a:t>ceedling gcov:all</a:t>
            </a:r>
            <a:endParaRPr lang="en-US" altLang="en-US"/>
          </a:p>
          <a:p>
            <a:r>
              <a:rPr lang="en-US" altLang="en-US"/>
              <a:t>ceedling utils:gcov</a:t>
            </a:r>
            <a:br>
              <a:rPr lang="en-US" altLang="en-US"/>
            </a:br>
            <a:endParaRPr lang="en-US" altLang="en-US"/>
          </a:p>
          <a:p>
            <a:r>
              <a:rPr lang="en-US" altLang="en-US"/>
              <a:t>This is the result. Your result will be stored in simple_prog\build\artifacts\gcov.</a:t>
            </a:r>
            <a:br>
              <a:rPr lang="en-US" altLang="en-US"/>
            </a:br>
            <a:br>
              <a:rPr lang="en-US" altLang="en-US"/>
            </a:b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a:picLocks noChangeAspect="1"/>
          </p:cNvPicPr>
          <p:nvPr/>
        </p:nvPicPr>
        <p:blipFill>
          <a:blip r:embed="rId1"/>
          <a:stretch>
            <a:fillRect/>
          </a:stretch>
        </p:blipFill>
        <p:spPr>
          <a:xfrm>
            <a:off x="694055" y="306070"/>
            <a:ext cx="10655300" cy="1677670"/>
          </a:xfrm>
          <a:prstGeom prst="rect">
            <a:avLst/>
          </a:prstGeom>
        </p:spPr>
      </p:pic>
      <p:sp>
        <p:nvSpPr>
          <p:cNvPr id="4" name="Text Box 3"/>
          <p:cNvSpPr txBox="1"/>
          <p:nvPr/>
        </p:nvSpPr>
        <p:spPr>
          <a:xfrm>
            <a:off x="481965" y="2216150"/>
            <a:ext cx="11235690" cy="3519170"/>
          </a:xfrm>
          <a:prstGeom prst="rect">
            <a:avLst/>
          </a:prstGeom>
          <a:noFill/>
        </p:spPr>
        <p:txBody>
          <a:bodyPr wrap="square" rtlCol="0">
            <a:noAutofit/>
          </a:bodyPr>
          <a:p>
            <a:r>
              <a:rPr lang="en-US" altLang="en-US"/>
              <a:t>Here, adc.c is 100% but bit_manipulation.c is 90.9%. adc.c is out of scope for us. Because we are testing do_bit_man not adc_read.  Why did this 9.1% get reduced in bit_manipulation.c? Let’s see the complete report of bit_manipulation.c.</a:t>
            </a:r>
            <a:br>
              <a:rPr lang="en-US" altLang="en-US"/>
            </a:br>
            <a:br>
              <a:rPr lang="en-US" altLang="en-US"/>
            </a:br>
            <a:endParaRPr lang="en-US" altLang="en-US"/>
          </a:p>
          <a:p>
            <a:endParaRPr lang="en-US" altLang="en-US"/>
          </a:p>
          <a:p>
            <a:endParaRPr lang="en-US" altLang="en-US"/>
          </a:p>
        </p:txBody>
      </p:sp>
      <p:pic>
        <p:nvPicPr>
          <p:cNvPr id="5" name="Picture 4"/>
          <p:cNvPicPr>
            <a:picLocks noChangeAspect="1"/>
          </p:cNvPicPr>
          <p:nvPr/>
        </p:nvPicPr>
        <p:blipFill>
          <a:blip r:embed="rId2"/>
          <a:stretch>
            <a:fillRect/>
          </a:stretch>
        </p:blipFill>
        <p:spPr>
          <a:xfrm>
            <a:off x="558165" y="3200400"/>
            <a:ext cx="10763885" cy="338518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500" b="1" kern="0" spc="200" dirty="0">
                <a:solidFill>
                  <a:srgbClr val="1C7293"/>
                </a:solidFill>
                <a:latin typeface="Calibri" panose="020F0502020204030204" pitchFamily="34" charset="0"/>
                <a:ea typeface="Calibri" panose="020F0502020204030204" pitchFamily="34" charset="-122"/>
                <a:cs typeface="Calibri" panose="020F0502020204030204" pitchFamily="34" charset="-120"/>
              </a:rPr>
              <a:t>WORKED EXAMPLE</a:t>
            </a:r>
            <a:endParaRPr lang="en-US" sz="1500" dirty="0"/>
          </a:p>
        </p:txBody>
      </p:sp>
      <p:sp>
        <p:nvSpPr>
          <p:cNvPr id="3" name="Text 1"/>
          <p:cNvSpPr/>
          <p:nvPr/>
        </p:nvSpPr>
        <p:spPr>
          <a:xfrm>
            <a:off x="548640" y="658368"/>
            <a:ext cx="10789920" cy="685800"/>
          </a:xfrm>
          <a:prstGeom prst="rect">
            <a:avLst/>
          </a:prstGeom>
          <a:noFill/>
        </p:spPr>
        <p:txBody>
          <a:bodyPr wrap="square" lIns="0" tIns="0" rIns="0" bIns="0" rtlCol="0" anchor="ctr"/>
          <a:lstStyle/>
          <a:p>
            <a:pPr marL="0" indent="0">
              <a:buNone/>
            </a:pPr>
            <a:r>
              <a:rPr lang="en-US" sz="3400" b="1" dirty="0">
                <a:solidFill>
                  <a:srgbClr val="1E2530"/>
                </a:solidFill>
                <a:latin typeface="Cambria" panose="02040503050406030204" pitchFamily="34" charset="0"/>
                <a:ea typeface="Cambria" panose="02040503050406030204" pitchFamily="34" charset="-122"/>
                <a:cs typeface="Cambria" panose="02040503050406030204" pitchFamily="34" charset="-120"/>
              </a:rPr>
              <a:t>Running Tests Without a Mock</a:t>
            </a:r>
            <a:endParaRPr lang="en-US" sz="3400" dirty="0"/>
          </a:p>
        </p:txBody>
      </p:sp>
      <p:sp>
        <p:nvSpPr>
          <p:cNvPr id="4" name="Shape 2"/>
          <p:cNvSpPr/>
          <p:nvPr/>
        </p:nvSpPr>
        <p:spPr>
          <a:xfrm>
            <a:off x="548640" y="1554480"/>
            <a:ext cx="11064240" cy="2331720"/>
          </a:xfrm>
          <a:prstGeom prst="roundRect">
            <a:avLst>
              <a:gd name="adj" fmla="val 3137"/>
            </a:avLst>
          </a:prstGeom>
          <a:solidFill>
            <a:srgbClr val="1B2436"/>
          </a:solidFill>
        </p:spPr>
      </p:sp>
      <p:sp>
        <p:nvSpPr>
          <p:cNvPr id="5" name="Text 3"/>
          <p:cNvSpPr/>
          <p:nvPr/>
        </p:nvSpPr>
        <p:spPr>
          <a:xfrm>
            <a:off x="868680" y="1737360"/>
            <a:ext cx="10424160" cy="2011680"/>
          </a:xfrm>
          <a:prstGeom prst="rect">
            <a:avLst/>
          </a:prstGeom>
          <a:noFill/>
        </p:spPr>
        <p:txBody>
          <a:bodyPr wrap="square" lIns="0" tIns="0" rIns="0" bIns="0" rtlCol="0" anchor="ctr"/>
          <a:lstStyle/>
          <a:p>
            <a:pPr marL="0" indent="0">
              <a:lnSpc>
                <a:spcPct val="120000"/>
              </a:lnSpc>
              <a:buNone/>
            </a:pPr>
            <a:r>
              <a:rPr lang="en-US" sz="1450" dirty="0">
                <a:solidFill>
                  <a:srgbClr val="C7D2E0"/>
                </a:solidFill>
                <a:latin typeface="Courier New" panose="02070309020205020404" pitchFamily="34" charset="0"/>
                <a:ea typeface="Courier New" panose="02070309020205020404" pitchFamily="34" charset="-122"/>
                <a:cs typeface="Courier New" panose="02070309020205020404" pitchFamily="34" charset="-120"/>
              </a:rPr>
              <a:t>simple_prog&gt; ceedling test:all</a:t>
            </a:r>
            <a:endParaRPr lang="en-US" sz="1450" dirty="0"/>
          </a:p>
          <a:p>
            <a:pPr marL="0" indent="0">
              <a:lnSpc>
                <a:spcPct val="120000"/>
              </a:lnSpc>
              <a:buNone/>
            </a:pPr>
            <a:endParaRPr lang="en-US" sz="1450" dirty="0"/>
          </a:p>
          <a:p>
            <a:pPr marL="0" indent="0">
              <a:lnSpc>
                <a:spcPct val="120000"/>
              </a:lnSpc>
              <a:buNone/>
            </a:pPr>
            <a:r>
              <a:rPr lang="en-US" sz="1450" dirty="0">
                <a:solidFill>
                  <a:srgbClr val="C7D2E0"/>
                </a:solidFill>
                <a:latin typeface="Courier New" panose="02070309020205020404" pitchFamily="34" charset="0"/>
                <a:ea typeface="Courier New" panose="02070309020205020404" pitchFamily="34" charset="-122"/>
                <a:cs typeface="Courier New" panose="02070309020205020404" pitchFamily="34" charset="-120"/>
              </a:rPr>
              <a:t>Compiling bit_manipulation.c...  Compiling adc.c...  Linking test_bit_manipulation.out...</a:t>
            </a:r>
            <a:endParaRPr lang="en-US" sz="1450" dirty="0"/>
          </a:p>
          <a:p>
            <a:pPr marL="0" indent="0">
              <a:lnSpc>
                <a:spcPct val="120000"/>
              </a:lnSpc>
              <a:buNone/>
            </a:pPr>
            <a:r>
              <a:rPr lang="en-US" sz="1450" dirty="0">
                <a:solidFill>
                  <a:srgbClr val="C7D2E0"/>
                </a:solidFill>
                <a:latin typeface="Courier New" panose="02070309020205020404" pitchFamily="34" charset="0"/>
                <a:ea typeface="Courier New" panose="02070309020205020404" pitchFamily="34" charset="-122"/>
                <a:cs typeface="Courier New" panose="02070309020205020404" pitchFamily="34" charset="-120"/>
              </a:rPr>
              <a:t>Running test_bit_manipulation.out...</a:t>
            </a:r>
            <a:endParaRPr lang="en-US" sz="1450" dirty="0"/>
          </a:p>
          <a:p>
            <a:pPr marL="0" indent="0">
              <a:lnSpc>
                <a:spcPct val="120000"/>
              </a:lnSpc>
              <a:buNone/>
            </a:pPr>
            <a:endParaRPr lang="en-US" sz="1450" dirty="0"/>
          </a:p>
          <a:p>
            <a:pPr marL="0" indent="0">
              <a:lnSpc>
                <a:spcPct val="120000"/>
              </a:lnSpc>
              <a:buNone/>
            </a:pPr>
            <a:r>
              <a:rPr lang="en-US" sz="1450" dirty="0">
                <a:solidFill>
                  <a:srgbClr val="F2A93B"/>
                </a:solidFill>
                <a:latin typeface="Courier New" panose="02070309020205020404" pitchFamily="34" charset="0"/>
                <a:ea typeface="Courier New" panose="02070309020205020404" pitchFamily="34" charset="-122"/>
                <a:cs typeface="Courier New" panose="02070309020205020404" pitchFamily="34" charset="-120"/>
              </a:rPr>
              <a:t>TEST OUTPUT:  "Temperature is Low"</a:t>
            </a:r>
            <a:endParaRPr lang="en-US" sz="1450" dirty="0"/>
          </a:p>
          <a:p>
            <a:pPr marL="0" indent="0">
              <a:lnSpc>
                <a:spcPct val="120000"/>
              </a:lnSpc>
              <a:buNone/>
            </a:pPr>
            <a:endParaRPr lang="en-US" sz="1450" dirty="0"/>
          </a:p>
          <a:p>
            <a:pPr marL="0" indent="0">
              <a:lnSpc>
                <a:spcPct val="120000"/>
              </a:lnSpc>
              <a:buNone/>
            </a:pPr>
            <a:r>
              <a:rPr lang="en-US" sz="1450" dirty="0">
                <a:solidFill>
                  <a:srgbClr val="8CE99A"/>
                </a:solidFill>
                <a:latin typeface="Courier New" panose="02070309020205020404" pitchFamily="34" charset="0"/>
                <a:ea typeface="Courier New" panose="02070309020205020404" pitchFamily="34" charset="-122"/>
                <a:cs typeface="Courier New" panose="02070309020205020404" pitchFamily="34" charset="-120"/>
              </a:rPr>
              <a:t>TESTED: 3   PASSED: 3   FAILED: 0   IGNORED: 0</a:t>
            </a:r>
            <a:endParaRPr lang="en-US" sz="1450" dirty="0"/>
          </a:p>
        </p:txBody>
      </p:sp>
      <p:sp>
        <p:nvSpPr>
          <p:cNvPr id="6" name="Shape 4"/>
          <p:cNvSpPr/>
          <p:nvPr/>
        </p:nvSpPr>
        <p:spPr>
          <a:xfrm>
            <a:off x="548640" y="4160520"/>
            <a:ext cx="11064240" cy="1783080"/>
          </a:xfrm>
          <a:prstGeom prst="roundRect">
            <a:avLst>
              <a:gd name="adj" fmla="val 4615"/>
            </a:avLst>
          </a:prstGeom>
          <a:solidFill>
            <a:srgbClr val="FFFFFF"/>
          </a:solidFill>
          <a:effectLst>
            <a:outerShdw blurRad="101600" dist="38100" dir="5400000" algn="bl" rotWithShape="0">
              <a:srgbClr val="000000">
                <a:alpha val="8000"/>
              </a:srgbClr>
            </a:outerShdw>
          </a:effectLst>
        </p:spPr>
      </p:sp>
      <p:pic>
        <p:nvPicPr>
          <p:cNvPr id="7" name="Image 0" descr="preencoded.png"/>
          <p:cNvPicPr>
            <a:picLocks noChangeAspect="1"/>
          </p:cNvPicPr>
          <p:nvPr/>
        </p:nvPicPr>
        <p:blipFill>
          <a:blip r:embed="rId1"/>
          <a:stretch>
            <a:fillRect/>
          </a:stretch>
        </p:blipFill>
        <p:spPr>
          <a:xfrm>
            <a:off x="868680" y="4434840"/>
            <a:ext cx="457200" cy="457200"/>
          </a:xfrm>
          <a:prstGeom prst="rect">
            <a:avLst/>
          </a:prstGeom>
        </p:spPr>
      </p:pic>
      <p:sp>
        <p:nvSpPr>
          <p:cNvPr id="8" name="Text 5"/>
          <p:cNvSpPr/>
          <p:nvPr/>
        </p:nvSpPr>
        <p:spPr>
          <a:xfrm>
            <a:off x="1463040" y="4434840"/>
            <a:ext cx="4572000" cy="457200"/>
          </a:xfrm>
          <a:prstGeom prst="rect">
            <a:avLst/>
          </a:prstGeom>
          <a:noFill/>
        </p:spPr>
        <p:txBody>
          <a:bodyPr wrap="square" lIns="0" tIns="0" rIns="0" bIns="0" rtlCol="0" anchor="ctr"/>
          <a:lstStyle/>
          <a:p>
            <a:pPr marL="0" indent="0">
              <a:buNone/>
            </a:pPr>
            <a:r>
              <a:rPr lang="en-US" sz="1900" b="1" dirty="0">
                <a:solidFill>
                  <a:srgbClr val="1E2530"/>
                </a:solidFill>
                <a:latin typeface="Cambria" panose="02040503050406030204" pitchFamily="34" charset="0"/>
                <a:ea typeface="Cambria" panose="02040503050406030204" pitchFamily="34" charset="-122"/>
                <a:cs typeface="Cambria" panose="02040503050406030204" pitchFamily="34" charset="-120"/>
              </a:rPr>
              <a:t>The Problem</a:t>
            </a:r>
            <a:endParaRPr lang="en-US" sz="1900" dirty="0"/>
          </a:p>
        </p:txBody>
      </p:sp>
      <p:sp>
        <p:nvSpPr>
          <p:cNvPr id="9" name="Text 6"/>
          <p:cNvSpPr/>
          <p:nvPr/>
        </p:nvSpPr>
        <p:spPr>
          <a:xfrm>
            <a:off x="868680" y="4937760"/>
            <a:ext cx="10424160" cy="914400"/>
          </a:xfrm>
          <a:prstGeom prst="rect">
            <a:avLst/>
          </a:prstGeom>
          <a:noFill/>
        </p:spPr>
        <p:txBody>
          <a:bodyPr wrap="square" lIns="0" tIns="0" rIns="0" bIns="0" rtlCol="0" anchor="ctr"/>
          <a:lstStyle/>
          <a:p>
            <a:pPr marL="0" indent="0">
              <a:lnSpc>
                <a:spcPct val="120000"/>
              </a:lnSpc>
              <a:buNone/>
            </a:pPr>
            <a:r>
              <a:rPr lang="en-US" sz="1550" dirty="0">
                <a:solidFill>
                  <a:srgbClr val="5B6B79"/>
                </a:solidFill>
                <a:latin typeface="Calibri" panose="020F0502020204030204" pitchFamily="34" charset="0"/>
                <a:ea typeface="Calibri" panose="020F0502020204030204" pitchFamily="34" charset="-122"/>
                <a:cs typeface="Calibri" panose="020F0502020204030204" pitchFamily="34" charset="-120"/>
              </a:rPr>
              <a:t>The test passed — but it silently called the real adc_read() implementation. Nothing verified that the function was called correctly, or let us control its return value. That is exactly what mocking solves.</a:t>
            </a:r>
            <a:endParaRPr lang="en-US" sz="1550" dirty="0"/>
          </a:p>
        </p:txBody>
      </p:sp>
      <p:sp>
        <p:nvSpPr>
          <p:cNvPr id="10" name="Text 7"/>
          <p:cNvSpPr/>
          <p:nvPr/>
        </p:nvSpPr>
        <p:spPr>
          <a:xfrm>
            <a:off x="457200" y="6473952"/>
            <a:ext cx="5486400" cy="274320"/>
          </a:xfrm>
          <a:prstGeom prst="rect">
            <a:avLst/>
          </a:prstGeom>
          <a:noFill/>
        </p:spPr>
        <p:txBody>
          <a:bodyPr wrap="square" lIns="0" tIns="0" rIns="0" bIns="0" rtlCol="0" anchor="ctr"/>
          <a:lstStyle/>
          <a:p>
            <a:pPr marL="0" indent="0" algn="l">
              <a:buNone/>
            </a:pPr>
            <a:r>
              <a:rPr lang="en-US" sz="1050" dirty="0">
                <a:solidFill>
                  <a:srgbClr val="5B6B79"/>
                </a:solidFill>
                <a:latin typeface="Calibri" panose="020F0502020204030204" pitchFamily="34" charset="0"/>
                <a:ea typeface="Calibri" panose="020F0502020204030204" pitchFamily="34" charset="-122"/>
                <a:cs typeface="Calibri" panose="020F0502020204030204" pitchFamily="34" charset="-120"/>
              </a:rPr>
              <a:t>Mocking in Embedded C  |  CMock</a:t>
            </a:r>
            <a:endParaRPr lang="en-US" sz="1050" dirty="0"/>
          </a:p>
        </p:txBody>
      </p:sp>
      <p:sp>
        <p:nvSpPr>
          <p:cNvPr id="11" name="Text 8"/>
          <p:cNvSpPr/>
          <p:nvPr/>
        </p:nvSpPr>
        <p:spPr>
          <a:xfrm>
            <a:off x="11247120" y="6473952"/>
            <a:ext cx="457200" cy="274320"/>
          </a:xfrm>
          <a:prstGeom prst="rect">
            <a:avLst/>
          </a:prstGeom>
          <a:noFill/>
        </p:spPr>
        <p:txBody>
          <a:bodyPr wrap="square" lIns="0" tIns="0" rIns="0" bIns="0" rtlCol="0" anchor="ctr"/>
          <a:lstStyle/>
          <a:p>
            <a:pPr marL="0" indent="0" algn="r">
              <a:buNone/>
            </a:pPr>
            <a:r>
              <a:rPr lang="en-US" sz="1050" dirty="0">
                <a:solidFill>
                  <a:srgbClr val="5B6B79"/>
                </a:solidFill>
                <a:latin typeface="Calibri" panose="020F0502020204030204" pitchFamily="34" charset="0"/>
                <a:ea typeface="Calibri" panose="020F0502020204030204" pitchFamily="34" charset="-122"/>
                <a:cs typeface="Calibri" panose="020F0502020204030204" pitchFamily="34" charset="-120"/>
              </a:rPr>
              <a:t>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500" b="1" kern="0" spc="200" dirty="0">
                <a:solidFill>
                  <a:srgbClr val="1C7293"/>
                </a:solidFill>
                <a:latin typeface="Calibri" panose="020F0502020204030204" pitchFamily="34" charset="0"/>
                <a:ea typeface="Calibri" panose="020F0502020204030204" pitchFamily="34" charset="-122"/>
                <a:cs typeface="Calibri" panose="020F0502020204030204" pitchFamily="34" charset="-120"/>
              </a:rPr>
              <a:t>WORKED EXAMPLE</a:t>
            </a:r>
            <a:endParaRPr lang="en-US" sz="1500" dirty="0"/>
          </a:p>
        </p:txBody>
      </p:sp>
      <p:sp>
        <p:nvSpPr>
          <p:cNvPr id="3" name="Text 1"/>
          <p:cNvSpPr/>
          <p:nvPr/>
        </p:nvSpPr>
        <p:spPr>
          <a:xfrm>
            <a:off x="548640" y="658368"/>
            <a:ext cx="10789920" cy="685800"/>
          </a:xfrm>
          <a:prstGeom prst="rect">
            <a:avLst/>
          </a:prstGeom>
          <a:noFill/>
        </p:spPr>
        <p:txBody>
          <a:bodyPr wrap="square" lIns="0" tIns="0" rIns="0" bIns="0" rtlCol="0" anchor="ctr"/>
          <a:lstStyle/>
          <a:p>
            <a:pPr marL="0" indent="0">
              <a:buNone/>
            </a:pPr>
            <a:r>
              <a:rPr lang="en-US" sz="3400" b="1" dirty="0">
                <a:solidFill>
                  <a:srgbClr val="1E2530"/>
                </a:solidFill>
                <a:latin typeface="Cambria" panose="02040503050406030204" pitchFamily="34" charset="0"/>
                <a:ea typeface="Cambria" panose="02040503050406030204" pitchFamily="34" charset="-122"/>
                <a:cs typeface="Cambria" panose="02040503050406030204" pitchFamily="34" charset="-120"/>
              </a:rPr>
              <a:t>Generating a Mock with CMock</a:t>
            </a:r>
            <a:endParaRPr lang="en-US" sz="3400" dirty="0"/>
          </a:p>
        </p:txBody>
      </p:sp>
      <p:sp>
        <p:nvSpPr>
          <p:cNvPr id="4" name="Text 2"/>
          <p:cNvSpPr/>
          <p:nvPr/>
        </p:nvSpPr>
        <p:spPr>
          <a:xfrm>
            <a:off x="548640" y="1508760"/>
            <a:ext cx="5852160" cy="457200"/>
          </a:xfrm>
          <a:prstGeom prst="rect">
            <a:avLst/>
          </a:prstGeom>
          <a:noFill/>
        </p:spPr>
        <p:txBody>
          <a:bodyPr wrap="square" lIns="0" tIns="0" rIns="0" bIns="0" rtlCol="0" anchor="ctr"/>
          <a:lstStyle/>
          <a:p>
            <a:pPr marL="0" indent="0">
              <a:spcAft>
                <a:spcPts val="1000"/>
              </a:spcAft>
              <a:buNone/>
            </a:pPr>
            <a:r>
              <a:rPr lang="en-US" sz="1600" dirty="0">
                <a:solidFill>
                  <a:srgbClr val="1E2530"/>
                </a:solidFill>
                <a:latin typeface="Calibri" panose="020F0502020204030204" pitchFamily="34" charset="0"/>
                <a:ea typeface="Calibri" panose="020F0502020204030204" pitchFamily="34" charset="-122"/>
                <a:cs typeface="Calibri" panose="020F0502020204030204" pitchFamily="34" charset="-120"/>
              </a:rPr>
              <a:t>Swap the real header for its mock header in the test file:</a:t>
            </a:r>
            <a:endParaRPr lang="en-US" sz="1600" dirty="0"/>
          </a:p>
        </p:txBody>
      </p:sp>
      <p:sp>
        <p:nvSpPr>
          <p:cNvPr id="5" name="Shape 3"/>
          <p:cNvSpPr/>
          <p:nvPr/>
        </p:nvSpPr>
        <p:spPr>
          <a:xfrm>
            <a:off x="548640" y="2011680"/>
            <a:ext cx="5852160" cy="685800"/>
          </a:xfrm>
          <a:prstGeom prst="roundRect">
            <a:avLst>
              <a:gd name="adj" fmla="val 8000"/>
            </a:avLst>
          </a:prstGeom>
          <a:solidFill>
            <a:srgbClr val="1B2436"/>
          </a:solidFill>
        </p:spPr>
      </p:sp>
      <p:sp>
        <p:nvSpPr>
          <p:cNvPr id="6" name="Text 4"/>
          <p:cNvSpPr/>
          <p:nvPr/>
        </p:nvSpPr>
        <p:spPr>
          <a:xfrm>
            <a:off x="822960" y="2011680"/>
            <a:ext cx="5303520" cy="685800"/>
          </a:xfrm>
          <a:prstGeom prst="rect">
            <a:avLst/>
          </a:prstGeom>
          <a:noFill/>
        </p:spPr>
        <p:txBody>
          <a:bodyPr wrap="square" lIns="0" tIns="0" rIns="0" bIns="0" rtlCol="0" anchor="ctr"/>
          <a:lstStyle/>
          <a:p>
            <a:pPr marL="0" indent="0">
              <a:buNone/>
            </a:pPr>
            <a:r>
              <a:rPr lang="en-US" sz="1800" b="1" dirty="0">
                <a:solidFill>
                  <a:srgbClr val="F2A93B"/>
                </a:solidFill>
                <a:latin typeface="Courier New" panose="02070309020205020404" pitchFamily="34" charset="0"/>
                <a:ea typeface="Courier New" panose="02070309020205020404" pitchFamily="34" charset="-122"/>
                <a:cs typeface="Courier New" panose="02070309020205020404" pitchFamily="34" charset="-120"/>
              </a:rPr>
              <a:t>#include "mock_adc.h"</a:t>
            </a:r>
            <a:endParaRPr lang="en-US" sz="1800" dirty="0"/>
          </a:p>
        </p:txBody>
      </p:sp>
      <p:sp>
        <p:nvSpPr>
          <p:cNvPr id="7" name="Text 5"/>
          <p:cNvSpPr/>
          <p:nvPr/>
        </p:nvSpPr>
        <p:spPr>
          <a:xfrm>
            <a:off x="548640" y="2971800"/>
            <a:ext cx="5852160" cy="1920240"/>
          </a:xfrm>
          <a:prstGeom prst="rect">
            <a:avLst/>
          </a:prstGeom>
          <a:noFill/>
        </p:spPr>
        <p:txBody>
          <a:bodyPr wrap="square" lIns="0" tIns="0" rIns="0" bIns="0" rtlCol="0" anchor="ctr"/>
          <a:lstStyle/>
          <a:p>
            <a:pPr marL="177800" indent="-177800">
              <a:lnSpc>
                <a:spcPct val="115000"/>
              </a:lnSpc>
              <a:spcAft>
                <a:spcPts val="1000"/>
              </a:spcAft>
              <a:buSzPct val="100000"/>
              <a:buChar char="•"/>
            </a:pPr>
            <a:r>
              <a:rPr lang="en-US" sz="1550" dirty="0">
                <a:solidFill>
                  <a:srgbClr val="1E2530"/>
                </a:solidFill>
                <a:latin typeface="Calibri" panose="020F0502020204030204" pitchFamily="34" charset="0"/>
                <a:ea typeface="Calibri" panose="020F0502020204030204" pitchFamily="34" charset="-122"/>
                <a:cs typeface="Calibri" panose="020F0502020204030204" pitchFamily="34" charset="-120"/>
              </a:rPr>
              <a:t>Ceedling auto-creates mock_adc.h and mock_adc.c using CMock</a:t>
            </a:r>
            <a:endParaRPr lang="en-US" sz="1550" dirty="0"/>
          </a:p>
          <a:p>
            <a:pPr marL="177800" indent="-177800">
              <a:lnSpc>
                <a:spcPct val="115000"/>
              </a:lnSpc>
              <a:spcAft>
                <a:spcPts val="1000"/>
              </a:spcAft>
              <a:buSzPct val="100000"/>
              <a:buChar char="•"/>
            </a:pPr>
            <a:r>
              <a:rPr lang="en-US" sz="1550" dirty="0">
                <a:solidFill>
                  <a:srgbClr val="1E2530"/>
                </a:solidFill>
                <a:latin typeface="Calibri" panose="020F0502020204030204" pitchFamily="34" charset="0"/>
                <a:ea typeface="Calibri" panose="020F0502020204030204" pitchFamily="34" charset="-122"/>
                <a:cs typeface="Calibri" panose="020F0502020204030204" pitchFamily="34" charset="-120"/>
              </a:rPr>
              <a:t>For every function in adc.h, a family of control functions is generated</a:t>
            </a:r>
            <a:endParaRPr lang="en-US" sz="1550" dirty="0"/>
          </a:p>
          <a:p>
            <a:pPr marL="177800" indent="-177800">
              <a:lnSpc>
                <a:spcPct val="115000"/>
              </a:lnSpc>
              <a:spcAft>
                <a:spcPts val="1000"/>
              </a:spcAft>
              <a:buSzPct val="100000"/>
              <a:buChar char="•"/>
            </a:pPr>
            <a:r>
              <a:rPr lang="en-US" sz="1550" dirty="0">
                <a:solidFill>
                  <a:srgbClr val="1E2530"/>
                </a:solidFill>
                <a:latin typeface="Calibri" panose="020F0502020204030204" pitchFamily="34" charset="0"/>
                <a:ea typeface="Calibri" panose="020F0502020204030204" pitchFamily="34" charset="-122"/>
                <a:cs typeface="Calibri" panose="020F0502020204030204" pitchFamily="34" charset="-120"/>
              </a:rPr>
              <a:t>Find every generated function inside build/test/mocks/*.h</a:t>
            </a:r>
            <a:endParaRPr lang="en-US" sz="1550" dirty="0"/>
          </a:p>
        </p:txBody>
      </p:sp>
      <p:sp>
        <p:nvSpPr>
          <p:cNvPr id="8" name="Shape 6"/>
          <p:cNvSpPr/>
          <p:nvPr/>
        </p:nvSpPr>
        <p:spPr>
          <a:xfrm>
            <a:off x="6720840" y="1508760"/>
            <a:ext cx="4892040" cy="4434840"/>
          </a:xfrm>
          <a:prstGeom prst="roundRect">
            <a:avLst>
              <a:gd name="adj" fmla="val 1856"/>
            </a:avLst>
          </a:prstGeom>
          <a:solidFill>
            <a:srgbClr val="21295C"/>
          </a:solidFill>
        </p:spPr>
      </p:sp>
      <p:sp>
        <p:nvSpPr>
          <p:cNvPr id="9" name="Text 7"/>
          <p:cNvSpPr/>
          <p:nvPr/>
        </p:nvSpPr>
        <p:spPr>
          <a:xfrm>
            <a:off x="7040880" y="1783080"/>
            <a:ext cx="4206240" cy="411480"/>
          </a:xfrm>
          <a:prstGeom prst="rect">
            <a:avLst/>
          </a:prstGeom>
          <a:noFill/>
        </p:spPr>
        <p:txBody>
          <a:bodyPr wrap="square" lIns="0" tIns="0" rIns="0" bIns="0" rtlCol="0" anchor="ctr"/>
          <a:lstStyle/>
          <a:p>
            <a:pPr marL="0" indent="0">
              <a:buNone/>
            </a:pPr>
            <a:r>
              <a:rPr lang="en-US" sz="1900" b="1" dirty="0">
                <a:solidFill>
                  <a:srgbClr val="FFFFFF"/>
                </a:solidFill>
                <a:latin typeface="Cambria" panose="02040503050406030204" pitchFamily="34" charset="0"/>
                <a:ea typeface="Cambria" panose="02040503050406030204" pitchFamily="34" charset="-122"/>
                <a:cs typeface="Cambria" panose="02040503050406030204" pitchFamily="34" charset="-120"/>
              </a:rPr>
              <a:t>Generated for adc_read()</a:t>
            </a:r>
            <a:endParaRPr lang="en-US" sz="1900" dirty="0"/>
          </a:p>
        </p:txBody>
      </p:sp>
      <p:sp>
        <p:nvSpPr>
          <p:cNvPr id="10" name="Shape 8"/>
          <p:cNvSpPr/>
          <p:nvPr/>
        </p:nvSpPr>
        <p:spPr>
          <a:xfrm>
            <a:off x="7040880" y="2377440"/>
            <a:ext cx="4251960" cy="658368"/>
          </a:xfrm>
          <a:prstGeom prst="roundRect">
            <a:avLst>
              <a:gd name="adj" fmla="val 8333"/>
            </a:avLst>
          </a:prstGeom>
          <a:solidFill>
            <a:srgbClr val="2C3966"/>
          </a:solidFill>
        </p:spPr>
      </p:sp>
      <p:sp>
        <p:nvSpPr>
          <p:cNvPr id="11" name="Text 9"/>
          <p:cNvSpPr/>
          <p:nvPr/>
        </p:nvSpPr>
        <p:spPr>
          <a:xfrm>
            <a:off x="7223760" y="2377440"/>
            <a:ext cx="3931920" cy="658368"/>
          </a:xfrm>
          <a:prstGeom prst="rect">
            <a:avLst/>
          </a:prstGeom>
          <a:noFill/>
        </p:spPr>
        <p:txBody>
          <a:bodyPr wrap="square" lIns="0" tIns="0" rIns="0" bIns="0" rtlCol="0" anchor="ctr"/>
          <a:lstStyle/>
          <a:p>
            <a:pPr marL="0" indent="0">
              <a:buNone/>
            </a:pPr>
            <a:r>
              <a:rPr lang="en-US" sz="13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adc_read_ExpectAndReturn(return_value)</a:t>
            </a:r>
            <a:endParaRPr lang="en-US" sz="1350" dirty="0"/>
          </a:p>
        </p:txBody>
      </p:sp>
      <p:sp>
        <p:nvSpPr>
          <p:cNvPr id="12" name="Shape 10"/>
          <p:cNvSpPr/>
          <p:nvPr/>
        </p:nvSpPr>
        <p:spPr>
          <a:xfrm>
            <a:off x="7040880" y="3182112"/>
            <a:ext cx="4251960" cy="658368"/>
          </a:xfrm>
          <a:prstGeom prst="roundRect">
            <a:avLst>
              <a:gd name="adj" fmla="val 8333"/>
            </a:avLst>
          </a:prstGeom>
          <a:solidFill>
            <a:srgbClr val="2C3966"/>
          </a:solidFill>
        </p:spPr>
      </p:sp>
      <p:sp>
        <p:nvSpPr>
          <p:cNvPr id="13" name="Text 11"/>
          <p:cNvSpPr/>
          <p:nvPr/>
        </p:nvSpPr>
        <p:spPr>
          <a:xfrm>
            <a:off x="7223760" y="3182112"/>
            <a:ext cx="3931920" cy="658368"/>
          </a:xfrm>
          <a:prstGeom prst="rect">
            <a:avLst/>
          </a:prstGeom>
          <a:noFill/>
        </p:spPr>
        <p:txBody>
          <a:bodyPr wrap="square" lIns="0" tIns="0" rIns="0" bIns="0" rtlCol="0" anchor="ctr"/>
          <a:lstStyle/>
          <a:p>
            <a:pPr marL="0" indent="0">
              <a:buNone/>
            </a:pPr>
            <a:r>
              <a:rPr lang="en-US" sz="13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adc_read_IgnoreAndReturn(return_value)</a:t>
            </a:r>
            <a:endParaRPr lang="en-US" sz="1350" dirty="0"/>
          </a:p>
        </p:txBody>
      </p:sp>
      <p:sp>
        <p:nvSpPr>
          <p:cNvPr id="14" name="Shape 12"/>
          <p:cNvSpPr/>
          <p:nvPr/>
        </p:nvSpPr>
        <p:spPr>
          <a:xfrm>
            <a:off x="7040880" y="3986784"/>
            <a:ext cx="4251960" cy="658368"/>
          </a:xfrm>
          <a:prstGeom prst="roundRect">
            <a:avLst>
              <a:gd name="adj" fmla="val 8333"/>
            </a:avLst>
          </a:prstGeom>
          <a:solidFill>
            <a:srgbClr val="2C3966"/>
          </a:solidFill>
        </p:spPr>
      </p:sp>
      <p:sp>
        <p:nvSpPr>
          <p:cNvPr id="15" name="Text 13"/>
          <p:cNvSpPr/>
          <p:nvPr/>
        </p:nvSpPr>
        <p:spPr>
          <a:xfrm>
            <a:off x="7223760" y="3986784"/>
            <a:ext cx="3931920" cy="658368"/>
          </a:xfrm>
          <a:prstGeom prst="rect">
            <a:avLst/>
          </a:prstGeom>
          <a:noFill/>
        </p:spPr>
        <p:txBody>
          <a:bodyPr wrap="square" lIns="0" tIns="0" rIns="0" bIns="0" rtlCol="0" anchor="ctr"/>
          <a:lstStyle/>
          <a:p>
            <a:pPr marL="0" indent="0">
              <a:buNone/>
            </a:pPr>
            <a:r>
              <a:rPr lang="en-US" sz="1350" dirty="0">
                <a:solidFill>
                  <a:srgbClr val="CADCFC"/>
                </a:solidFill>
                <a:latin typeface="Courier New" panose="02070309020205020404" pitchFamily="34" charset="0"/>
                <a:ea typeface="Courier New" panose="02070309020205020404" pitchFamily="34" charset="-122"/>
                <a:cs typeface="Courier New" panose="02070309020205020404" pitchFamily="34" charset="-120"/>
              </a:rPr>
              <a:t>adc_read_StubWithCallback(callback)</a:t>
            </a:r>
            <a:endParaRPr lang="en-US" sz="1350" dirty="0"/>
          </a:p>
        </p:txBody>
      </p:sp>
      <p:sp>
        <p:nvSpPr>
          <p:cNvPr id="16" name="Text 14"/>
          <p:cNvSpPr/>
          <p:nvPr/>
        </p:nvSpPr>
        <p:spPr>
          <a:xfrm>
            <a:off x="7040880" y="4837176"/>
            <a:ext cx="4251960" cy="640080"/>
          </a:xfrm>
          <a:prstGeom prst="rect">
            <a:avLst/>
          </a:prstGeom>
          <a:noFill/>
        </p:spPr>
        <p:txBody>
          <a:bodyPr wrap="square" lIns="0" tIns="0" rIns="0" bIns="0" rtlCol="0" anchor="ctr"/>
          <a:lstStyle/>
          <a:p>
            <a:pPr marL="0" indent="0">
              <a:lnSpc>
                <a:spcPct val="115000"/>
              </a:lnSpc>
              <a:buNone/>
            </a:pPr>
            <a:r>
              <a:rPr lang="en-US" sz="1300" i="1" dirty="0">
                <a:solidFill>
                  <a:srgbClr val="9FB3D6"/>
                </a:solidFill>
                <a:latin typeface="Calibri" panose="020F0502020204030204" pitchFamily="34" charset="0"/>
                <a:ea typeface="Calibri" panose="020F0502020204030204" pitchFamily="34" charset="-122"/>
                <a:cs typeface="Calibri" panose="020F0502020204030204" pitchFamily="34" charset="-120"/>
              </a:rPr>
              <a:t>Exact set of functions varies with your header and project.yml plugin config.</a:t>
            </a:r>
            <a:endParaRPr lang="en-US" sz="1300" dirty="0"/>
          </a:p>
        </p:txBody>
      </p:sp>
      <p:sp>
        <p:nvSpPr>
          <p:cNvPr id="17" name="Text 15"/>
          <p:cNvSpPr/>
          <p:nvPr/>
        </p:nvSpPr>
        <p:spPr>
          <a:xfrm>
            <a:off x="457200" y="6473952"/>
            <a:ext cx="5486400" cy="274320"/>
          </a:xfrm>
          <a:prstGeom prst="rect">
            <a:avLst/>
          </a:prstGeom>
          <a:noFill/>
        </p:spPr>
        <p:txBody>
          <a:bodyPr wrap="square" lIns="0" tIns="0" rIns="0" bIns="0" rtlCol="0" anchor="ctr"/>
          <a:lstStyle/>
          <a:p>
            <a:pPr marL="0" indent="0" algn="l">
              <a:buNone/>
            </a:pPr>
            <a:r>
              <a:rPr lang="en-US" sz="1050" dirty="0">
                <a:solidFill>
                  <a:srgbClr val="5B6B79"/>
                </a:solidFill>
                <a:latin typeface="Calibri" panose="020F0502020204030204" pitchFamily="34" charset="0"/>
                <a:ea typeface="Calibri" panose="020F0502020204030204" pitchFamily="34" charset="-122"/>
                <a:cs typeface="Calibri" panose="020F0502020204030204" pitchFamily="34" charset="-120"/>
              </a:rPr>
              <a:t>Mocking in Embedded C  |  CMock</a:t>
            </a:r>
            <a:endParaRPr lang="en-US" sz="1050" dirty="0"/>
          </a:p>
        </p:txBody>
      </p:sp>
      <p:sp>
        <p:nvSpPr>
          <p:cNvPr id="18" name="Text 16"/>
          <p:cNvSpPr/>
          <p:nvPr/>
        </p:nvSpPr>
        <p:spPr>
          <a:xfrm>
            <a:off x="11247120" y="6473952"/>
            <a:ext cx="457200" cy="274320"/>
          </a:xfrm>
          <a:prstGeom prst="rect">
            <a:avLst/>
          </a:prstGeom>
          <a:noFill/>
        </p:spPr>
        <p:txBody>
          <a:bodyPr wrap="square" lIns="0" tIns="0" rIns="0" bIns="0" rtlCol="0" anchor="ctr"/>
          <a:lstStyle/>
          <a:p>
            <a:pPr marL="0" indent="0" algn="r">
              <a:buNone/>
            </a:pPr>
            <a:r>
              <a:rPr lang="en-US" sz="1050" dirty="0">
                <a:solidFill>
                  <a:srgbClr val="5B6B79"/>
                </a:solidFill>
                <a:latin typeface="Calibri" panose="020F0502020204030204" pitchFamily="34" charset="0"/>
                <a:ea typeface="Calibri" panose="020F0502020204030204" pitchFamily="34" charset="-122"/>
                <a:cs typeface="Calibri" panose="020F0502020204030204" pitchFamily="34" charset="-120"/>
              </a:rPr>
              <a:t>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a:picLocks noChangeAspect="1"/>
          </p:cNvPicPr>
          <p:nvPr/>
        </p:nvPicPr>
        <p:blipFill>
          <a:blip r:embed="rId1"/>
          <a:stretch>
            <a:fillRect/>
          </a:stretch>
        </p:blipFill>
        <p:spPr>
          <a:xfrm>
            <a:off x="667385" y="530860"/>
            <a:ext cx="11240770" cy="57435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500" b="1" kern="0" spc="200" dirty="0">
                <a:solidFill>
                  <a:srgbClr val="1C7293"/>
                </a:solidFill>
                <a:latin typeface="Calibri" panose="020F0502020204030204" pitchFamily="34" charset="0"/>
                <a:ea typeface="Calibri" panose="020F0502020204030204" pitchFamily="34" charset="-122"/>
                <a:cs typeface="Calibri" panose="020F0502020204030204" pitchFamily="34" charset="-120"/>
              </a:rPr>
              <a:t>ROADMAP</a:t>
            </a:r>
            <a:endParaRPr lang="en-US" sz="1500" dirty="0"/>
          </a:p>
        </p:txBody>
      </p:sp>
      <p:sp>
        <p:nvSpPr>
          <p:cNvPr id="3" name="Text 1"/>
          <p:cNvSpPr/>
          <p:nvPr/>
        </p:nvSpPr>
        <p:spPr>
          <a:xfrm>
            <a:off x="548640" y="658368"/>
            <a:ext cx="10789920" cy="685800"/>
          </a:xfrm>
          <a:prstGeom prst="rect">
            <a:avLst/>
          </a:prstGeom>
          <a:noFill/>
        </p:spPr>
        <p:txBody>
          <a:bodyPr wrap="square" lIns="0" tIns="0" rIns="0" bIns="0" rtlCol="0" anchor="ctr"/>
          <a:lstStyle/>
          <a:p>
            <a:pPr marL="0" indent="0">
              <a:buNone/>
            </a:pPr>
            <a:r>
              <a:rPr lang="en-US" sz="3400" b="1" dirty="0">
                <a:solidFill>
                  <a:srgbClr val="1E2530"/>
                </a:solidFill>
                <a:latin typeface="Cambria" panose="02040503050406030204" pitchFamily="34" charset="0"/>
                <a:ea typeface="Cambria" panose="02040503050406030204" pitchFamily="34" charset="-122"/>
                <a:cs typeface="Cambria" panose="02040503050406030204" pitchFamily="34" charset="-120"/>
              </a:rPr>
              <a:t>Six Mock Function Variants</a:t>
            </a:r>
            <a:endParaRPr lang="en-US" sz="3400" dirty="0"/>
          </a:p>
        </p:txBody>
      </p:sp>
      <p:sp>
        <p:nvSpPr>
          <p:cNvPr id="4" name="Text 2"/>
          <p:cNvSpPr/>
          <p:nvPr/>
        </p:nvSpPr>
        <p:spPr>
          <a:xfrm>
            <a:off x="548640" y="1417320"/>
            <a:ext cx="10607040" cy="457200"/>
          </a:xfrm>
          <a:prstGeom prst="rect">
            <a:avLst/>
          </a:prstGeom>
          <a:noFill/>
        </p:spPr>
        <p:txBody>
          <a:bodyPr wrap="square" lIns="0" tIns="0" rIns="0" bIns="0" rtlCol="0" anchor="ctr"/>
          <a:lstStyle/>
          <a:p>
            <a:pPr marL="0" indent="0">
              <a:buNone/>
            </a:pPr>
            <a:r>
              <a:rPr lang="en-US" sz="1600" dirty="0">
                <a:solidFill>
                  <a:srgbClr val="5B6B79"/>
                </a:solidFill>
                <a:latin typeface="Calibri" panose="020F0502020204030204" pitchFamily="34" charset="0"/>
                <a:ea typeface="Calibri" panose="020F0502020204030204" pitchFamily="34" charset="-122"/>
                <a:cs typeface="Calibri" panose="020F0502020204030204" pitchFamily="34" charset="-120"/>
              </a:rPr>
              <a:t>CMock generates several families of control functions. Here is the roadmap we'll walk through.</a:t>
            </a:r>
            <a:endParaRPr lang="en-US" sz="1600" dirty="0"/>
          </a:p>
        </p:txBody>
      </p:sp>
      <p:sp>
        <p:nvSpPr>
          <p:cNvPr id="5" name="Shape 3"/>
          <p:cNvSpPr/>
          <p:nvPr/>
        </p:nvSpPr>
        <p:spPr>
          <a:xfrm>
            <a:off x="548640" y="1965960"/>
            <a:ext cx="3520440" cy="2103120"/>
          </a:xfrm>
          <a:prstGeom prst="roundRect">
            <a:avLst>
              <a:gd name="adj" fmla="val 3913"/>
            </a:avLst>
          </a:prstGeom>
          <a:solidFill>
            <a:srgbClr val="FFFFFF"/>
          </a:solidFill>
          <a:effectLst>
            <a:outerShdw blurRad="101600" dist="38100" dir="5400000" algn="bl" rotWithShape="0">
              <a:srgbClr val="000000">
                <a:alpha val="8000"/>
              </a:srgbClr>
            </a:outerShdw>
          </a:effectLst>
        </p:spPr>
      </p:sp>
      <p:sp>
        <p:nvSpPr>
          <p:cNvPr id="6" name="Shape 4"/>
          <p:cNvSpPr/>
          <p:nvPr/>
        </p:nvSpPr>
        <p:spPr>
          <a:xfrm>
            <a:off x="777240" y="2194560"/>
            <a:ext cx="594360" cy="594360"/>
          </a:xfrm>
          <a:prstGeom prst="ellipse">
            <a:avLst/>
          </a:prstGeom>
          <a:solidFill>
            <a:srgbClr val="065A82"/>
          </a:solidFill>
        </p:spPr>
      </p:sp>
      <p:pic>
        <p:nvPicPr>
          <p:cNvPr id="7" name="Image 0" descr="preencoded.png"/>
          <p:cNvPicPr>
            <a:picLocks noChangeAspect="1"/>
          </p:cNvPicPr>
          <p:nvPr/>
        </p:nvPicPr>
        <p:blipFill>
          <a:blip r:embed="rId1"/>
          <a:stretch>
            <a:fillRect/>
          </a:stretch>
        </p:blipFill>
        <p:spPr>
          <a:xfrm>
            <a:off x="914400" y="2331720"/>
            <a:ext cx="320040" cy="320040"/>
          </a:xfrm>
          <a:prstGeom prst="rect">
            <a:avLst/>
          </a:prstGeom>
        </p:spPr>
      </p:pic>
      <p:sp>
        <p:nvSpPr>
          <p:cNvPr id="8" name="Text 5"/>
          <p:cNvSpPr/>
          <p:nvPr/>
        </p:nvSpPr>
        <p:spPr>
          <a:xfrm>
            <a:off x="1508760" y="2167128"/>
            <a:ext cx="2377440" cy="384048"/>
          </a:xfrm>
          <a:prstGeom prst="rect">
            <a:avLst/>
          </a:prstGeom>
          <a:noFill/>
        </p:spPr>
        <p:txBody>
          <a:bodyPr wrap="square" lIns="0" tIns="0" rIns="0" bIns="0" rtlCol="0" anchor="ctr"/>
          <a:lstStyle/>
          <a:p>
            <a:pPr marL="0" indent="0">
              <a:buNone/>
            </a:pPr>
            <a:r>
              <a:rPr lang="en-US" sz="1750" b="1" dirty="0">
                <a:solidFill>
                  <a:srgbClr val="1E2530"/>
                </a:solidFill>
                <a:latin typeface="Cambria" panose="02040503050406030204" pitchFamily="34" charset="0"/>
                <a:ea typeface="Cambria" panose="02040503050406030204" pitchFamily="34" charset="-122"/>
                <a:cs typeface="Cambria" panose="02040503050406030204" pitchFamily="34" charset="-120"/>
              </a:rPr>
              <a:t>1. Expect</a:t>
            </a:r>
            <a:endParaRPr lang="en-US" sz="1750" dirty="0"/>
          </a:p>
        </p:txBody>
      </p:sp>
      <p:sp>
        <p:nvSpPr>
          <p:cNvPr id="9" name="Text 6"/>
          <p:cNvSpPr/>
          <p:nvPr/>
        </p:nvSpPr>
        <p:spPr>
          <a:xfrm>
            <a:off x="777240" y="2880360"/>
            <a:ext cx="3063240" cy="914400"/>
          </a:xfrm>
          <a:prstGeom prst="rect">
            <a:avLst/>
          </a:prstGeom>
          <a:noFill/>
        </p:spPr>
        <p:txBody>
          <a:bodyPr wrap="square" lIns="0" tIns="0" rIns="0" bIns="0" rtlCol="0" anchor="ctr"/>
          <a:lstStyle/>
          <a:p>
            <a:pPr marL="0" indent="0">
              <a:lnSpc>
                <a:spcPct val="115000"/>
              </a:lnSpc>
              <a:buNone/>
            </a:pPr>
            <a:r>
              <a:rPr lang="en-US" sz="1350" dirty="0">
                <a:solidFill>
                  <a:srgbClr val="5B6B79"/>
                </a:solidFill>
                <a:latin typeface="Calibri" panose="020F0502020204030204" pitchFamily="34" charset="0"/>
                <a:ea typeface="Calibri" panose="020F0502020204030204" pitchFamily="34" charset="-122"/>
                <a:cs typeface="Calibri" panose="020F0502020204030204" pitchFamily="34" charset="-120"/>
              </a:rPr>
              <a:t>Always generated — verifies the call, args &amp; return value</a:t>
            </a:r>
            <a:endParaRPr lang="en-US" sz="1350" dirty="0"/>
          </a:p>
        </p:txBody>
      </p:sp>
      <p:sp>
        <p:nvSpPr>
          <p:cNvPr id="10" name="Shape 7"/>
          <p:cNvSpPr/>
          <p:nvPr/>
        </p:nvSpPr>
        <p:spPr>
          <a:xfrm>
            <a:off x="4343400" y="1965960"/>
            <a:ext cx="3520440" cy="2103120"/>
          </a:xfrm>
          <a:prstGeom prst="roundRect">
            <a:avLst>
              <a:gd name="adj" fmla="val 3913"/>
            </a:avLst>
          </a:prstGeom>
          <a:solidFill>
            <a:srgbClr val="FFFFFF"/>
          </a:solidFill>
          <a:effectLst>
            <a:outerShdw blurRad="101600" dist="38100" dir="5400000" algn="bl" rotWithShape="0">
              <a:srgbClr val="000000">
                <a:alpha val="8000"/>
              </a:srgbClr>
            </a:outerShdw>
          </a:effectLst>
        </p:spPr>
      </p:sp>
      <p:sp>
        <p:nvSpPr>
          <p:cNvPr id="11" name="Shape 8"/>
          <p:cNvSpPr/>
          <p:nvPr/>
        </p:nvSpPr>
        <p:spPr>
          <a:xfrm>
            <a:off x="4572000" y="2194560"/>
            <a:ext cx="594360" cy="594360"/>
          </a:xfrm>
          <a:prstGeom prst="ellipse">
            <a:avLst/>
          </a:prstGeom>
          <a:solidFill>
            <a:srgbClr val="1C7293"/>
          </a:solidFill>
        </p:spPr>
      </p:sp>
      <p:pic>
        <p:nvPicPr>
          <p:cNvPr id="12" name="Image 1" descr="preencoded.png"/>
          <p:cNvPicPr>
            <a:picLocks noChangeAspect="1"/>
          </p:cNvPicPr>
          <p:nvPr/>
        </p:nvPicPr>
        <p:blipFill>
          <a:blip r:embed="rId2"/>
          <a:stretch>
            <a:fillRect/>
          </a:stretch>
        </p:blipFill>
        <p:spPr>
          <a:xfrm>
            <a:off x="4709160" y="2331720"/>
            <a:ext cx="320040" cy="320040"/>
          </a:xfrm>
          <a:prstGeom prst="rect">
            <a:avLst/>
          </a:prstGeom>
        </p:spPr>
      </p:pic>
      <p:sp>
        <p:nvSpPr>
          <p:cNvPr id="13" name="Text 9"/>
          <p:cNvSpPr/>
          <p:nvPr/>
        </p:nvSpPr>
        <p:spPr>
          <a:xfrm>
            <a:off x="5303520" y="2167128"/>
            <a:ext cx="2377440" cy="384048"/>
          </a:xfrm>
          <a:prstGeom prst="rect">
            <a:avLst/>
          </a:prstGeom>
          <a:noFill/>
        </p:spPr>
        <p:txBody>
          <a:bodyPr wrap="square" lIns="0" tIns="0" rIns="0" bIns="0" rtlCol="0" anchor="ctr"/>
          <a:lstStyle/>
          <a:p>
            <a:pPr marL="0" indent="0">
              <a:buNone/>
            </a:pPr>
            <a:r>
              <a:rPr lang="en-US" sz="1750" b="1" dirty="0">
                <a:solidFill>
                  <a:srgbClr val="1E2530"/>
                </a:solidFill>
                <a:latin typeface="Cambria" panose="02040503050406030204" pitchFamily="34" charset="0"/>
                <a:ea typeface="Cambria" panose="02040503050406030204" pitchFamily="34" charset="-122"/>
                <a:cs typeface="Cambria" panose="02040503050406030204" pitchFamily="34" charset="-120"/>
              </a:rPr>
              <a:t>2. Ignore Arguments</a:t>
            </a:r>
            <a:endParaRPr lang="en-US" sz="1750" dirty="0"/>
          </a:p>
        </p:txBody>
      </p:sp>
      <p:sp>
        <p:nvSpPr>
          <p:cNvPr id="14" name="Text 10"/>
          <p:cNvSpPr/>
          <p:nvPr/>
        </p:nvSpPr>
        <p:spPr>
          <a:xfrm>
            <a:off x="4572000" y="2880360"/>
            <a:ext cx="3063240" cy="914400"/>
          </a:xfrm>
          <a:prstGeom prst="rect">
            <a:avLst/>
          </a:prstGeom>
          <a:noFill/>
        </p:spPr>
        <p:txBody>
          <a:bodyPr wrap="square" lIns="0" tIns="0" rIns="0" bIns="0" rtlCol="0" anchor="ctr"/>
          <a:lstStyle/>
          <a:p>
            <a:pPr marL="0" indent="0">
              <a:lnSpc>
                <a:spcPct val="115000"/>
              </a:lnSpc>
              <a:buNone/>
            </a:pPr>
            <a:r>
              <a:rPr lang="en-US" sz="1350" dirty="0">
                <a:solidFill>
                  <a:srgbClr val="5B6B79"/>
                </a:solidFill>
                <a:latin typeface="Calibri" panose="020F0502020204030204" pitchFamily="34" charset="0"/>
                <a:ea typeface="Calibri" panose="020F0502020204030204" pitchFamily="34" charset="-122"/>
                <a:cs typeface="Calibri" panose="020F0502020204030204" pitchFamily="34" charset="-120"/>
              </a:rPr>
              <a:t>Ignore one argument while still checking the rest</a:t>
            </a:r>
            <a:endParaRPr lang="en-US" sz="1350" dirty="0"/>
          </a:p>
        </p:txBody>
      </p:sp>
      <p:sp>
        <p:nvSpPr>
          <p:cNvPr id="15" name="Shape 11"/>
          <p:cNvSpPr/>
          <p:nvPr/>
        </p:nvSpPr>
        <p:spPr>
          <a:xfrm>
            <a:off x="8138160" y="1965960"/>
            <a:ext cx="3520440" cy="2103120"/>
          </a:xfrm>
          <a:prstGeom prst="roundRect">
            <a:avLst>
              <a:gd name="adj" fmla="val 3913"/>
            </a:avLst>
          </a:prstGeom>
          <a:solidFill>
            <a:srgbClr val="FFFFFF"/>
          </a:solidFill>
          <a:effectLst>
            <a:outerShdw blurRad="101600" dist="38100" dir="5400000" algn="bl" rotWithShape="0">
              <a:srgbClr val="000000">
                <a:alpha val="8000"/>
              </a:srgbClr>
            </a:outerShdw>
          </a:effectLst>
        </p:spPr>
      </p:sp>
      <p:sp>
        <p:nvSpPr>
          <p:cNvPr id="16" name="Shape 12"/>
          <p:cNvSpPr/>
          <p:nvPr/>
        </p:nvSpPr>
        <p:spPr>
          <a:xfrm>
            <a:off x="8366760" y="2194560"/>
            <a:ext cx="594360" cy="594360"/>
          </a:xfrm>
          <a:prstGeom prst="ellipse">
            <a:avLst/>
          </a:prstGeom>
          <a:solidFill>
            <a:srgbClr val="065A82"/>
          </a:solidFill>
        </p:spPr>
      </p:sp>
      <p:pic>
        <p:nvPicPr>
          <p:cNvPr id="17" name="Image 2" descr="preencoded.png"/>
          <p:cNvPicPr>
            <a:picLocks noChangeAspect="1"/>
          </p:cNvPicPr>
          <p:nvPr/>
        </p:nvPicPr>
        <p:blipFill>
          <a:blip r:embed="rId3"/>
          <a:stretch>
            <a:fillRect/>
          </a:stretch>
        </p:blipFill>
        <p:spPr>
          <a:xfrm>
            <a:off x="8503920" y="2331720"/>
            <a:ext cx="320040" cy="320040"/>
          </a:xfrm>
          <a:prstGeom prst="rect">
            <a:avLst/>
          </a:prstGeom>
        </p:spPr>
      </p:pic>
      <p:sp>
        <p:nvSpPr>
          <p:cNvPr id="18" name="Text 13"/>
          <p:cNvSpPr/>
          <p:nvPr/>
        </p:nvSpPr>
        <p:spPr>
          <a:xfrm>
            <a:off x="9098280" y="2167128"/>
            <a:ext cx="2377440" cy="384048"/>
          </a:xfrm>
          <a:prstGeom prst="rect">
            <a:avLst/>
          </a:prstGeom>
          <a:noFill/>
        </p:spPr>
        <p:txBody>
          <a:bodyPr wrap="square" lIns="0" tIns="0" rIns="0" bIns="0" rtlCol="0" anchor="ctr"/>
          <a:lstStyle/>
          <a:p>
            <a:pPr marL="0" indent="0">
              <a:buNone/>
            </a:pPr>
            <a:r>
              <a:rPr lang="en-US" sz="1750" b="1" dirty="0">
                <a:solidFill>
                  <a:srgbClr val="1E2530"/>
                </a:solidFill>
                <a:latin typeface="Cambria" panose="02040503050406030204" pitchFamily="34" charset="0"/>
                <a:ea typeface="Cambria" panose="02040503050406030204" pitchFamily="34" charset="-122"/>
                <a:cs typeface="Cambria" panose="02040503050406030204" pitchFamily="34" charset="-120"/>
              </a:rPr>
              <a:t>3. Array</a:t>
            </a:r>
            <a:endParaRPr lang="en-US" sz="1750" dirty="0"/>
          </a:p>
        </p:txBody>
      </p:sp>
      <p:sp>
        <p:nvSpPr>
          <p:cNvPr id="19" name="Text 14"/>
          <p:cNvSpPr/>
          <p:nvPr/>
        </p:nvSpPr>
        <p:spPr>
          <a:xfrm>
            <a:off x="8366760" y="2880360"/>
            <a:ext cx="3063240" cy="914400"/>
          </a:xfrm>
          <a:prstGeom prst="rect">
            <a:avLst/>
          </a:prstGeom>
          <a:noFill/>
        </p:spPr>
        <p:txBody>
          <a:bodyPr wrap="square" lIns="0" tIns="0" rIns="0" bIns="0" rtlCol="0" anchor="ctr"/>
          <a:lstStyle/>
          <a:p>
            <a:pPr marL="0" indent="0">
              <a:lnSpc>
                <a:spcPct val="115000"/>
              </a:lnSpc>
              <a:buNone/>
            </a:pPr>
            <a:r>
              <a:rPr lang="en-US" sz="1350" dirty="0">
                <a:solidFill>
                  <a:srgbClr val="5B6B79"/>
                </a:solidFill>
                <a:latin typeface="Calibri" panose="020F0502020204030204" pitchFamily="34" charset="0"/>
                <a:ea typeface="Calibri" panose="020F0502020204030204" pitchFamily="34" charset="-122"/>
                <a:cs typeface="Calibri" panose="020F0502020204030204" pitchFamily="34" charset="-120"/>
              </a:rPr>
              <a:t>Compare pointer args as arrays with a given depth</a:t>
            </a:r>
            <a:endParaRPr lang="en-US" sz="1350" dirty="0"/>
          </a:p>
        </p:txBody>
      </p:sp>
      <p:sp>
        <p:nvSpPr>
          <p:cNvPr id="20" name="Shape 15"/>
          <p:cNvSpPr/>
          <p:nvPr/>
        </p:nvSpPr>
        <p:spPr>
          <a:xfrm>
            <a:off x="548640" y="4297680"/>
            <a:ext cx="3520440" cy="2103120"/>
          </a:xfrm>
          <a:prstGeom prst="roundRect">
            <a:avLst>
              <a:gd name="adj" fmla="val 3913"/>
            </a:avLst>
          </a:prstGeom>
          <a:solidFill>
            <a:srgbClr val="FFFFFF"/>
          </a:solidFill>
          <a:effectLst>
            <a:outerShdw blurRad="101600" dist="38100" dir="5400000" algn="bl" rotWithShape="0">
              <a:srgbClr val="000000">
                <a:alpha val="8000"/>
              </a:srgbClr>
            </a:outerShdw>
          </a:effectLst>
        </p:spPr>
      </p:sp>
      <p:sp>
        <p:nvSpPr>
          <p:cNvPr id="21" name="Shape 16"/>
          <p:cNvSpPr/>
          <p:nvPr/>
        </p:nvSpPr>
        <p:spPr>
          <a:xfrm>
            <a:off x="777240" y="4526280"/>
            <a:ext cx="594360" cy="594360"/>
          </a:xfrm>
          <a:prstGeom prst="ellipse">
            <a:avLst/>
          </a:prstGeom>
          <a:solidFill>
            <a:srgbClr val="1C7293"/>
          </a:solidFill>
        </p:spPr>
      </p:sp>
      <p:pic>
        <p:nvPicPr>
          <p:cNvPr id="22" name="Image 3" descr="preencoded.png"/>
          <p:cNvPicPr>
            <a:picLocks noChangeAspect="1"/>
          </p:cNvPicPr>
          <p:nvPr/>
        </p:nvPicPr>
        <p:blipFill>
          <a:blip r:embed="rId4"/>
          <a:stretch>
            <a:fillRect/>
          </a:stretch>
        </p:blipFill>
        <p:spPr>
          <a:xfrm>
            <a:off x="914400" y="4663440"/>
            <a:ext cx="320040" cy="320040"/>
          </a:xfrm>
          <a:prstGeom prst="rect">
            <a:avLst/>
          </a:prstGeom>
        </p:spPr>
      </p:pic>
      <p:sp>
        <p:nvSpPr>
          <p:cNvPr id="23" name="Text 17"/>
          <p:cNvSpPr/>
          <p:nvPr/>
        </p:nvSpPr>
        <p:spPr>
          <a:xfrm>
            <a:off x="1508760" y="4498848"/>
            <a:ext cx="2377440" cy="384048"/>
          </a:xfrm>
          <a:prstGeom prst="rect">
            <a:avLst/>
          </a:prstGeom>
          <a:noFill/>
        </p:spPr>
        <p:txBody>
          <a:bodyPr wrap="square" lIns="0" tIns="0" rIns="0" bIns="0" rtlCol="0" anchor="ctr"/>
          <a:lstStyle/>
          <a:p>
            <a:pPr marL="0" indent="0">
              <a:buNone/>
            </a:pPr>
            <a:r>
              <a:rPr lang="en-US" sz="1750" b="1" dirty="0">
                <a:solidFill>
                  <a:srgbClr val="1E2530"/>
                </a:solidFill>
                <a:latin typeface="Cambria" panose="02040503050406030204" pitchFamily="34" charset="0"/>
                <a:ea typeface="Cambria" panose="02040503050406030204" pitchFamily="34" charset="-122"/>
                <a:cs typeface="Cambria" panose="02040503050406030204" pitchFamily="34" charset="-120"/>
              </a:rPr>
              <a:t>4. Ignore</a:t>
            </a:r>
            <a:endParaRPr lang="en-US" sz="1750" dirty="0"/>
          </a:p>
        </p:txBody>
      </p:sp>
      <p:sp>
        <p:nvSpPr>
          <p:cNvPr id="24" name="Text 18"/>
          <p:cNvSpPr/>
          <p:nvPr/>
        </p:nvSpPr>
        <p:spPr>
          <a:xfrm>
            <a:off x="777240" y="5212080"/>
            <a:ext cx="3063240" cy="914400"/>
          </a:xfrm>
          <a:prstGeom prst="rect">
            <a:avLst/>
          </a:prstGeom>
          <a:noFill/>
        </p:spPr>
        <p:txBody>
          <a:bodyPr wrap="square" lIns="0" tIns="0" rIns="0" bIns="0" rtlCol="0" anchor="ctr"/>
          <a:lstStyle/>
          <a:p>
            <a:pPr marL="0" indent="0">
              <a:lnSpc>
                <a:spcPct val="115000"/>
              </a:lnSpc>
              <a:buNone/>
            </a:pPr>
            <a:r>
              <a:rPr lang="en-US" sz="1350" dirty="0">
                <a:solidFill>
                  <a:srgbClr val="5B6B79"/>
                </a:solidFill>
                <a:latin typeface="Calibri" panose="020F0502020204030204" pitchFamily="34" charset="0"/>
                <a:ea typeface="Calibri" panose="020F0502020204030204" pitchFamily="34" charset="-122"/>
                <a:cs typeface="Calibri" panose="020F0502020204030204" pitchFamily="34" charset="-120"/>
              </a:rPr>
              <a:t>Ignore the call entirely; optionally return a value</a:t>
            </a:r>
            <a:endParaRPr lang="en-US" sz="1350" dirty="0"/>
          </a:p>
        </p:txBody>
      </p:sp>
      <p:sp>
        <p:nvSpPr>
          <p:cNvPr id="25" name="Shape 19"/>
          <p:cNvSpPr/>
          <p:nvPr/>
        </p:nvSpPr>
        <p:spPr>
          <a:xfrm>
            <a:off x="4343400" y="4297680"/>
            <a:ext cx="3520440" cy="2103120"/>
          </a:xfrm>
          <a:prstGeom prst="roundRect">
            <a:avLst>
              <a:gd name="adj" fmla="val 3913"/>
            </a:avLst>
          </a:prstGeom>
          <a:solidFill>
            <a:srgbClr val="FFFFFF"/>
          </a:solidFill>
          <a:effectLst>
            <a:outerShdw blurRad="101600" dist="38100" dir="5400000" algn="bl" rotWithShape="0">
              <a:srgbClr val="000000">
                <a:alpha val="8000"/>
              </a:srgbClr>
            </a:outerShdw>
          </a:effectLst>
        </p:spPr>
      </p:sp>
      <p:sp>
        <p:nvSpPr>
          <p:cNvPr id="26" name="Shape 20"/>
          <p:cNvSpPr/>
          <p:nvPr/>
        </p:nvSpPr>
        <p:spPr>
          <a:xfrm>
            <a:off x="4572000" y="4526280"/>
            <a:ext cx="594360" cy="594360"/>
          </a:xfrm>
          <a:prstGeom prst="ellipse">
            <a:avLst/>
          </a:prstGeom>
          <a:solidFill>
            <a:srgbClr val="065A82"/>
          </a:solidFill>
        </p:spPr>
      </p:sp>
      <p:pic>
        <p:nvPicPr>
          <p:cNvPr id="27" name="Image 4" descr="preencoded.png"/>
          <p:cNvPicPr>
            <a:picLocks noChangeAspect="1"/>
          </p:cNvPicPr>
          <p:nvPr/>
        </p:nvPicPr>
        <p:blipFill>
          <a:blip r:embed="rId5"/>
          <a:stretch>
            <a:fillRect/>
          </a:stretch>
        </p:blipFill>
        <p:spPr>
          <a:xfrm>
            <a:off x="4709160" y="4663440"/>
            <a:ext cx="320040" cy="320040"/>
          </a:xfrm>
          <a:prstGeom prst="rect">
            <a:avLst/>
          </a:prstGeom>
        </p:spPr>
      </p:pic>
      <p:sp>
        <p:nvSpPr>
          <p:cNvPr id="28" name="Text 21"/>
          <p:cNvSpPr/>
          <p:nvPr/>
        </p:nvSpPr>
        <p:spPr>
          <a:xfrm>
            <a:off x="5303520" y="4498848"/>
            <a:ext cx="2377440" cy="384048"/>
          </a:xfrm>
          <a:prstGeom prst="rect">
            <a:avLst/>
          </a:prstGeom>
          <a:noFill/>
        </p:spPr>
        <p:txBody>
          <a:bodyPr wrap="square" lIns="0" tIns="0" rIns="0" bIns="0" rtlCol="0" anchor="ctr"/>
          <a:lstStyle/>
          <a:p>
            <a:pPr marL="0" indent="0">
              <a:buNone/>
            </a:pPr>
            <a:r>
              <a:rPr lang="en-US" sz="1750" b="1" dirty="0">
                <a:solidFill>
                  <a:srgbClr val="1E2530"/>
                </a:solidFill>
                <a:latin typeface="Cambria" panose="02040503050406030204" pitchFamily="34" charset="0"/>
                <a:ea typeface="Cambria" panose="02040503050406030204" pitchFamily="34" charset="-122"/>
                <a:cs typeface="Cambria" panose="02040503050406030204" pitchFamily="34" charset="-120"/>
              </a:rPr>
              <a:t>5. ReturnThruPtr</a:t>
            </a:r>
            <a:endParaRPr lang="en-US" sz="1750" dirty="0"/>
          </a:p>
        </p:txBody>
      </p:sp>
      <p:sp>
        <p:nvSpPr>
          <p:cNvPr id="29" name="Text 22"/>
          <p:cNvSpPr/>
          <p:nvPr/>
        </p:nvSpPr>
        <p:spPr>
          <a:xfrm>
            <a:off x="4572000" y="5212080"/>
            <a:ext cx="3063240" cy="914400"/>
          </a:xfrm>
          <a:prstGeom prst="rect">
            <a:avLst/>
          </a:prstGeom>
          <a:noFill/>
        </p:spPr>
        <p:txBody>
          <a:bodyPr wrap="square" lIns="0" tIns="0" rIns="0" bIns="0" rtlCol="0" anchor="ctr"/>
          <a:lstStyle/>
          <a:p>
            <a:pPr marL="0" indent="0">
              <a:lnSpc>
                <a:spcPct val="115000"/>
              </a:lnSpc>
              <a:buNone/>
            </a:pPr>
            <a:r>
              <a:rPr lang="en-US" sz="1350" dirty="0">
                <a:solidFill>
                  <a:srgbClr val="5B6B79"/>
                </a:solidFill>
                <a:latin typeface="Calibri" panose="020F0502020204030204" pitchFamily="34" charset="0"/>
                <a:ea typeface="Calibri" panose="020F0502020204030204" pitchFamily="34" charset="-122"/>
                <a:cs typeface="Calibri" panose="020F0502020204030204" pitchFamily="34" charset="-120"/>
              </a:rPr>
              <a:t>Write data back out through a pointer argument</a:t>
            </a:r>
            <a:endParaRPr lang="en-US" sz="1350" dirty="0"/>
          </a:p>
        </p:txBody>
      </p:sp>
      <p:sp>
        <p:nvSpPr>
          <p:cNvPr id="30" name="Shape 23"/>
          <p:cNvSpPr/>
          <p:nvPr/>
        </p:nvSpPr>
        <p:spPr>
          <a:xfrm>
            <a:off x="8138160" y="4297680"/>
            <a:ext cx="3520440" cy="2103120"/>
          </a:xfrm>
          <a:prstGeom prst="roundRect">
            <a:avLst>
              <a:gd name="adj" fmla="val 3913"/>
            </a:avLst>
          </a:prstGeom>
          <a:solidFill>
            <a:srgbClr val="FFFFFF"/>
          </a:solidFill>
          <a:effectLst>
            <a:outerShdw blurRad="101600" dist="38100" dir="5400000" algn="bl" rotWithShape="0">
              <a:srgbClr val="000000">
                <a:alpha val="8000"/>
              </a:srgbClr>
            </a:outerShdw>
          </a:effectLst>
        </p:spPr>
      </p:sp>
      <p:sp>
        <p:nvSpPr>
          <p:cNvPr id="31" name="Shape 24"/>
          <p:cNvSpPr/>
          <p:nvPr/>
        </p:nvSpPr>
        <p:spPr>
          <a:xfrm>
            <a:off x="8366760" y="4526280"/>
            <a:ext cx="594360" cy="594360"/>
          </a:xfrm>
          <a:prstGeom prst="ellipse">
            <a:avLst/>
          </a:prstGeom>
          <a:solidFill>
            <a:srgbClr val="1C7293"/>
          </a:solidFill>
        </p:spPr>
      </p:sp>
      <p:pic>
        <p:nvPicPr>
          <p:cNvPr id="32" name="Image 5" descr="preencoded.png"/>
          <p:cNvPicPr>
            <a:picLocks noChangeAspect="1"/>
          </p:cNvPicPr>
          <p:nvPr/>
        </p:nvPicPr>
        <p:blipFill>
          <a:blip r:embed="rId6"/>
          <a:stretch>
            <a:fillRect/>
          </a:stretch>
        </p:blipFill>
        <p:spPr>
          <a:xfrm>
            <a:off x="8503920" y="4663440"/>
            <a:ext cx="320040" cy="320040"/>
          </a:xfrm>
          <a:prstGeom prst="rect">
            <a:avLst/>
          </a:prstGeom>
        </p:spPr>
      </p:pic>
      <p:sp>
        <p:nvSpPr>
          <p:cNvPr id="33" name="Text 25"/>
          <p:cNvSpPr/>
          <p:nvPr/>
        </p:nvSpPr>
        <p:spPr>
          <a:xfrm>
            <a:off x="9098280" y="4498848"/>
            <a:ext cx="2377440" cy="384048"/>
          </a:xfrm>
          <a:prstGeom prst="rect">
            <a:avLst/>
          </a:prstGeom>
          <a:noFill/>
        </p:spPr>
        <p:txBody>
          <a:bodyPr wrap="square" lIns="0" tIns="0" rIns="0" bIns="0" rtlCol="0" anchor="ctr"/>
          <a:lstStyle/>
          <a:p>
            <a:pPr marL="0" indent="0">
              <a:buNone/>
            </a:pPr>
            <a:r>
              <a:rPr lang="en-US" sz="1750" b="1" dirty="0">
                <a:solidFill>
                  <a:srgbClr val="1E2530"/>
                </a:solidFill>
                <a:latin typeface="Cambria" panose="02040503050406030204" pitchFamily="34" charset="0"/>
                <a:ea typeface="Cambria" panose="02040503050406030204" pitchFamily="34" charset="-122"/>
                <a:cs typeface="Cambria" panose="02040503050406030204" pitchFamily="34" charset="-120"/>
              </a:rPr>
              <a:t>6. Callback</a:t>
            </a:r>
            <a:endParaRPr lang="en-US" sz="1750" dirty="0"/>
          </a:p>
        </p:txBody>
      </p:sp>
      <p:sp>
        <p:nvSpPr>
          <p:cNvPr id="34" name="Text 26"/>
          <p:cNvSpPr/>
          <p:nvPr/>
        </p:nvSpPr>
        <p:spPr>
          <a:xfrm>
            <a:off x="8366760" y="5212080"/>
            <a:ext cx="3063240" cy="914400"/>
          </a:xfrm>
          <a:prstGeom prst="rect">
            <a:avLst/>
          </a:prstGeom>
          <a:noFill/>
        </p:spPr>
        <p:txBody>
          <a:bodyPr wrap="square" lIns="0" tIns="0" rIns="0" bIns="0" rtlCol="0" anchor="ctr"/>
          <a:lstStyle/>
          <a:p>
            <a:pPr marL="0" indent="0">
              <a:lnSpc>
                <a:spcPct val="115000"/>
              </a:lnSpc>
              <a:buNone/>
            </a:pPr>
            <a:r>
              <a:rPr lang="en-US" sz="1350" dirty="0">
                <a:solidFill>
                  <a:srgbClr val="5B6B79"/>
                </a:solidFill>
                <a:latin typeface="Calibri" panose="020F0502020204030204" pitchFamily="34" charset="0"/>
                <a:ea typeface="Calibri" panose="020F0502020204030204" pitchFamily="34" charset="-122"/>
                <a:cs typeface="Calibri" panose="020F0502020204030204" pitchFamily="34" charset="-120"/>
              </a:rPr>
              <a:t>Route the call to your own custom callback function</a:t>
            </a:r>
            <a:endParaRPr lang="en-US" sz="1350" dirty="0"/>
          </a:p>
        </p:txBody>
      </p:sp>
      <p:sp>
        <p:nvSpPr>
          <p:cNvPr id="35" name="Text 27"/>
          <p:cNvSpPr/>
          <p:nvPr/>
        </p:nvSpPr>
        <p:spPr>
          <a:xfrm>
            <a:off x="457200" y="6473952"/>
            <a:ext cx="5486400" cy="274320"/>
          </a:xfrm>
          <a:prstGeom prst="rect">
            <a:avLst/>
          </a:prstGeom>
          <a:noFill/>
        </p:spPr>
        <p:txBody>
          <a:bodyPr wrap="square" lIns="0" tIns="0" rIns="0" bIns="0" rtlCol="0" anchor="ctr"/>
          <a:lstStyle/>
          <a:p>
            <a:pPr marL="0" indent="0" algn="l">
              <a:buNone/>
            </a:pPr>
            <a:r>
              <a:rPr lang="en-US" sz="1050" dirty="0">
                <a:solidFill>
                  <a:srgbClr val="5B6B79"/>
                </a:solidFill>
                <a:latin typeface="Calibri" panose="020F0502020204030204" pitchFamily="34" charset="0"/>
                <a:ea typeface="Calibri" panose="020F0502020204030204" pitchFamily="34" charset="-122"/>
                <a:cs typeface="Calibri" panose="020F0502020204030204" pitchFamily="34" charset="-120"/>
              </a:rPr>
              <a:t>Mocking in Embedded C  |  CMock</a:t>
            </a:r>
            <a:endParaRPr lang="en-US" sz="1050" dirty="0"/>
          </a:p>
        </p:txBody>
      </p:sp>
      <p:sp>
        <p:nvSpPr>
          <p:cNvPr id="36" name="Text 28"/>
          <p:cNvSpPr/>
          <p:nvPr/>
        </p:nvSpPr>
        <p:spPr>
          <a:xfrm>
            <a:off x="11247120" y="6473952"/>
            <a:ext cx="457200" cy="274320"/>
          </a:xfrm>
          <a:prstGeom prst="rect">
            <a:avLst/>
          </a:prstGeom>
          <a:noFill/>
        </p:spPr>
        <p:txBody>
          <a:bodyPr wrap="square" lIns="0" tIns="0" rIns="0" bIns="0" rtlCol="0" anchor="ctr"/>
          <a:lstStyle/>
          <a:p>
            <a:pPr marL="0" indent="0" algn="r">
              <a:buNone/>
            </a:pPr>
            <a:r>
              <a:rPr lang="en-US" sz="1050" dirty="0">
                <a:solidFill>
                  <a:srgbClr val="5B6B79"/>
                </a:solidFill>
                <a:latin typeface="Calibri" panose="020F0502020204030204" pitchFamily="34" charset="0"/>
                <a:ea typeface="Calibri" panose="020F0502020204030204" pitchFamily="34" charset="-122"/>
                <a:cs typeface="Calibri" panose="020F0502020204030204" pitchFamily="34" charset="-120"/>
              </a:rPr>
              <a:t>7</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500" b="1" kern="0" spc="200" dirty="0">
                <a:solidFill>
                  <a:srgbClr val="1C7293"/>
                </a:solidFill>
                <a:latin typeface="Calibri" panose="020F0502020204030204" pitchFamily="34" charset="0"/>
                <a:ea typeface="Calibri" panose="020F0502020204030204" pitchFamily="34" charset="-122"/>
                <a:cs typeface="Calibri" panose="020F0502020204030204" pitchFamily="34" charset="-120"/>
              </a:rPr>
              <a:t>VARIANT 1 OF 6</a:t>
            </a:r>
            <a:endParaRPr lang="en-US" sz="1500" dirty="0"/>
          </a:p>
        </p:txBody>
      </p:sp>
      <p:sp>
        <p:nvSpPr>
          <p:cNvPr id="3" name="Text 1"/>
          <p:cNvSpPr/>
          <p:nvPr/>
        </p:nvSpPr>
        <p:spPr>
          <a:xfrm>
            <a:off x="548640" y="658368"/>
            <a:ext cx="10789920" cy="685800"/>
          </a:xfrm>
          <a:prstGeom prst="rect">
            <a:avLst/>
          </a:prstGeom>
          <a:noFill/>
        </p:spPr>
        <p:txBody>
          <a:bodyPr wrap="square" lIns="0" tIns="0" rIns="0" bIns="0" rtlCol="0" anchor="ctr"/>
          <a:lstStyle/>
          <a:p>
            <a:pPr marL="0" indent="0">
              <a:buNone/>
            </a:pPr>
            <a:r>
              <a:rPr lang="en-US" sz="3400" b="1" dirty="0">
                <a:solidFill>
                  <a:srgbClr val="1E2530"/>
                </a:solidFill>
                <a:latin typeface="Cambria" panose="02040503050406030204" pitchFamily="34" charset="0"/>
                <a:ea typeface="Cambria" panose="02040503050406030204" pitchFamily="34" charset="-122"/>
                <a:cs typeface="Cambria" panose="02040503050406030204" pitchFamily="34" charset="-120"/>
              </a:rPr>
              <a:t>Expect — Always Generated</a:t>
            </a:r>
            <a:endParaRPr lang="en-US" sz="3400" dirty="0"/>
          </a:p>
        </p:txBody>
      </p:sp>
      <p:sp>
        <p:nvSpPr>
          <p:cNvPr id="4" name="Text 2"/>
          <p:cNvSpPr/>
          <p:nvPr/>
        </p:nvSpPr>
        <p:spPr>
          <a:xfrm>
            <a:off x="548640" y="1463040"/>
            <a:ext cx="10607040" cy="502920"/>
          </a:xfrm>
          <a:prstGeom prst="rect">
            <a:avLst/>
          </a:prstGeom>
          <a:noFill/>
        </p:spPr>
        <p:txBody>
          <a:bodyPr wrap="square" lIns="0" tIns="0" rIns="0" bIns="0" rtlCol="0" anchor="ctr"/>
          <a:lstStyle/>
          <a:p>
            <a:pPr marL="0" indent="0">
              <a:buNone/>
            </a:pPr>
            <a:r>
              <a:rPr lang="en-US" sz="1600" dirty="0">
                <a:solidFill>
                  <a:srgbClr val="5B6B79"/>
                </a:solidFill>
                <a:latin typeface="Calibri" panose="020F0502020204030204" pitchFamily="34" charset="0"/>
                <a:ea typeface="Calibri" panose="020F0502020204030204" pitchFamily="34" charset="-122"/>
                <a:cs typeface="Calibri" panose="020F0502020204030204" pitchFamily="34" charset="-120"/>
              </a:rPr>
              <a:t>Expect functions tell CMock exactly what call to look for — with which arguments, and (optionally) what to return.</a:t>
            </a:r>
            <a:endParaRPr lang="en-US" sz="1600" dirty="0"/>
          </a:p>
        </p:txBody>
      </p:sp>
      <p:graphicFrame>
        <p:nvGraphicFramePr>
          <p:cNvPr id="9" name="Table 0"/>
          <p:cNvGraphicFramePr>
            <a:graphicFrameLocks noGrp="1"/>
          </p:cNvGraphicFramePr>
          <p:nvPr/>
        </p:nvGraphicFramePr>
        <p:xfrm>
          <a:off x="548640" y="2103120"/>
          <a:ext cx="5943600" cy="2651760"/>
        </p:xfrm>
        <a:graphic>
          <a:graphicData uri="http://schemas.openxmlformats.org/drawingml/2006/table">
            <a:tbl>
              <a:tblPr/>
              <a:tblGrid>
                <a:gridCol w="2705100"/>
                <a:gridCol w="3238500"/>
              </a:tblGrid>
              <a:tr h="530352">
                <a:tc>
                  <a:txBody>
                    <a:bodyPr/>
                    <a:lstStyle/>
                    <a:p>
                      <a:pPr marL="0" indent="0">
                        <a:buNone/>
                      </a:pPr>
                      <a:r>
                        <a:rPr lang="en-US" sz="1400" b="1" dirty="0">
                          <a:solidFill>
                            <a:srgbClr val="FFFFFF"/>
                          </a:solidFill>
                        </a:rPr>
                        <a:t>Original Function</a:t>
                      </a:r>
                      <a:endParaRPr lang="en-US" sz="1400" dirty="0"/>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C7293"/>
                    </a:solidFill>
                  </a:tcPr>
                </a:tc>
                <a:tc>
                  <a:txBody>
                    <a:bodyPr/>
                    <a:lstStyle/>
                    <a:p>
                      <a:pPr marL="0" indent="0">
                        <a:buNone/>
                      </a:pPr>
                      <a:r>
                        <a:rPr lang="en-US" sz="1400" b="1" dirty="0">
                          <a:solidFill>
                            <a:srgbClr val="FFFFFF"/>
                          </a:solidFill>
                        </a:rPr>
                        <a:t>Generated Mock Function</a:t>
                      </a:r>
                      <a:endParaRPr lang="en-US" sz="1400" dirty="0"/>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C7293"/>
                    </a:solidFill>
                  </a:tcPr>
                </a:tc>
              </a:tr>
              <a:tr h="530352">
                <a:tc>
                  <a:txBody>
                    <a:bodyPr/>
                    <a:lstStyle/>
                    <a:p>
                      <a:pPr marL="0" indent="0">
                        <a:buNone/>
                      </a:pPr>
                      <a:r>
                        <a:rPr lang="en-US" sz="1400" dirty="0">
                          <a:solidFill>
                            <a:srgbClr val="1E2530"/>
                          </a:solidFill>
                          <a:latin typeface="Courier New" panose="02070309020205020404" pitchFamily="34" charset="0"/>
                          <a:ea typeface="Courier New" panose="02070309020205020404" pitchFamily="34" charset="-122"/>
                          <a:cs typeface="Courier New" panose="02070309020205020404" pitchFamily="34" charset="-120"/>
                        </a:rPr>
                        <a:t>void func(void)</a:t>
                      </a:r>
                      <a:endParaRPr lang="en-US" sz="1400" dirty="0">
                        <a:latin typeface="Courier New" panose="02070309020205020404" pitchFamily="34" charset="0"/>
                        <a:ea typeface="Courier New" panose="02070309020205020404" pitchFamily="34" charset="0"/>
                        <a:cs typeface="Courier New" panose="02070309020205020404" pitchFamily="34"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tcPr>
                </a:tc>
                <a:tc>
                  <a:txBody>
                    <a:bodyPr/>
                    <a:lstStyle/>
                    <a:p>
                      <a:pPr marL="0" indent="0">
                        <a:buNone/>
                      </a:pPr>
                      <a:r>
                        <a:rPr lang="en-US" sz="1400" b="1" dirty="0">
                          <a:solidFill>
                            <a:srgbClr val="065A82"/>
                          </a:solidFill>
                          <a:latin typeface="Courier New" panose="02070309020205020404" pitchFamily="34" charset="0"/>
                          <a:ea typeface="Courier New" panose="02070309020205020404" pitchFamily="34" charset="-122"/>
                          <a:cs typeface="Courier New" panose="02070309020205020404" pitchFamily="34" charset="-120"/>
                        </a:rPr>
                        <a:t>func_Expect(void)</a:t>
                      </a:r>
                      <a:endParaRPr lang="en-US" sz="1400" dirty="0">
                        <a:latin typeface="Courier New" panose="02070309020205020404" pitchFamily="34" charset="0"/>
                        <a:ea typeface="Courier New" panose="02070309020205020404" pitchFamily="34" charset="0"/>
                        <a:cs typeface="Courier New" panose="02070309020205020404" pitchFamily="34"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tcPr>
                </a:tc>
              </a:tr>
              <a:tr h="530352">
                <a:tc>
                  <a:txBody>
                    <a:bodyPr/>
                    <a:lstStyle/>
                    <a:p>
                      <a:pPr marL="0" indent="0">
                        <a:buNone/>
                      </a:pPr>
                      <a:r>
                        <a:rPr lang="en-US" sz="1400" dirty="0">
                          <a:solidFill>
                            <a:srgbClr val="1E2530"/>
                          </a:solidFill>
                          <a:latin typeface="Courier New" panose="02070309020205020404" pitchFamily="34" charset="0"/>
                          <a:ea typeface="Courier New" panose="02070309020205020404" pitchFamily="34" charset="-122"/>
                          <a:cs typeface="Courier New" panose="02070309020205020404" pitchFamily="34" charset="-120"/>
                        </a:rPr>
                        <a:t>void func(params)</a:t>
                      </a:r>
                      <a:endParaRPr lang="en-US" sz="1400" dirty="0">
                        <a:latin typeface="Courier New" panose="02070309020205020404" pitchFamily="34" charset="0"/>
                        <a:ea typeface="Courier New" panose="02070309020205020404" pitchFamily="34" charset="0"/>
                        <a:cs typeface="Courier New" panose="02070309020205020404" pitchFamily="34"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tcPr>
                </a:tc>
                <a:tc>
                  <a:txBody>
                    <a:bodyPr/>
                    <a:lstStyle/>
                    <a:p>
                      <a:pPr marL="0" indent="0">
                        <a:buNone/>
                      </a:pPr>
                      <a:r>
                        <a:rPr lang="en-US" sz="1400" b="1" dirty="0">
                          <a:solidFill>
                            <a:srgbClr val="065A82"/>
                          </a:solidFill>
                          <a:latin typeface="Courier New" panose="02070309020205020404" pitchFamily="34" charset="0"/>
                          <a:ea typeface="Courier New" panose="02070309020205020404" pitchFamily="34" charset="-122"/>
                          <a:cs typeface="Courier New" panose="02070309020205020404" pitchFamily="34" charset="-120"/>
                        </a:rPr>
                        <a:t>func_Expect(expected_params)</a:t>
                      </a:r>
                      <a:endParaRPr lang="en-US" sz="1400" dirty="0">
                        <a:latin typeface="Courier New" panose="02070309020205020404" pitchFamily="34" charset="0"/>
                        <a:ea typeface="Courier New" panose="02070309020205020404" pitchFamily="34" charset="0"/>
                        <a:cs typeface="Courier New" panose="02070309020205020404" pitchFamily="34"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tcPr>
                </a:tc>
              </a:tr>
              <a:tr h="530352">
                <a:tc>
                  <a:txBody>
                    <a:bodyPr/>
                    <a:lstStyle/>
                    <a:p>
                      <a:pPr marL="0" indent="0">
                        <a:buNone/>
                      </a:pPr>
                      <a:r>
                        <a:rPr lang="en-US" sz="1400" dirty="0">
                          <a:solidFill>
                            <a:srgbClr val="1E2530"/>
                          </a:solidFill>
                          <a:latin typeface="Courier New" panose="02070309020205020404" pitchFamily="34" charset="0"/>
                          <a:ea typeface="Courier New" panose="02070309020205020404" pitchFamily="34" charset="-122"/>
                          <a:cs typeface="Courier New" panose="02070309020205020404" pitchFamily="34" charset="-120"/>
                        </a:rPr>
                        <a:t>retval func(void)</a:t>
                      </a:r>
                      <a:endParaRPr lang="en-US" sz="1400" dirty="0">
                        <a:latin typeface="Courier New" panose="02070309020205020404" pitchFamily="34" charset="0"/>
                        <a:ea typeface="Courier New" panose="02070309020205020404" pitchFamily="34" charset="0"/>
                        <a:cs typeface="Courier New" panose="02070309020205020404" pitchFamily="34"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tcPr>
                </a:tc>
                <a:tc>
                  <a:txBody>
                    <a:bodyPr/>
                    <a:lstStyle/>
                    <a:p>
                      <a:pPr marL="0" indent="0">
                        <a:buNone/>
                      </a:pPr>
                      <a:r>
                        <a:rPr lang="en-US" sz="1400" b="1" dirty="0">
                          <a:solidFill>
                            <a:srgbClr val="065A82"/>
                          </a:solidFill>
                          <a:latin typeface="Courier New" panose="02070309020205020404" pitchFamily="34" charset="0"/>
                          <a:ea typeface="Courier New" panose="02070309020205020404" pitchFamily="34" charset="-122"/>
                          <a:cs typeface="Courier New" panose="02070309020205020404" pitchFamily="34" charset="-120"/>
                        </a:rPr>
                        <a:t>func_ExpectAndReturn(retval)</a:t>
                      </a:r>
                      <a:endParaRPr lang="en-US" sz="1400" dirty="0">
                        <a:latin typeface="Courier New" panose="02070309020205020404" pitchFamily="34" charset="0"/>
                        <a:ea typeface="Courier New" panose="02070309020205020404" pitchFamily="34" charset="0"/>
                        <a:cs typeface="Courier New" panose="02070309020205020404" pitchFamily="34"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tcPr>
                </a:tc>
              </a:tr>
              <a:tr h="530352">
                <a:tc>
                  <a:txBody>
                    <a:bodyPr/>
                    <a:lstStyle/>
                    <a:p>
                      <a:pPr marL="0" indent="0">
                        <a:buNone/>
                      </a:pPr>
                      <a:r>
                        <a:rPr lang="en-US" sz="1400" dirty="0">
                          <a:solidFill>
                            <a:srgbClr val="1E2530"/>
                          </a:solidFill>
                          <a:latin typeface="Courier New" panose="02070309020205020404" pitchFamily="34" charset="0"/>
                          <a:ea typeface="Courier New" panose="02070309020205020404" pitchFamily="34" charset="-122"/>
                          <a:cs typeface="Courier New" panose="02070309020205020404" pitchFamily="34" charset="-120"/>
                        </a:rPr>
                        <a:t>retval func(params)</a:t>
                      </a:r>
                      <a:endParaRPr lang="en-US" sz="1400" dirty="0">
                        <a:latin typeface="Courier New" panose="02070309020205020404" pitchFamily="34" charset="0"/>
                        <a:ea typeface="Courier New" panose="02070309020205020404" pitchFamily="34" charset="0"/>
                        <a:cs typeface="Courier New" panose="02070309020205020404" pitchFamily="34"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tcPr>
                </a:tc>
                <a:tc>
                  <a:txBody>
                    <a:bodyPr/>
                    <a:lstStyle/>
                    <a:p>
                      <a:pPr marL="0" indent="0">
                        <a:buNone/>
                      </a:pPr>
                      <a:r>
                        <a:rPr lang="en-US" sz="1400" b="1" dirty="0">
                          <a:solidFill>
                            <a:srgbClr val="065A82"/>
                          </a:solidFill>
                          <a:latin typeface="Courier New" panose="02070309020205020404" pitchFamily="34" charset="0"/>
                          <a:ea typeface="Courier New" panose="02070309020205020404" pitchFamily="34" charset="-122"/>
                          <a:cs typeface="Courier New" panose="02070309020205020404" pitchFamily="34" charset="-120"/>
                        </a:rPr>
                        <a:t>func_ExpectAndReturn(params, retval)</a:t>
                      </a:r>
                      <a:endParaRPr lang="en-US" sz="1400" dirty="0">
                        <a:latin typeface="Courier New" panose="02070309020205020404" pitchFamily="34" charset="0"/>
                        <a:ea typeface="Courier New" panose="02070309020205020404" pitchFamily="34" charset="0"/>
                        <a:cs typeface="Courier New" panose="02070309020205020404" pitchFamily="34" charset="0"/>
                      </a:endParaRPr>
                    </a:p>
                  </a:txBody>
                  <a:tcPr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tcPr>
                </a:tc>
              </a:tr>
            </a:tbl>
          </a:graphicData>
        </a:graphic>
      </p:graphicFrame>
      <p:sp>
        <p:nvSpPr>
          <p:cNvPr id="6" name="Shape 3"/>
          <p:cNvSpPr/>
          <p:nvPr/>
        </p:nvSpPr>
        <p:spPr>
          <a:xfrm>
            <a:off x="6720840" y="2103120"/>
            <a:ext cx="4892040" cy="3749040"/>
          </a:xfrm>
          <a:prstGeom prst="roundRect">
            <a:avLst>
              <a:gd name="adj" fmla="val 2195"/>
            </a:avLst>
          </a:prstGeom>
          <a:solidFill>
            <a:srgbClr val="1B2436"/>
          </a:solidFill>
        </p:spPr>
      </p:sp>
      <p:sp>
        <p:nvSpPr>
          <p:cNvPr id="7" name="Text 4"/>
          <p:cNvSpPr/>
          <p:nvPr/>
        </p:nvSpPr>
        <p:spPr>
          <a:xfrm>
            <a:off x="6995160" y="2286000"/>
            <a:ext cx="3657600" cy="365760"/>
          </a:xfrm>
          <a:prstGeom prst="rect">
            <a:avLst/>
          </a:prstGeom>
          <a:noFill/>
        </p:spPr>
        <p:txBody>
          <a:bodyPr wrap="square" lIns="0" tIns="0" rIns="0" bIns="0" rtlCol="0" anchor="ctr"/>
          <a:lstStyle/>
          <a:p>
            <a:pPr marL="0" indent="0">
              <a:buNone/>
            </a:pPr>
            <a:r>
              <a:rPr lang="en-US" sz="1600" b="1" dirty="0">
                <a:solidFill>
                  <a:srgbClr val="F2A93B"/>
                </a:solidFill>
                <a:latin typeface="Cambria" panose="02040503050406030204" pitchFamily="34" charset="0"/>
                <a:ea typeface="Cambria" panose="02040503050406030204" pitchFamily="34" charset="-122"/>
                <a:cs typeface="Cambria" panose="02040503050406030204" pitchFamily="34" charset="-120"/>
              </a:rPr>
              <a:t>Example</a:t>
            </a:r>
            <a:endParaRPr lang="en-US" sz="1600" dirty="0"/>
          </a:p>
        </p:txBody>
      </p:sp>
      <p:sp>
        <p:nvSpPr>
          <p:cNvPr id="8" name="Text 5"/>
          <p:cNvSpPr/>
          <p:nvPr/>
        </p:nvSpPr>
        <p:spPr>
          <a:xfrm>
            <a:off x="6995160" y="2697480"/>
            <a:ext cx="4343400" cy="3017520"/>
          </a:xfrm>
          <a:prstGeom prst="rect">
            <a:avLst/>
          </a:prstGeom>
          <a:noFill/>
        </p:spPr>
        <p:txBody>
          <a:bodyPr wrap="square" lIns="0" tIns="0" rIns="0" bIns="0" rtlCol="0" anchor="ctr"/>
          <a:lstStyle/>
          <a:p>
            <a:pPr marL="0" indent="0">
              <a:lnSpc>
                <a:spcPct val="120000"/>
              </a:lnSpc>
              <a:buNone/>
            </a:pPr>
            <a:r>
              <a:rPr lang="en-US" sz="135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int gpio_num = 10;</a:t>
            </a:r>
            <a:endParaRPr lang="en-US" sz="1350" dirty="0"/>
          </a:p>
          <a:p>
            <a:pPr marL="0" indent="0">
              <a:lnSpc>
                <a:spcPct val="120000"/>
              </a:lnSpc>
              <a:buNone/>
            </a:pPr>
            <a:endParaRPr lang="en-US" sz="1350" dirty="0"/>
          </a:p>
          <a:p>
            <a:pPr marL="0" indent="0">
              <a:lnSpc>
                <a:spcPct val="120000"/>
              </a:lnSpc>
              <a:buNone/>
            </a:pPr>
            <a:r>
              <a:rPr lang="en-US" sz="135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void test_gpio_pass(void) {</a:t>
            </a:r>
            <a:endParaRPr lang="en-US" sz="1350" dirty="0"/>
          </a:p>
          <a:p>
            <a:pPr marL="0" indent="0">
              <a:lnSpc>
                <a:spcPct val="120000"/>
              </a:lnSpc>
              <a:buNone/>
            </a:pPr>
            <a:r>
              <a:rPr lang="en-US" sz="135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  gpio_read_ExpectAndReturn(10, 1);</a:t>
            </a:r>
            <a:endParaRPr lang="en-US" sz="1350" dirty="0"/>
          </a:p>
          <a:p>
            <a:pPr marL="0" indent="0">
              <a:lnSpc>
                <a:spcPct val="120000"/>
              </a:lnSpc>
              <a:buNone/>
            </a:pPr>
            <a:r>
              <a:rPr lang="en-US" sz="135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  Test_gpio();   // passes</a:t>
            </a:r>
            <a:endParaRPr lang="en-US" sz="1350" dirty="0"/>
          </a:p>
          <a:p>
            <a:pPr marL="0" indent="0">
              <a:lnSpc>
                <a:spcPct val="120000"/>
              </a:lnSpc>
              <a:buNone/>
            </a:pPr>
            <a:r>
              <a:rPr lang="en-US" sz="135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a:t>
            </a:r>
            <a:endParaRPr lang="en-US" sz="1350" dirty="0"/>
          </a:p>
          <a:p>
            <a:pPr marL="0" indent="0">
              <a:lnSpc>
                <a:spcPct val="120000"/>
              </a:lnSpc>
              <a:buNone/>
            </a:pPr>
            <a:endParaRPr lang="en-US" sz="1350" dirty="0"/>
          </a:p>
          <a:p>
            <a:pPr marL="0" indent="0">
              <a:lnSpc>
                <a:spcPct val="120000"/>
              </a:lnSpc>
              <a:buNone/>
            </a:pPr>
            <a:r>
              <a:rPr lang="en-US" sz="135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void test_gpio_fail(void) {</a:t>
            </a:r>
            <a:endParaRPr lang="en-US" sz="1350" dirty="0"/>
          </a:p>
          <a:p>
            <a:pPr marL="0" indent="0">
              <a:lnSpc>
                <a:spcPct val="120000"/>
              </a:lnSpc>
              <a:buNone/>
            </a:pPr>
            <a:r>
              <a:rPr lang="en-US" sz="135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  gpio_read_ExpectAndReturn(12, 1);</a:t>
            </a:r>
            <a:endParaRPr lang="en-US" sz="1350" dirty="0"/>
          </a:p>
          <a:p>
            <a:pPr marL="0" indent="0">
              <a:lnSpc>
                <a:spcPct val="120000"/>
              </a:lnSpc>
              <a:buNone/>
            </a:pPr>
            <a:r>
              <a:rPr lang="en-US" sz="135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  Test_gpio();   // fails: arg mismatch</a:t>
            </a:r>
            <a:endParaRPr lang="en-US" sz="1350" dirty="0"/>
          </a:p>
          <a:p>
            <a:pPr marL="0" indent="0">
              <a:lnSpc>
                <a:spcPct val="120000"/>
              </a:lnSpc>
              <a:buNone/>
            </a:pPr>
            <a:r>
              <a:rPr lang="en-US" sz="135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a:t>
            </a:r>
            <a:endParaRPr lang="en-US" sz="1350" dirty="0"/>
          </a:p>
        </p:txBody>
      </p:sp>
      <p:sp>
        <p:nvSpPr>
          <p:cNvPr id="5" name="Text 6"/>
          <p:cNvSpPr/>
          <p:nvPr/>
        </p:nvSpPr>
        <p:spPr>
          <a:xfrm>
            <a:off x="548640" y="5029200"/>
            <a:ext cx="5943600" cy="640080"/>
          </a:xfrm>
          <a:prstGeom prst="rect">
            <a:avLst/>
          </a:prstGeom>
          <a:noFill/>
        </p:spPr>
        <p:txBody>
          <a:bodyPr wrap="square" lIns="0" tIns="0" rIns="0" bIns="0" rtlCol="0" anchor="t"/>
          <a:lstStyle/>
          <a:p>
            <a:pPr marL="0" indent="0">
              <a:buNone/>
            </a:pPr>
            <a:r>
              <a:rPr lang="en-US" sz="1450" b="1" dirty="0">
                <a:solidFill>
                  <a:srgbClr val="1E2530"/>
                </a:solidFill>
              </a:rPr>
              <a:t>Key point:  </a:t>
            </a:r>
            <a:r>
              <a:rPr lang="en-US" sz="1450" dirty="0">
                <a:solidFill>
                  <a:srgbClr val="5B6B79"/>
                </a:solidFill>
              </a:rPr>
              <a:t>Expect variants exist by default — no plugin configuration required.</a:t>
            </a:r>
            <a:endParaRPr lang="en-US" sz="1450" dirty="0"/>
          </a:p>
        </p:txBody>
      </p:sp>
      <p:sp>
        <p:nvSpPr>
          <p:cNvPr id="10" name="Text 7"/>
          <p:cNvSpPr/>
          <p:nvPr/>
        </p:nvSpPr>
        <p:spPr>
          <a:xfrm>
            <a:off x="457200" y="6473952"/>
            <a:ext cx="5486400" cy="274320"/>
          </a:xfrm>
          <a:prstGeom prst="rect">
            <a:avLst/>
          </a:prstGeom>
          <a:noFill/>
        </p:spPr>
        <p:txBody>
          <a:bodyPr wrap="square" lIns="0" tIns="0" rIns="0" bIns="0" rtlCol="0" anchor="ctr"/>
          <a:lstStyle/>
          <a:p>
            <a:pPr marL="0" indent="0" algn="l">
              <a:buNone/>
            </a:pPr>
            <a:r>
              <a:rPr lang="en-US" sz="1050" dirty="0">
                <a:solidFill>
                  <a:srgbClr val="5B6B79"/>
                </a:solidFill>
                <a:latin typeface="Calibri" panose="020F0502020204030204" pitchFamily="34" charset="0"/>
                <a:ea typeface="Calibri" panose="020F0502020204030204" pitchFamily="34" charset="-122"/>
                <a:cs typeface="Calibri" panose="020F0502020204030204" pitchFamily="34" charset="-120"/>
              </a:rPr>
              <a:t>Mocking in Embedded C  |  CMock</a:t>
            </a:r>
            <a:endParaRPr lang="en-US" sz="1050" dirty="0"/>
          </a:p>
        </p:txBody>
      </p:sp>
      <p:sp>
        <p:nvSpPr>
          <p:cNvPr id="11" name="Text 8"/>
          <p:cNvSpPr/>
          <p:nvPr/>
        </p:nvSpPr>
        <p:spPr>
          <a:xfrm>
            <a:off x="11247120" y="6473952"/>
            <a:ext cx="457200" cy="274320"/>
          </a:xfrm>
          <a:prstGeom prst="rect">
            <a:avLst/>
          </a:prstGeom>
          <a:noFill/>
        </p:spPr>
        <p:txBody>
          <a:bodyPr wrap="square" lIns="0" tIns="0" rIns="0" bIns="0" rtlCol="0" anchor="ctr"/>
          <a:lstStyle/>
          <a:p>
            <a:pPr marL="0" indent="0" algn="r">
              <a:buNone/>
            </a:pPr>
            <a:r>
              <a:rPr lang="en-US" sz="1050" dirty="0">
                <a:solidFill>
                  <a:srgbClr val="5B6B79"/>
                </a:solidFill>
                <a:latin typeface="Calibri" panose="020F0502020204030204" pitchFamily="34" charset="0"/>
                <a:ea typeface="Calibri" panose="020F0502020204030204" pitchFamily="34" charset="-122"/>
                <a:cs typeface="Calibri" panose="020F0502020204030204" pitchFamily="34" charset="-120"/>
              </a:rPr>
              <a:t>8</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88010" y="327025"/>
            <a:ext cx="11047730" cy="6082665"/>
          </a:xfrm>
          <a:prstGeom prst="rect">
            <a:avLst/>
          </a:prstGeom>
          <a:noFill/>
        </p:spPr>
        <p:txBody>
          <a:bodyPr wrap="square" rtlCol="0">
            <a:noAutofit/>
          </a:bodyPr>
          <a:p>
            <a:r>
              <a:rPr lang="en-US" altLang="en-US" b="1"/>
              <a:t>Expect</a:t>
            </a:r>
            <a:endParaRPr lang="en-US" altLang="en-US" b="1"/>
          </a:p>
          <a:p>
            <a:r>
              <a:rPr lang="en-US" altLang="en-US"/>
              <a:t>The expect functions are always generated.</a:t>
            </a:r>
            <a:endParaRPr lang="en-US" altLang="en-US"/>
          </a:p>
          <a:p>
            <a:endParaRPr lang="en-US" altLang="en-US"/>
          </a:p>
          <a:p>
            <a:endParaRPr lang="en-US" altLang="en-US"/>
          </a:p>
        </p:txBody>
      </p:sp>
      <p:pic>
        <p:nvPicPr>
          <p:cNvPr id="3" name="Picture 2"/>
          <p:cNvPicPr>
            <a:picLocks noChangeAspect="1"/>
          </p:cNvPicPr>
          <p:nvPr/>
        </p:nvPicPr>
        <p:blipFill>
          <a:blip r:embed="rId1"/>
          <a:stretch>
            <a:fillRect/>
          </a:stretch>
        </p:blipFill>
        <p:spPr>
          <a:xfrm>
            <a:off x="588645" y="1162685"/>
            <a:ext cx="10489565" cy="48196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81380" y="516255"/>
            <a:ext cx="11099800" cy="5045075"/>
          </a:xfrm>
          <a:prstGeom prst="rect">
            <a:avLst/>
          </a:prstGeom>
          <a:noFill/>
        </p:spPr>
        <p:txBody>
          <a:bodyPr wrap="square" rtlCol="0">
            <a:noAutofit/>
          </a:bodyPr>
          <a:p>
            <a:r>
              <a:rPr lang="en-US"/>
              <a:t>TEST CASE:</a:t>
            </a:r>
            <a:br>
              <a:rPr lang="en-US"/>
            </a:br>
            <a:br>
              <a:rPr lang="en-US"/>
            </a:br>
            <a:endParaRPr lang="en-US"/>
          </a:p>
        </p:txBody>
      </p:sp>
      <p:pic>
        <p:nvPicPr>
          <p:cNvPr id="3" name="Picture 2"/>
          <p:cNvPicPr>
            <a:picLocks noChangeAspect="1"/>
          </p:cNvPicPr>
          <p:nvPr/>
        </p:nvPicPr>
        <p:blipFill>
          <a:blip r:embed="rId1"/>
          <a:stretch>
            <a:fillRect/>
          </a:stretch>
        </p:blipFill>
        <p:spPr>
          <a:xfrm>
            <a:off x="899160" y="1079500"/>
            <a:ext cx="9827895" cy="45110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500" b="1" kern="0" spc="200" dirty="0">
                <a:solidFill>
                  <a:srgbClr val="1C7293"/>
                </a:solidFill>
                <a:latin typeface="Calibri" panose="020F0502020204030204" pitchFamily="34" charset="0"/>
                <a:ea typeface="Calibri" panose="020F0502020204030204" pitchFamily="34" charset="-122"/>
                <a:cs typeface="Calibri" panose="020F0502020204030204" pitchFamily="34" charset="-120"/>
              </a:rPr>
              <a:t>VARIANTS 2 &amp; 3 OF 6</a:t>
            </a:r>
            <a:endParaRPr lang="en-US" sz="1500" dirty="0"/>
          </a:p>
        </p:txBody>
      </p:sp>
      <p:sp>
        <p:nvSpPr>
          <p:cNvPr id="3" name="Text 1"/>
          <p:cNvSpPr/>
          <p:nvPr/>
        </p:nvSpPr>
        <p:spPr>
          <a:xfrm>
            <a:off x="548640" y="658368"/>
            <a:ext cx="10789920" cy="685800"/>
          </a:xfrm>
          <a:prstGeom prst="rect">
            <a:avLst/>
          </a:prstGeom>
          <a:noFill/>
        </p:spPr>
        <p:txBody>
          <a:bodyPr wrap="square" lIns="0" tIns="0" rIns="0" bIns="0" rtlCol="0" anchor="ctr"/>
          <a:lstStyle/>
          <a:p>
            <a:pPr marL="0" indent="0">
              <a:buNone/>
            </a:pPr>
            <a:r>
              <a:rPr lang="en-US" sz="3400" b="1" dirty="0">
                <a:solidFill>
                  <a:srgbClr val="1E2530"/>
                </a:solidFill>
                <a:latin typeface="Cambria" panose="02040503050406030204" pitchFamily="34" charset="0"/>
                <a:ea typeface="Cambria" panose="02040503050406030204" pitchFamily="34" charset="-122"/>
                <a:cs typeface="Cambria" panose="02040503050406030204" pitchFamily="34" charset="-120"/>
              </a:rPr>
              <a:t>Ignore Arguments  &amp;  Array</a:t>
            </a:r>
            <a:endParaRPr lang="en-US" sz="3400" dirty="0"/>
          </a:p>
        </p:txBody>
      </p:sp>
      <p:sp>
        <p:nvSpPr>
          <p:cNvPr id="4" name="Shape 2"/>
          <p:cNvSpPr/>
          <p:nvPr/>
        </p:nvSpPr>
        <p:spPr>
          <a:xfrm>
            <a:off x="548640" y="1554480"/>
            <a:ext cx="5440680" cy="4434840"/>
          </a:xfrm>
          <a:prstGeom prst="roundRect">
            <a:avLst>
              <a:gd name="adj" fmla="val 1856"/>
            </a:avLst>
          </a:prstGeom>
          <a:solidFill>
            <a:srgbClr val="FFFFFF"/>
          </a:solidFill>
          <a:effectLst>
            <a:outerShdw blurRad="101600" dist="38100" dir="5400000" algn="bl" rotWithShape="0">
              <a:srgbClr val="000000">
                <a:alpha val="8000"/>
              </a:srgbClr>
            </a:outerShdw>
          </a:effectLst>
        </p:spPr>
      </p:sp>
      <p:sp>
        <p:nvSpPr>
          <p:cNvPr id="5" name="Shape 3"/>
          <p:cNvSpPr/>
          <p:nvPr/>
        </p:nvSpPr>
        <p:spPr>
          <a:xfrm>
            <a:off x="822960" y="1783080"/>
            <a:ext cx="548640" cy="548640"/>
          </a:xfrm>
          <a:prstGeom prst="ellipse">
            <a:avLst/>
          </a:prstGeom>
          <a:solidFill>
            <a:srgbClr val="1C7293"/>
          </a:solidFill>
        </p:spPr>
      </p:sp>
      <p:pic>
        <p:nvPicPr>
          <p:cNvPr id="6" name="Image 0" descr="preencoded.png"/>
          <p:cNvPicPr>
            <a:picLocks noChangeAspect="1"/>
          </p:cNvPicPr>
          <p:nvPr/>
        </p:nvPicPr>
        <p:blipFill>
          <a:blip r:embed="rId1"/>
          <a:stretch>
            <a:fillRect/>
          </a:stretch>
        </p:blipFill>
        <p:spPr>
          <a:xfrm>
            <a:off x="941832" y="1901952"/>
            <a:ext cx="310896" cy="310896"/>
          </a:xfrm>
          <a:prstGeom prst="rect">
            <a:avLst/>
          </a:prstGeom>
        </p:spPr>
      </p:pic>
      <p:sp>
        <p:nvSpPr>
          <p:cNvPr id="7" name="Text 4"/>
          <p:cNvSpPr/>
          <p:nvPr/>
        </p:nvSpPr>
        <p:spPr>
          <a:xfrm>
            <a:off x="1508760" y="1783080"/>
            <a:ext cx="4297680" cy="548640"/>
          </a:xfrm>
          <a:prstGeom prst="rect">
            <a:avLst/>
          </a:prstGeom>
          <a:noFill/>
        </p:spPr>
        <p:txBody>
          <a:bodyPr wrap="square" lIns="0" tIns="0" rIns="0" bIns="0" rtlCol="0" anchor="ctr"/>
          <a:lstStyle/>
          <a:p>
            <a:pPr marL="0" indent="0">
              <a:buNone/>
            </a:pPr>
            <a:r>
              <a:rPr lang="en-US" sz="1900" b="1" dirty="0">
                <a:solidFill>
                  <a:srgbClr val="1E2530"/>
                </a:solidFill>
                <a:latin typeface="Cambria" panose="02040503050406030204" pitchFamily="34" charset="0"/>
                <a:ea typeface="Cambria" panose="02040503050406030204" pitchFamily="34" charset="-122"/>
                <a:cs typeface="Cambria" panose="02040503050406030204" pitchFamily="34" charset="-120"/>
              </a:rPr>
              <a:t>Ignore Arguments</a:t>
            </a:r>
            <a:endParaRPr lang="en-US" sz="1900" dirty="0"/>
          </a:p>
        </p:txBody>
      </p:sp>
      <p:sp>
        <p:nvSpPr>
          <p:cNvPr id="8" name="Text 5"/>
          <p:cNvSpPr/>
          <p:nvPr/>
        </p:nvSpPr>
        <p:spPr>
          <a:xfrm>
            <a:off x="822960" y="2468880"/>
            <a:ext cx="4937760" cy="365760"/>
          </a:xfrm>
          <a:prstGeom prst="rect">
            <a:avLst/>
          </a:prstGeom>
          <a:noFill/>
        </p:spPr>
        <p:txBody>
          <a:bodyPr wrap="square" lIns="0" tIns="0" rIns="0" bIns="0" rtlCol="0" anchor="ctr"/>
          <a:lstStyle/>
          <a:p>
            <a:pPr marL="0" indent="0">
              <a:buNone/>
            </a:pPr>
            <a:r>
              <a:rPr lang="en-US" sz="1400" dirty="0">
                <a:solidFill>
                  <a:srgbClr val="5B6B79"/>
                </a:solidFill>
              </a:rPr>
              <a:t>Requires </a:t>
            </a:r>
            <a:r>
              <a:rPr lang="en-US" sz="1400" b="1" dirty="0">
                <a:solidFill>
                  <a:srgbClr val="065A82"/>
                </a:solidFill>
                <a:latin typeface="Courier New" panose="02070309020205020404" pitchFamily="34" charset="0"/>
                <a:ea typeface="Courier New" panose="02070309020205020404" pitchFamily="34" charset="-122"/>
                <a:cs typeface="Courier New" panose="02070309020205020404" pitchFamily="34" charset="-120"/>
              </a:rPr>
              <a:t>ignore_arg</a:t>
            </a:r>
            <a:r>
              <a:rPr lang="en-US" sz="1400" dirty="0">
                <a:solidFill>
                  <a:srgbClr val="5B6B79"/>
                </a:solidFill>
              </a:rPr>
              <a:t> plugin in project.yml</a:t>
            </a:r>
            <a:endParaRPr lang="en-US" sz="1400" dirty="0"/>
          </a:p>
        </p:txBody>
      </p:sp>
      <p:sp>
        <p:nvSpPr>
          <p:cNvPr id="9" name="Text 6"/>
          <p:cNvSpPr/>
          <p:nvPr/>
        </p:nvSpPr>
        <p:spPr>
          <a:xfrm>
            <a:off x="822960" y="2880360"/>
            <a:ext cx="4937760" cy="914400"/>
          </a:xfrm>
          <a:prstGeom prst="rect">
            <a:avLst/>
          </a:prstGeom>
          <a:noFill/>
        </p:spPr>
        <p:txBody>
          <a:bodyPr wrap="square" lIns="0" tIns="0" rIns="0" bIns="0" rtlCol="0" anchor="ctr"/>
          <a:lstStyle/>
          <a:p>
            <a:pPr marL="0" indent="0">
              <a:lnSpc>
                <a:spcPct val="118000"/>
              </a:lnSpc>
              <a:buNone/>
            </a:pPr>
            <a:r>
              <a:rPr lang="en-US" sz="1450" dirty="0">
                <a:solidFill>
                  <a:srgbClr val="1E2530"/>
                </a:solidFill>
                <a:latin typeface="Calibri" panose="020F0502020204030204" pitchFamily="34" charset="0"/>
                <a:ea typeface="Calibri" panose="020F0502020204030204" pitchFamily="34" charset="-122"/>
                <a:cs typeface="Calibri" panose="020F0502020204030204" pitchFamily="34" charset="-120"/>
              </a:rPr>
              <a:t>Skips checking one argument while an Expect variant still checks the rest. Useful when an argument is a pointer meant to be filled in by the function.</a:t>
            </a:r>
            <a:endParaRPr lang="en-US" sz="1450" dirty="0"/>
          </a:p>
        </p:txBody>
      </p:sp>
      <p:sp>
        <p:nvSpPr>
          <p:cNvPr id="10" name="Shape 7"/>
          <p:cNvSpPr/>
          <p:nvPr/>
        </p:nvSpPr>
        <p:spPr>
          <a:xfrm>
            <a:off x="822960" y="3886200"/>
            <a:ext cx="4892040" cy="1783080"/>
          </a:xfrm>
          <a:prstGeom prst="roundRect">
            <a:avLst>
              <a:gd name="adj" fmla="val 3077"/>
            </a:avLst>
          </a:prstGeom>
          <a:solidFill>
            <a:srgbClr val="1B2436"/>
          </a:solidFill>
        </p:spPr>
      </p:sp>
      <p:sp>
        <p:nvSpPr>
          <p:cNvPr id="11" name="Text 8"/>
          <p:cNvSpPr/>
          <p:nvPr/>
        </p:nvSpPr>
        <p:spPr>
          <a:xfrm>
            <a:off x="1051560" y="4069080"/>
            <a:ext cx="4480560" cy="1463040"/>
          </a:xfrm>
          <a:prstGeom prst="rect">
            <a:avLst/>
          </a:prstGeom>
          <a:noFill/>
        </p:spPr>
        <p:txBody>
          <a:bodyPr wrap="square" lIns="0" tIns="0" rIns="0" bIns="0" rtlCol="0" anchor="ctr"/>
          <a:lstStyle/>
          <a:p>
            <a:pPr marL="0" indent="0">
              <a:lnSpc>
                <a:spcPct val="125000"/>
              </a:lnSpc>
              <a:buNone/>
            </a:pPr>
            <a:r>
              <a:rPr lang="en-US" sz="130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gpio_read_ExpectAndReturn(15, 1);</a:t>
            </a:r>
            <a:endParaRPr lang="en-US" sz="1300" dirty="0"/>
          </a:p>
          <a:p>
            <a:pPr marL="0" indent="0">
              <a:lnSpc>
                <a:spcPct val="125000"/>
              </a:lnSpc>
              <a:buNone/>
            </a:pPr>
            <a:r>
              <a:rPr lang="en-US" sz="130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gpio_read_IgnoreArg_gpio_num();</a:t>
            </a:r>
            <a:endParaRPr lang="en-US" sz="1300" dirty="0"/>
          </a:p>
          <a:p>
            <a:pPr marL="0" indent="0">
              <a:lnSpc>
                <a:spcPct val="125000"/>
              </a:lnSpc>
              <a:buNone/>
            </a:pPr>
            <a:endParaRPr lang="en-US" sz="1300" dirty="0"/>
          </a:p>
          <a:p>
            <a:pPr marL="0" indent="0">
              <a:lnSpc>
                <a:spcPct val="125000"/>
              </a:lnSpc>
              <a:buNone/>
            </a:pPr>
            <a:r>
              <a:rPr lang="en-US" sz="130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Test_gpio();  // passes — arg not checked</a:t>
            </a:r>
            <a:endParaRPr lang="en-US" sz="1300" dirty="0"/>
          </a:p>
        </p:txBody>
      </p:sp>
      <p:sp>
        <p:nvSpPr>
          <p:cNvPr id="12" name="Shape 9"/>
          <p:cNvSpPr/>
          <p:nvPr/>
        </p:nvSpPr>
        <p:spPr>
          <a:xfrm>
            <a:off x="6172200" y="1554480"/>
            <a:ext cx="5440680" cy="4434840"/>
          </a:xfrm>
          <a:prstGeom prst="roundRect">
            <a:avLst>
              <a:gd name="adj" fmla="val 1856"/>
            </a:avLst>
          </a:prstGeom>
          <a:solidFill>
            <a:srgbClr val="FFFFFF"/>
          </a:solidFill>
          <a:effectLst>
            <a:outerShdw blurRad="101600" dist="38100" dir="5400000" algn="bl" rotWithShape="0">
              <a:srgbClr val="000000">
                <a:alpha val="8000"/>
              </a:srgbClr>
            </a:outerShdw>
          </a:effectLst>
        </p:spPr>
      </p:sp>
      <p:sp>
        <p:nvSpPr>
          <p:cNvPr id="13" name="Shape 10"/>
          <p:cNvSpPr/>
          <p:nvPr/>
        </p:nvSpPr>
        <p:spPr>
          <a:xfrm>
            <a:off x="6446520" y="1783080"/>
            <a:ext cx="548640" cy="548640"/>
          </a:xfrm>
          <a:prstGeom prst="ellipse">
            <a:avLst/>
          </a:prstGeom>
          <a:solidFill>
            <a:srgbClr val="065A82"/>
          </a:solidFill>
        </p:spPr>
      </p:sp>
      <p:pic>
        <p:nvPicPr>
          <p:cNvPr id="14" name="Image 1" descr="preencoded.png"/>
          <p:cNvPicPr>
            <a:picLocks noChangeAspect="1"/>
          </p:cNvPicPr>
          <p:nvPr/>
        </p:nvPicPr>
        <p:blipFill>
          <a:blip r:embed="rId2"/>
          <a:stretch>
            <a:fillRect/>
          </a:stretch>
        </p:blipFill>
        <p:spPr>
          <a:xfrm>
            <a:off x="6565392" y="1901952"/>
            <a:ext cx="310896" cy="310896"/>
          </a:xfrm>
          <a:prstGeom prst="rect">
            <a:avLst/>
          </a:prstGeom>
        </p:spPr>
      </p:pic>
      <p:sp>
        <p:nvSpPr>
          <p:cNvPr id="15" name="Text 11"/>
          <p:cNvSpPr/>
          <p:nvPr/>
        </p:nvSpPr>
        <p:spPr>
          <a:xfrm>
            <a:off x="7132320" y="1783080"/>
            <a:ext cx="4297680" cy="548640"/>
          </a:xfrm>
          <a:prstGeom prst="rect">
            <a:avLst/>
          </a:prstGeom>
          <a:noFill/>
        </p:spPr>
        <p:txBody>
          <a:bodyPr wrap="square" lIns="0" tIns="0" rIns="0" bIns="0" rtlCol="0" anchor="ctr"/>
          <a:lstStyle/>
          <a:p>
            <a:pPr marL="0" indent="0">
              <a:buNone/>
            </a:pPr>
            <a:r>
              <a:rPr lang="en-US" sz="1900" b="1" dirty="0">
                <a:solidFill>
                  <a:srgbClr val="1E2530"/>
                </a:solidFill>
                <a:latin typeface="Cambria" panose="02040503050406030204" pitchFamily="34" charset="0"/>
                <a:ea typeface="Cambria" panose="02040503050406030204" pitchFamily="34" charset="-122"/>
                <a:cs typeface="Cambria" panose="02040503050406030204" pitchFamily="34" charset="-120"/>
              </a:rPr>
              <a:t>Array</a:t>
            </a:r>
            <a:endParaRPr lang="en-US" sz="1900" dirty="0"/>
          </a:p>
        </p:txBody>
      </p:sp>
      <p:sp>
        <p:nvSpPr>
          <p:cNvPr id="16" name="Text 12"/>
          <p:cNvSpPr/>
          <p:nvPr/>
        </p:nvSpPr>
        <p:spPr>
          <a:xfrm>
            <a:off x="6446520" y="2468880"/>
            <a:ext cx="4937760" cy="365760"/>
          </a:xfrm>
          <a:prstGeom prst="rect">
            <a:avLst/>
          </a:prstGeom>
          <a:noFill/>
        </p:spPr>
        <p:txBody>
          <a:bodyPr wrap="square" lIns="0" tIns="0" rIns="0" bIns="0" rtlCol="0" anchor="ctr"/>
          <a:lstStyle/>
          <a:p>
            <a:pPr marL="0" indent="0">
              <a:buNone/>
            </a:pPr>
            <a:r>
              <a:rPr lang="en-US" sz="1400" dirty="0">
                <a:solidFill>
                  <a:srgbClr val="5B6B79"/>
                </a:solidFill>
              </a:rPr>
              <a:t>Requires </a:t>
            </a:r>
            <a:r>
              <a:rPr lang="en-US" sz="1400" b="1" dirty="0">
                <a:solidFill>
                  <a:srgbClr val="065A82"/>
                </a:solidFill>
                <a:latin typeface="Courier New" panose="02070309020205020404" pitchFamily="34" charset="0"/>
                <a:ea typeface="Courier New" panose="02070309020205020404" pitchFamily="34" charset="-122"/>
                <a:cs typeface="Courier New" panose="02070309020205020404" pitchFamily="34" charset="-120"/>
              </a:rPr>
              <a:t>array</a:t>
            </a:r>
            <a:r>
              <a:rPr lang="en-US" sz="1400" dirty="0">
                <a:solidFill>
                  <a:srgbClr val="5B6B79"/>
                </a:solidFill>
              </a:rPr>
              <a:t> plugin in project.yml</a:t>
            </a:r>
            <a:endParaRPr lang="en-US" sz="1400" dirty="0"/>
          </a:p>
        </p:txBody>
      </p:sp>
      <p:sp>
        <p:nvSpPr>
          <p:cNvPr id="17" name="Text 13"/>
          <p:cNvSpPr/>
          <p:nvPr/>
        </p:nvSpPr>
        <p:spPr>
          <a:xfrm>
            <a:off x="6446520" y="2880360"/>
            <a:ext cx="4937760" cy="914400"/>
          </a:xfrm>
          <a:prstGeom prst="rect">
            <a:avLst/>
          </a:prstGeom>
          <a:noFill/>
        </p:spPr>
        <p:txBody>
          <a:bodyPr wrap="square" lIns="0" tIns="0" rIns="0" bIns="0" rtlCol="0" anchor="ctr"/>
          <a:lstStyle/>
          <a:p>
            <a:pPr marL="0" indent="0">
              <a:lnSpc>
                <a:spcPct val="118000"/>
              </a:lnSpc>
              <a:buNone/>
            </a:pPr>
            <a:r>
              <a:rPr lang="en-US" sz="1450" dirty="0">
                <a:solidFill>
                  <a:srgbClr val="1E2530"/>
                </a:solidFill>
                <a:latin typeface="Calibri" panose="020F0502020204030204" pitchFamily="34" charset="0"/>
                <a:ea typeface="Calibri" panose="020F0502020204030204" pitchFamily="34" charset="-122"/>
                <a:cs typeface="Calibri" panose="020F0502020204030204" pitchFamily="34" charset="-120"/>
              </a:rPr>
              <a:t>Adds an ExpectWithArray variant. For every pointer argument, pass an extra depth parameter so CMock can compare each array element.</a:t>
            </a:r>
            <a:endParaRPr lang="en-US" sz="1450" dirty="0"/>
          </a:p>
        </p:txBody>
      </p:sp>
      <p:sp>
        <p:nvSpPr>
          <p:cNvPr id="18" name="Shape 14"/>
          <p:cNvSpPr/>
          <p:nvPr/>
        </p:nvSpPr>
        <p:spPr>
          <a:xfrm>
            <a:off x="6446520" y="3886200"/>
            <a:ext cx="4892040" cy="1783080"/>
          </a:xfrm>
          <a:prstGeom prst="roundRect">
            <a:avLst>
              <a:gd name="adj" fmla="val 3077"/>
            </a:avLst>
          </a:prstGeom>
          <a:solidFill>
            <a:srgbClr val="1B2436"/>
          </a:solidFill>
        </p:spPr>
      </p:sp>
      <p:sp>
        <p:nvSpPr>
          <p:cNvPr id="19" name="Text 15"/>
          <p:cNvSpPr/>
          <p:nvPr/>
        </p:nvSpPr>
        <p:spPr>
          <a:xfrm>
            <a:off x="6675120" y="4069080"/>
            <a:ext cx="4480560" cy="1463040"/>
          </a:xfrm>
          <a:prstGeom prst="rect">
            <a:avLst/>
          </a:prstGeom>
          <a:noFill/>
        </p:spPr>
        <p:txBody>
          <a:bodyPr wrap="square" lIns="0" tIns="0" rIns="0" bIns="0" rtlCol="0" anchor="ctr"/>
          <a:lstStyle/>
          <a:p>
            <a:pPr marL="0" indent="0">
              <a:lnSpc>
                <a:spcPct val="125000"/>
              </a:lnSpc>
              <a:buNone/>
            </a:pPr>
            <a:r>
              <a:rPr lang="en-US" sz="130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int expected[] = {1,2,3,4,5};</a:t>
            </a:r>
            <a:endParaRPr lang="en-US" sz="1300" dirty="0"/>
          </a:p>
          <a:p>
            <a:pPr marL="0" indent="0">
              <a:lnSpc>
                <a:spcPct val="125000"/>
              </a:lnSpc>
              <a:buNone/>
            </a:pPr>
            <a:r>
              <a:rPr lang="en-US" sz="130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gpio_read_ExpectWithArrayAndReturn(</a:t>
            </a:r>
            <a:endParaRPr lang="en-US" sz="1300" dirty="0"/>
          </a:p>
          <a:p>
            <a:pPr marL="0" indent="0">
              <a:lnSpc>
                <a:spcPct val="125000"/>
              </a:lnSpc>
              <a:buNone/>
            </a:pPr>
            <a:r>
              <a:rPr lang="en-US" sz="130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    expected, 5, 1);</a:t>
            </a:r>
            <a:endParaRPr lang="en-US" sz="1300" dirty="0"/>
          </a:p>
          <a:p>
            <a:pPr marL="0" indent="0">
              <a:lnSpc>
                <a:spcPct val="125000"/>
              </a:lnSpc>
              <a:buNone/>
            </a:pPr>
            <a:r>
              <a:rPr lang="en-US" sz="130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Test_gpio();  // compares 5 elements</a:t>
            </a:r>
            <a:endParaRPr lang="en-US" sz="1300" dirty="0"/>
          </a:p>
        </p:txBody>
      </p:sp>
      <p:sp>
        <p:nvSpPr>
          <p:cNvPr id="20" name="Text 16"/>
          <p:cNvSpPr/>
          <p:nvPr/>
        </p:nvSpPr>
        <p:spPr>
          <a:xfrm>
            <a:off x="457200" y="6473952"/>
            <a:ext cx="5486400" cy="274320"/>
          </a:xfrm>
          <a:prstGeom prst="rect">
            <a:avLst/>
          </a:prstGeom>
          <a:noFill/>
        </p:spPr>
        <p:txBody>
          <a:bodyPr wrap="square" lIns="0" tIns="0" rIns="0" bIns="0" rtlCol="0" anchor="ctr"/>
          <a:lstStyle/>
          <a:p>
            <a:pPr marL="0" indent="0" algn="l">
              <a:buNone/>
            </a:pPr>
            <a:r>
              <a:rPr lang="en-US" sz="1050" dirty="0">
                <a:solidFill>
                  <a:srgbClr val="5B6B79"/>
                </a:solidFill>
                <a:latin typeface="Calibri" panose="020F0502020204030204" pitchFamily="34" charset="0"/>
                <a:ea typeface="Calibri" panose="020F0502020204030204" pitchFamily="34" charset="-122"/>
                <a:cs typeface="Calibri" panose="020F0502020204030204" pitchFamily="34" charset="-120"/>
              </a:rPr>
              <a:t>Mocking in Embedded C  |  CMock</a:t>
            </a:r>
            <a:endParaRPr lang="en-US" sz="1050" dirty="0"/>
          </a:p>
        </p:txBody>
      </p:sp>
      <p:sp>
        <p:nvSpPr>
          <p:cNvPr id="21" name="Text 17"/>
          <p:cNvSpPr/>
          <p:nvPr/>
        </p:nvSpPr>
        <p:spPr>
          <a:xfrm>
            <a:off x="11247120" y="6473952"/>
            <a:ext cx="457200" cy="274320"/>
          </a:xfrm>
          <a:prstGeom prst="rect">
            <a:avLst/>
          </a:prstGeom>
          <a:noFill/>
        </p:spPr>
        <p:txBody>
          <a:bodyPr wrap="square" lIns="0" tIns="0" rIns="0" bIns="0" rtlCol="0" anchor="ctr"/>
          <a:lstStyle/>
          <a:p>
            <a:pPr marL="0" indent="0" algn="r">
              <a:buNone/>
            </a:pPr>
            <a:r>
              <a:rPr lang="en-US" sz="1050" dirty="0">
                <a:solidFill>
                  <a:srgbClr val="5B6B79"/>
                </a:solidFill>
                <a:latin typeface="Calibri" panose="020F0502020204030204" pitchFamily="34" charset="0"/>
                <a:ea typeface="Calibri" panose="020F0502020204030204" pitchFamily="34" charset="-122"/>
                <a:cs typeface="Calibri" panose="020F0502020204030204" pitchFamily="34" charset="-120"/>
              </a:rPr>
              <a:t>9</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26415" y="294640"/>
            <a:ext cx="11078210" cy="6299835"/>
          </a:xfrm>
          <a:prstGeom prst="rect">
            <a:avLst/>
          </a:prstGeom>
          <a:noFill/>
        </p:spPr>
        <p:txBody>
          <a:bodyPr wrap="square" rtlCol="0">
            <a:noAutofit/>
          </a:bodyPr>
          <a:p>
            <a:r>
              <a:rPr lang="en-US" altLang="en-US"/>
              <a:t>Ignore Arguments</a:t>
            </a:r>
            <a:br>
              <a:rPr lang="en-US" altLang="en-US"/>
            </a:br>
            <a:endParaRPr lang="en-US" altLang="en-US"/>
          </a:p>
        </p:txBody>
      </p:sp>
      <p:pic>
        <p:nvPicPr>
          <p:cNvPr id="3" name="Picture 2"/>
          <p:cNvPicPr>
            <a:picLocks noChangeAspect="1"/>
          </p:cNvPicPr>
          <p:nvPr/>
        </p:nvPicPr>
        <p:blipFill>
          <a:blip r:embed="rId1"/>
          <a:stretch>
            <a:fillRect/>
          </a:stretch>
        </p:blipFill>
        <p:spPr>
          <a:xfrm>
            <a:off x="551815" y="805815"/>
            <a:ext cx="10871835" cy="2126615"/>
          </a:xfrm>
          <a:prstGeom prst="rect">
            <a:avLst/>
          </a:prstGeom>
        </p:spPr>
      </p:pic>
      <p:pic>
        <p:nvPicPr>
          <p:cNvPr id="4" name="Picture 3"/>
          <p:cNvPicPr>
            <a:picLocks noChangeAspect="1"/>
          </p:cNvPicPr>
          <p:nvPr/>
        </p:nvPicPr>
        <p:blipFill>
          <a:blip r:embed="rId2"/>
          <a:stretch>
            <a:fillRect/>
          </a:stretch>
        </p:blipFill>
        <p:spPr>
          <a:xfrm>
            <a:off x="574675" y="3319780"/>
            <a:ext cx="10899140" cy="30511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00685" y="266065"/>
            <a:ext cx="11257915" cy="6186805"/>
          </a:xfrm>
          <a:prstGeom prst="rect">
            <a:avLst/>
          </a:prstGeom>
          <a:noFill/>
        </p:spPr>
        <p:txBody>
          <a:bodyPr wrap="square" rtlCol="0">
            <a:noAutofit/>
          </a:bodyPr>
          <a:p>
            <a:r>
              <a:rPr lang="en-US" altLang="en-US"/>
              <a:t>Example:</a:t>
            </a:r>
            <a:endParaRPr lang="en-US" altLang="en-US"/>
          </a:p>
          <a:p>
            <a:r>
              <a:rPr lang="en-US" altLang="en-US"/>
              <a:t>Let’s assume I am going to test this function.</a:t>
            </a:r>
            <a:br>
              <a:rPr lang="en-US" altLang="en-US"/>
            </a:br>
            <a:br>
              <a:rPr lang="en-US" altLang="en-US"/>
            </a:br>
            <a:br>
              <a:rPr lang="en-US" altLang="en-US"/>
            </a:br>
            <a:br>
              <a:rPr lang="en-US" altLang="en-US"/>
            </a:br>
            <a:br>
              <a:rPr lang="en-US" altLang="en-US"/>
            </a:br>
            <a:br>
              <a:rPr lang="en-US" altLang="en-US"/>
            </a:br>
            <a:br>
              <a:rPr lang="en-US" altLang="en-US"/>
            </a:br>
            <a:br>
              <a:rPr lang="en-US" altLang="en-US"/>
            </a:br>
            <a:br>
              <a:rPr lang="en-US" altLang="en-US"/>
            </a:br>
            <a:r>
              <a:rPr lang="en-US" altLang="en-US"/>
              <a:t>Here, gpio_read() takes one argument which is gpio_num. We are going to ignore that gpio_num and return 1.  The test case will be as below.</a:t>
            </a:r>
            <a:endParaRPr lang="en-US" altLang="en-US"/>
          </a:p>
          <a:p>
            <a:endParaRPr lang="en-US" altLang="en-US"/>
          </a:p>
          <a:p>
            <a:endParaRPr lang="en-US" altLang="en-US"/>
          </a:p>
        </p:txBody>
      </p:sp>
      <p:pic>
        <p:nvPicPr>
          <p:cNvPr id="3" name="Picture 2"/>
          <p:cNvPicPr>
            <a:picLocks noChangeAspect="1"/>
          </p:cNvPicPr>
          <p:nvPr/>
        </p:nvPicPr>
        <p:blipFill>
          <a:blip r:embed="rId1"/>
          <a:stretch>
            <a:fillRect/>
          </a:stretch>
        </p:blipFill>
        <p:spPr>
          <a:xfrm>
            <a:off x="442595" y="1094105"/>
            <a:ext cx="7189470" cy="1517650"/>
          </a:xfrm>
          <a:prstGeom prst="rect">
            <a:avLst/>
          </a:prstGeom>
        </p:spPr>
      </p:pic>
      <p:pic>
        <p:nvPicPr>
          <p:cNvPr id="4" name="Picture 3"/>
          <p:cNvPicPr>
            <a:picLocks noChangeAspect="1"/>
          </p:cNvPicPr>
          <p:nvPr/>
        </p:nvPicPr>
        <p:blipFill>
          <a:blip r:embed="rId2"/>
          <a:stretch>
            <a:fillRect/>
          </a:stretch>
        </p:blipFill>
        <p:spPr>
          <a:xfrm>
            <a:off x="498475" y="3686175"/>
            <a:ext cx="10623550" cy="273304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59105" y="243205"/>
            <a:ext cx="11301095" cy="6285865"/>
          </a:xfrm>
          <a:prstGeom prst="rect">
            <a:avLst/>
          </a:prstGeom>
          <a:noFill/>
        </p:spPr>
        <p:txBody>
          <a:bodyPr wrap="square" rtlCol="0">
            <a:noAutofit/>
          </a:bodyPr>
          <a:p>
            <a:r>
              <a:rPr lang="en-US" altLang="en-US"/>
              <a:t>Note: When you use this ignore function, it will ignore the particular argument until this current test case. You may call multiple instances of this to ignore multiple arguments after each expectation if desired.</a:t>
            </a:r>
            <a:br>
              <a:rPr lang="en-US" altLang="en-US"/>
            </a:br>
            <a:br>
              <a:rPr lang="en-US" altLang="en-US"/>
            </a:br>
            <a:r>
              <a:rPr lang="en-US" altLang="en-US"/>
              <a:t>So based on your arguments and return value, you can use the respected variant of the IgnoreArg mock functions.</a:t>
            </a:r>
            <a:endParaRPr lang="en-US" altLang="en-US"/>
          </a:p>
          <a:p>
            <a:endParaRPr lang="en-US" altLang="en-US"/>
          </a:p>
          <a:p>
            <a:r>
              <a:rPr lang="en-US" altLang="en-US" sz="3200">
                <a:solidFill>
                  <a:srgbClr val="FF0000"/>
                </a:solidFill>
              </a:rPr>
              <a:t>Array</a:t>
            </a:r>
            <a:br>
              <a:rPr lang="en-US" altLang="en-US" sz="3200">
                <a:solidFill>
                  <a:srgbClr val="FF0000"/>
                </a:solidFill>
              </a:rPr>
            </a:br>
            <a:br>
              <a:rPr lang="en-US" altLang="en-US" sz="3200">
                <a:solidFill>
                  <a:srgbClr val="FF0000"/>
                </a:solidFill>
              </a:rPr>
            </a:br>
            <a:r>
              <a:rPr lang="en-US" altLang="en-US">
                <a:solidFill>
                  <a:schemeClr val="tx1"/>
                </a:solidFill>
              </a:rPr>
              <a:t>When you have an array argument, then you may need to use this feature. This feature is not enabled by default. You have to add array under plugin in the project.yml file. Please refer below.</a:t>
            </a:r>
            <a:br>
              <a:rPr lang="en-US" altLang="en-US">
                <a:solidFill>
                  <a:schemeClr val="tx1"/>
                </a:solidFill>
              </a:rPr>
            </a:br>
            <a:br>
              <a:rPr lang="en-US" altLang="en-US">
                <a:solidFill>
                  <a:schemeClr val="tx1"/>
                </a:solidFill>
              </a:rPr>
            </a:br>
            <a:endParaRPr lang="en-US" altLang="en-US">
              <a:solidFill>
                <a:schemeClr val="tx1"/>
              </a:solidFill>
            </a:endParaRPr>
          </a:p>
          <a:p>
            <a:endParaRPr lang="en-US" altLang="en-US">
              <a:solidFill>
                <a:schemeClr val="tx1"/>
              </a:solidFill>
            </a:endParaRPr>
          </a:p>
          <a:p>
            <a:endParaRPr lang="en-US" altLang="en-US">
              <a:solidFill>
                <a:schemeClr val="tx1"/>
              </a:solidFill>
            </a:endParaRPr>
          </a:p>
          <a:p>
            <a:endParaRPr lang="en-US" altLang="en-US">
              <a:solidFill>
                <a:schemeClr val="tx1"/>
              </a:solidFill>
            </a:endParaRPr>
          </a:p>
          <a:p>
            <a:endParaRPr lang="en-US" altLang="en-US">
              <a:solidFill>
                <a:schemeClr val="tx1"/>
              </a:solidFill>
            </a:endParaRPr>
          </a:p>
          <a:p>
            <a:endParaRPr lang="en-US" altLang="en-US">
              <a:solidFill>
                <a:schemeClr val="tx1"/>
              </a:solidFill>
            </a:endParaRPr>
          </a:p>
          <a:p>
            <a:endParaRPr lang="en-US" altLang="en-US">
              <a:solidFill>
                <a:schemeClr val="tx1"/>
              </a:solidFill>
            </a:endParaRPr>
          </a:p>
          <a:p>
            <a:endParaRPr lang="en-US" altLang="en-US">
              <a:solidFill>
                <a:schemeClr val="tx1"/>
              </a:solidFill>
            </a:endParaRPr>
          </a:p>
          <a:p>
            <a:r>
              <a:rPr lang="en-US" altLang="en-US">
                <a:solidFill>
                  <a:schemeClr val="tx1"/>
                </a:solidFill>
              </a:rPr>
              <a:t>Now, CMock provides an ExpectWithArray function your each mocked function that contains pointer arguments. For each pointer argument, the ExpectWithArray function takes an additional argument that specifies the number of array elements to compare</a:t>
            </a:r>
            <a:endParaRPr lang="en-US" altLang="en-US">
              <a:solidFill>
                <a:schemeClr val="tx1"/>
              </a:solidFill>
            </a:endParaRPr>
          </a:p>
        </p:txBody>
      </p:sp>
      <p:pic>
        <p:nvPicPr>
          <p:cNvPr id="3" name="Picture 2"/>
          <p:cNvPicPr>
            <a:picLocks noChangeAspect="1"/>
          </p:cNvPicPr>
          <p:nvPr/>
        </p:nvPicPr>
        <p:blipFill>
          <a:blip r:embed="rId1"/>
          <a:stretch>
            <a:fillRect/>
          </a:stretch>
        </p:blipFill>
        <p:spPr>
          <a:xfrm>
            <a:off x="527050" y="3583305"/>
            <a:ext cx="10859770" cy="183261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a:picLocks noChangeAspect="1"/>
          </p:cNvPicPr>
          <p:nvPr/>
        </p:nvPicPr>
        <p:blipFill>
          <a:blip r:embed="rId1"/>
          <a:stretch>
            <a:fillRect/>
          </a:stretch>
        </p:blipFill>
        <p:spPr>
          <a:xfrm>
            <a:off x="900430" y="501015"/>
            <a:ext cx="10243185" cy="568388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31190" y="278765"/>
            <a:ext cx="11089005" cy="6201410"/>
          </a:xfrm>
          <a:prstGeom prst="rect">
            <a:avLst/>
          </a:prstGeom>
          <a:noFill/>
        </p:spPr>
        <p:txBody>
          <a:bodyPr wrap="square" rtlCol="0">
            <a:noAutofit/>
          </a:bodyPr>
          <a:p>
            <a:r>
              <a:rPr lang="en-US" altLang="en-US"/>
              <a:t>Example:</a:t>
            </a:r>
            <a:endParaRPr lang="en-US" altLang="en-US"/>
          </a:p>
          <a:p>
            <a:r>
              <a:rPr lang="en-US" altLang="en-US"/>
              <a:t>Let’s assume I am going to test this function.</a:t>
            </a:r>
            <a:endParaRPr lang="en-US" altLang="en-US"/>
          </a:p>
          <a:p>
            <a:endParaRPr lang="en-US" altLang="en-US"/>
          </a:p>
          <a:p>
            <a:endParaRPr lang="en-US" altLang="en-US"/>
          </a:p>
          <a:p>
            <a:endParaRPr lang="en-US" altLang="en-US"/>
          </a:p>
          <a:p>
            <a:endParaRPr lang="en-US" altLang="en-US"/>
          </a:p>
          <a:p>
            <a:endParaRPr lang="en-US" altLang="en-US"/>
          </a:p>
          <a:p>
            <a:endParaRPr lang="en-US" altLang="en-US"/>
          </a:p>
          <a:p>
            <a:r>
              <a:rPr lang="en-US" altLang="en-US"/>
              <a:t>Here, gpio_read() takes one argument which is gpio_num (int array). The test case will be as below.</a:t>
            </a:r>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r>
              <a:rPr lang="en-US" altLang="en-US"/>
              <a:t>So based on your arguments and return value, you can use the respective variant of the Array mock functions.</a:t>
            </a:r>
            <a:endParaRPr lang="en-US" altLang="en-US"/>
          </a:p>
          <a:p>
            <a:endParaRPr lang="en-US" altLang="en-US"/>
          </a:p>
          <a:p>
            <a:endParaRPr lang="en-US" altLang="en-US"/>
          </a:p>
          <a:p>
            <a:endParaRPr lang="en-US" altLang="en-US"/>
          </a:p>
          <a:p>
            <a:endParaRPr lang="en-US" altLang="en-US"/>
          </a:p>
          <a:p>
            <a:endParaRPr lang="en-US" altLang="en-US"/>
          </a:p>
          <a:p>
            <a:br>
              <a:rPr lang="en-US" altLang="en-US"/>
            </a:br>
            <a:br>
              <a:rPr lang="en-US" altLang="en-US"/>
            </a:br>
            <a:endParaRPr lang="en-US" altLang="en-US"/>
          </a:p>
        </p:txBody>
      </p:sp>
      <p:pic>
        <p:nvPicPr>
          <p:cNvPr id="3" name="Picture 2"/>
          <p:cNvPicPr>
            <a:picLocks noChangeAspect="1"/>
          </p:cNvPicPr>
          <p:nvPr/>
        </p:nvPicPr>
        <p:blipFill>
          <a:blip r:embed="rId1"/>
          <a:stretch>
            <a:fillRect/>
          </a:stretch>
        </p:blipFill>
        <p:spPr>
          <a:xfrm>
            <a:off x="631190" y="1112520"/>
            <a:ext cx="8515985" cy="1204595"/>
          </a:xfrm>
          <a:prstGeom prst="rect">
            <a:avLst/>
          </a:prstGeom>
        </p:spPr>
      </p:pic>
      <p:pic>
        <p:nvPicPr>
          <p:cNvPr id="4" name="Picture 3"/>
          <p:cNvPicPr>
            <a:picLocks noChangeAspect="1"/>
          </p:cNvPicPr>
          <p:nvPr/>
        </p:nvPicPr>
        <p:blipFill>
          <a:blip r:embed="rId2"/>
          <a:stretch>
            <a:fillRect/>
          </a:stretch>
        </p:blipFill>
        <p:spPr>
          <a:xfrm>
            <a:off x="681355" y="2892425"/>
            <a:ext cx="10194925" cy="306959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500" b="1" kern="0" spc="200" dirty="0">
                <a:solidFill>
                  <a:srgbClr val="1C7293"/>
                </a:solidFill>
                <a:latin typeface="Calibri" panose="020F0502020204030204" pitchFamily="34" charset="0"/>
                <a:ea typeface="Calibri" panose="020F0502020204030204" pitchFamily="34" charset="-122"/>
                <a:cs typeface="Calibri" panose="020F0502020204030204" pitchFamily="34" charset="-120"/>
              </a:rPr>
              <a:t>VARIANTS 4 &amp; 5 OF 6</a:t>
            </a:r>
            <a:endParaRPr lang="en-US" sz="1500" dirty="0"/>
          </a:p>
        </p:txBody>
      </p:sp>
      <p:sp>
        <p:nvSpPr>
          <p:cNvPr id="3" name="Text 1"/>
          <p:cNvSpPr/>
          <p:nvPr/>
        </p:nvSpPr>
        <p:spPr>
          <a:xfrm>
            <a:off x="548640" y="658368"/>
            <a:ext cx="10789920" cy="685800"/>
          </a:xfrm>
          <a:prstGeom prst="rect">
            <a:avLst/>
          </a:prstGeom>
          <a:noFill/>
        </p:spPr>
        <p:txBody>
          <a:bodyPr wrap="square" lIns="0" tIns="0" rIns="0" bIns="0" rtlCol="0" anchor="ctr"/>
          <a:lstStyle/>
          <a:p>
            <a:pPr marL="0" indent="0">
              <a:buNone/>
            </a:pPr>
            <a:r>
              <a:rPr lang="en-US" sz="3400" b="1" dirty="0">
                <a:solidFill>
                  <a:srgbClr val="1E2530"/>
                </a:solidFill>
                <a:latin typeface="Cambria" panose="02040503050406030204" pitchFamily="34" charset="0"/>
                <a:ea typeface="Cambria" panose="02040503050406030204" pitchFamily="34" charset="-122"/>
                <a:cs typeface="Cambria" panose="02040503050406030204" pitchFamily="34" charset="-120"/>
              </a:rPr>
              <a:t>Ignore  &amp;  ReturnThruPtr</a:t>
            </a:r>
            <a:endParaRPr lang="en-US" sz="3400" dirty="0"/>
          </a:p>
        </p:txBody>
      </p:sp>
      <p:sp>
        <p:nvSpPr>
          <p:cNvPr id="4" name="Shape 2"/>
          <p:cNvSpPr/>
          <p:nvPr/>
        </p:nvSpPr>
        <p:spPr>
          <a:xfrm>
            <a:off x="548640" y="1554480"/>
            <a:ext cx="5440680" cy="4434840"/>
          </a:xfrm>
          <a:prstGeom prst="roundRect">
            <a:avLst>
              <a:gd name="adj" fmla="val 1856"/>
            </a:avLst>
          </a:prstGeom>
          <a:solidFill>
            <a:srgbClr val="FFFFFF"/>
          </a:solidFill>
          <a:effectLst>
            <a:outerShdw blurRad="101600" dist="38100" dir="5400000" algn="bl" rotWithShape="0">
              <a:srgbClr val="000000">
                <a:alpha val="8000"/>
              </a:srgbClr>
            </a:outerShdw>
          </a:effectLst>
        </p:spPr>
      </p:sp>
      <p:sp>
        <p:nvSpPr>
          <p:cNvPr id="5" name="Shape 3"/>
          <p:cNvSpPr/>
          <p:nvPr/>
        </p:nvSpPr>
        <p:spPr>
          <a:xfrm>
            <a:off x="822960" y="1783080"/>
            <a:ext cx="548640" cy="548640"/>
          </a:xfrm>
          <a:prstGeom prst="ellipse">
            <a:avLst/>
          </a:prstGeom>
          <a:solidFill>
            <a:srgbClr val="1C7293"/>
          </a:solidFill>
        </p:spPr>
      </p:sp>
      <p:pic>
        <p:nvPicPr>
          <p:cNvPr id="6" name="Image 0" descr="preencoded.png"/>
          <p:cNvPicPr>
            <a:picLocks noChangeAspect="1"/>
          </p:cNvPicPr>
          <p:nvPr/>
        </p:nvPicPr>
        <p:blipFill>
          <a:blip r:embed="rId1"/>
          <a:stretch>
            <a:fillRect/>
          </a:stretch>
        </p:blipFill>
        <p:spPr>
          <a:xfrm>
            <a:off x="941832" y="1901952"/>
            <a:ext cx="310896" cy="310896"/>
          </a:xfrm>
          <a:prstGeom prst="rect">
            <a:avLst/>
          </a:prstGeom>
        </p:spPr>
      </p:pic>
      <p:sp>
        <p:nvSpPr>
          <p:cNvPr id="7" name="Text 4"/>
          <p:cNvSpPr/>
          <p:nvPr/>
        </p:nvSpPr>
        <p:spPr>
          <a:xfrm>
            <a:off x="1508760" y="1783080"/>
            <a:ext cx="4297680" cy="548640"/>
          </a:xfrm>
          <a:prstGeom prst="rect">
            <a:avLst/>
          </a:prstGeom>
          <a:noFill/>
        </p:spPr>
        <p:txBody>
          <a:bodyPr wrap="square" lIns="0" tIns="0" rIns="0" bIns="0" rtlCol="0" anchor="ctr"/>
          <a:lstStyle/>
          <a:p>
            <a:pPr marL="0" indent="0">
              <a:buNone/>
            </a:pPr>
            <a:r>
              <a:rPr lang="en-US" sz="1900" b="1" dirty="0">
                <a:solidFill>
                  <a:srgbClr val="1E2530"/>
                </a:solidFill>
                <a:latin typeface="Cambria" panose="02040503050406030204" pitchFamily="34" charset="0"/>
                <a:ea typeface="Cambria" panose="02040503050406030204" pitchFamily="34" charset="-122"/>
                <a:cs typeface="Cambria" panose="02040503050406030204" pitchFamily="34" charset="-120"/>
              </a:rPr>
              <a:t>Ignore</a:t>
            </a:r>
            <a:endParaRPr lang="en-US" sz="1900" dirty="0"/>
          </a:p>
        </p:txBody>
      </p:sp>
      <p:sp>
        <p:nvSpPr>
          <p:cNvPr id="8" name="Text 5"/>
          <p:cNvSpPr/>
          <p:nvPr/>
        </p:nvSpPr>
        <p:spPr>
          <a:xfrm>
            <a:off x="822960" y="2468880"/>
            <a:ext cx="4937760" cy="365760"/>
          </a:xfrm>
          <a:prstGeom prst="rect">
            <a:avLst/>
          </a:prstGeom>
          <a:noFill/>
        </p:spPr>
        <p:txBody>
          <a:bodyPr wrap="square" lIns="0" tIns="0" rIns="0" bIns="0" rtlCol="0" anchor="ctr"/>
          <a:lstStyle/>
          <a:p>
            <a:pPr marL="0" indent="0">
              <a:buNone/>
            </a:pPr>
            <a:r>
              <a:rPr lang="en-US" sz="1400" i="1" dirty="0">
                <a:solidFill>
                  <a:srgbClr val="5B6B79"/>
                </a:solidFill>
              </a:rPr>
              <a:t>Enabled by default — no plugin needed</a:t>
            </a:r>
            <a:endParaRPr lang="en-US" sz="1400" dirty="0"/>
          </a:p>
        </p:txBody>
      </p:sp>
      <p:sp>
        <p:nvSpPr>
          <p:cNvPr id="9" name="Text 6"/>
          <p:cNvSpPr/>
          <p:nvPr/>
        </p:nvSpPr>
        <p:spPr>
          <a:xfrm>
            <a:off x="822960" y="2880360"/>
            <a:ext cx="4937760" cy="960120"/>
          </a:xfrm>
          <a:prstGeom prst="rect">
            <a:avLst/>
          </a:prstGeom>
          <a:noFill/>
        </p:spPr>
        <p:txBody>
          <a:bodyPr wrap="square" lIns="0" tIns="0" rIns="0" bIns="0" rtlCol="0" anchor="ctr"/>
          <a:lstStyle/>
          <a:p>
            <a:pPr marL="0" indent="0">
              <a:lnSpc>
                <a:spcPct val="118000"/>
              </a:lnSpc>
              <a:buNone/>
            </a:pPr>
            <a:r>
              <a:rPr lang="en-US" sz="1450" dirty="0">
                <a:solidFill>
                  <a:srgbClr val="1E2530"/>
                </a:solidFill>
                <a:latin typeface="Calibri" panose="020F0502020204030204" pitchFamily="34" charset="0"/>
                <a:ea typeface="Calibri" panose="020F0502020204030204" pitchFamily="34" charset="-122"/>
                <a:cs typeface="Calibri" panose="020F0502020204030204" pitchFamily="34" charset="-120"/>
              </a:rPr>
              <a:t>Don't care how a function is called — or how many times. func_Ignore() / func_IgnoreAndReturn() need be called just once per test to cover every subsequent call.</a:t>
            </a:r>
            <a:endParaRPr lang="en-US" sz="1450" dirty="0"/>
          </a:p>
        </p:txBody>
      </p:sp>
      <p:sp>
        <p:nvSpPr>
          <p:cNvPr id="10" name="Shape 7"/>
          <p:cNvSpPr/>
          <p:nvPr/>
        </p:nvSpPr>
        <p:spPr>
          <a:xfrm>
            <a:off x="822960" y="3977640"/>
            <a:ext cx="4892040" cy="1691640"/>
          </a:xfrm>
          <a:prstGeom prst="roundRect">
            <a:avLst>
              <a:gd name="adj" fmla="val 3243"/>
            </a:avLst>
          </a:prstGeom>
          <a:solidFill>
            <a:srgbClr val="1B2436"/>
          </a:solidFill>
        </p:spPr>
      </p:sp>
      <p:sp>
        <p:nvSpPr>
          <p:cNvPr id="11" name="Text 8"/>
          <p:cNvSpPr/>
          <p:nvPr/>
        </p:nvSpPr>
        <p:spPr>
          <a:xfrm>
            <a:off x="1051560" y="4160520"/>
            <a:ext cx="4480560" cy="1371600"/>
          </a:xfrm>
          <a:prstGeom prst="rect">
            <a:avLst/>
          </a:prstGeom>
          <a:noFill/>
        </p:spPr>
        <p:txBody>
          <a:bodyPr wrap="square" lIns="0" tIns="0" rIns="0" bIns="0" rtlCol="0" anchor="ctr"/>
          <a:lstStyle/>
          <a:p>
            <a:pPr marL="0" indent="0">
              <a:lnSpc>
                <a:spcPct val="125000"/>
              </a:lnSpc>
              <a:buNone/>
            </a:pPr>
            <a:r>
              <a:rPr lang="en-US" sz="130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gpio_read_IgnoreAndReturn(1);</a:t>
            </a:r>
            <a:endParaRPr lang="en-US" sz="1300" dirty="0"/>
          </a:p>
          <a:p>
            <a:pPr marL="0" indent="0">
              <a:lnSpc>
                <a:spcPct val="125000"/>
              </a:lnSpc>
              <a:buNone/>
            </a:pPr>
            <a:endParaRPr lang="en-US" sz="1300" dirty="0"/>
          </a:p>
          <a:p>
            <a:pPr marL="0" indent="0">
              <a:lnSpc>
                <a:spcPct val="125000"/>
              </a:lnSpc>
              <a:buNone/>
            </a:pPr>
            <a:r>
              <a:rPr lang="en-US" sz="130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Test_gpio();  // 4 real calls inside,</a:t>
            </a:r>
            <a:endParaRPr lang="en-US" sz="1300" dirty="0"/>
          </a:p>
          <a:p>
            <a:pPr marL="0" indent="0">
              <a:lnSpc>
                <a:spcPct val="125000"/>
              </a:lnSpc>
              <a:buNone/>
            </a:pPr>
            <a:r>
              <a:rPr lang="en-US" sz="130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              // all covered by one line</a:t>
            </a:r>
            <a:endParaRPr lang="en-US" sz="1300" dirty="0"/>
          </a:p>
        </p:txBody>
      </p:sp>
      <p:sp>
        <p:nvSpPr>
          <p:cNvPr id="12" name="Shape 9"/>
          <p:cNvSpPr/>
          <p:nvPr/>
        </p:nvSpPr>
        <p:spPr>
          <a:xfrm>
            <a:off x="6172200" y="1554480"/>
            <a:ext cx="5440680" cy="4434840"/>
          </a:xfrm>
          <a:prstGeom prst="roundRect">
            <a:avLst>
              <a:gd name="adj" fmla="val 1856"/>
            </a:avLst>
          </a:prstGeom>
          <a:solidFill>
            <a:srgbClr val="FFFFFF"/>
          </a:solidFill>
          <a:effectLst>
            <a:outerShdw blurRad="101600" dist="38100" dir="5400000" algn="bl" rotWithShape="0">
              <a:srgbClr val="000000">
                <a:alpha val="8000"/>
              </a:srgbClr>
            </a:outerShdw>
          </a:effectLst>
        </p:spPr>
      </p:sp>
      <p:sp>
        <p:nvSpPr>
          <p:cNvPr id="13" name="Shape 10"/>
          <p:cNvSpPr/>
          <p:nvPr/>
        </p:nvSpPr>
        <p:spPr>
          <a:xfrm>
            <a:off x="6446520" y="1783080"/>
            <a:ext cx="548640" cy="548640"/>
          </a:xfrm>
          <a:prstGeom prst="ellipse">
            <a:avLst/>
          </a:prstGeom>
          <a:solidFill>
            <a:srgbClr val="065A82"/>
          </a:solidFill>
        </p:spPr>
      </p:sp>
      <p:pic>
        <p:nvPicPr>
          <p:cNvPr id="14" name="Image 1" descr="preencoded.png"/>
          <p:cNvPicPr>
            <a:picLocks noChangeAspect="1"/>
          </p:cNvPicPr>
          <p:nvPr/>
        </p:nvPicPr>
        <p:blipFill>
          <a:blip r:embed="rId2"/>
          <a:stretch>
            <a:fillRect/>
          </a:stretch>
        </p:blipFill>
        <p:spPr>
          <a:xfrm>
            <a:off x="6565392" y="1901952"/>
            <a:ext cx="310896" cy="310896"/>
          </a:xfrm>
          <a:prstGeom prst="rect">
            <a:avLst/>
          </a:prstGeom>
        </p:spPr>
      </p:pic>
      <p:sp>
        <p:nvSpPr>
          <p:cNvPr id="15" name="Text 11"/>
          <p:cNvSpPr/>
          <p:nvPr/>
        </p:nvSpPr>
        <p:spPr>
          <a:xfrm>
            <a:off x="7132320" y="1783080"/>
            <a:ext cx="4297680" cy="548640"/>
          </a:xfrm>
          <a:prstGeom prst="rect">
            <a:avLst/>
          </a:prstGeom>
          <a:noFill/>
        </p:spPr>
        <p:txBody>
          <a:bodyPr wrap="square" lIns="0" tIns="0" rIns="0" bIns="0" rtlCol="0" anchor="ctr"/>
          <a:lstStyle/>
          <a:p>
            <a:pPr marL="0" indent="0">
              <a:buNone/>
            </a:pPr>
            <a:r>
              <a:rPr lang="en-US" sz="1900" b="1" dirty="0">
                <a:solidFill>
                  <a:srgbClr val="1E2530"/>
                </a:solidFill>
                <a:latin typeface="Cambria" panose="02040503050406030204" pitchFamily="34" charset="0"/>
                <a:ea typeface="Cambria" panose="02040503050406030204" pitchFamily="34" charset="-122"/>
                <a:cs typeface="Cambria" panose="02040503050406030204" pitchFamily="34" charset="-120"/>
              </a:rPr>
              <a:t>ReturnThruPtr</a:t>
            </a:r>
            <a:endParaRPr lang="en-US" sz="1900" dirty="0"/>
          </a:p>
        </p:txBody>
      </p:sp>
      <p:sp>
        <p:nvSpPr>
          <p:cNvPr id="16" name="Text 12"/>
          <p:cNvSpPr/>
          <p:nvPr/>
        </p:nvSpPr>
        <p:spPr>
          <a:xfrm>
            <a:off x="6446520" y="2468880"/>
            <a:ext cx="4937760" cy="365760"/>
          </a:xfrm>
          <a:prstGeom prst="rect">
            <a:avLst/>
          </a:prstGeom>
          <a:noFill/>
        </p:spPr>
        <p:txBody>
          <a:bodyPr wrap="square" lIns="0" tIns="0" rIns="0" bIns="0" rtlCol="0" anchor="ctr"/>
          <a:lstStyle/>
          <a:p>
            <a:pPr marL="0" indent="0">
              <a:buNone/>
            </a:pPr>
            <a:r>
              <a:rPr lang="en-US" sz="1400" dirty="0">
                <a:solidFill>
                  <a:srgbClr val="5B6B79"/>
                </a:solidFill>
              </a:rPr>
              <a:t>Requires </a:t>
            </a:r>
            <a:r>
              <a:rPr lang="en-US" sz="1400" b="1" dirty="0">
                <a:solidFill>
                  <a:srgbClr val="065A82"/>
                </a:solidFill>
                <a:latin typeface="Courier New" panose="02070309020205020404" pitchFamily="34" charset="0"/>
                <a:ea typeface="Courier New" panose="02070309020205020404" pitchFamily="34" charset="-122"/>
                <a:cs typeface="Courier New" panose="02070309020205020404" pitchFamily="34" charset="-120"/>
              </a:rPr>
              <a:t>return_thru_ptr</a:t>
            </a:r>
            <a:r>
              <a:rPr lang="en-US" sz="1400" dirty="0">
                <a:solidFill>
                  <a:srgbClr val="5B6B79"/>
                </a:solidFill>
              </a:rPr>
              <a:t> plugin</a:t>
            </a:r>
            <a:endParaRPr lang="en-US" sz="1400" dirty="0"/>
          </a:p>
        </p:txBody>
      </p:sp>
      <p:sp>
        <p:nvSpPr>
          <p:cNvPr id="17" name="Text 13"/>
          <p:cNvSpPr/>
          <p:nvPr/>
        </p:nvSpPr>
        <p:spPr>
          <a:xfrm>
            <a:off x="6446520" y="2880360"/>
            <a:ext cx="4937760" cy="960120"/>
          </a:xfrm>
          <a:prstGeom prst="rect">
            <a:avLst/>
          </a:prstGeom>
          <a:noFill/>
        </p:spPr>
        <p:txBody>
          <a:bodyPr wrap="square" lIns="0" tIns="0" rIns="0" bIns="0" rtlCol="0" anchor="ctr"/>
          <a:lstStyle/>
          <a:p>
            <a:pPr marL="0" indent="0">
              <a:lnSpc>
                <a:spcPct val="118000"/>
              </a:lnSpc>
              <a:buNone/>
            </a:pPr>
            <a:r>
              <a:rPr lang="en-US" sz="1450" dirty="0">
                <a:solidFill>
                  <a:srgbClr val="1E2530"/>
                </a:solidFill>
                <a:latin typeface="Calibri" panose="020F0502020204030204" pitchFamily="34" charset="0"/>
                <a:ea typeface="Calibri" panose="020F0502020204030204" pitchFamily="34" charset="-122"/>
                <a:cs typeface="Calibri" panose="020F0502020204030204" pitchFamily="34" charset="-120"/>
              </a:rPr>
              <a:t>Writes data back through a pointer argument — ideal when a function is expected to fill in a value, struct, or memory block for the caller.</a:t>
            </a:r>
            <a:endParaRPr lang="en-US" sz="1450" dirty="0"/>
          </a:p>
        </p:txBody>
      </p:sp>
      <p:sp>
        <p:nvSpPr>
          <p:cNvPr id="18" name="Shape 14"/>
          <p:cNvSpPr/>
          <p:nvPr/>
        </p:nvSpPr>
        <p:spPr>
          <a:xfrm>
            <a:off x="6446520" y="3977640"/>
            <a:ext cx="4892040" cy="1691640"/>
          </a:xfrm>
          <a:prstGeom prst="roundRect">
            <a:avLst>
              <a:gd name="adj" fmla="val 3243"/>
            </a:avLst>
          </a:prstGeom>
          <a:solidFill>
            <a:srgbClr val="1B2436"/>
          </a:solidFill>
        </p:spPr>
      </p:sp>
      <p:sp>
        <p:nvSpPr>
          <p:cNvPr id="19" name="Text 15"/>
          <p:cNvSpPr/>
          <p:nvPr/>
        </p:nvSpPr>
        <p:spPr>
          <a:xfrm>
            <a:off x="6675120" y="4160520"/>
            <a:ext cx="4480560" cy="1371600"/>
          </a:xfrm>
          <a:prstGeom prst="rect">
            <a:avLst/>
          </a:prstGeom>
          <a:noFill/>
        </p:spPr>
        <p:txBody>
          <a:bodyPr wrap="square" lIns="0" tIns="0" rIns="0" bIns="0" rtlCol="0" anchor="ctr"/>
          <a:lstStyle/>
          <a:p>
            <a:pPr marL="0" indent="0">
              <a:lnSpc>
                <a:spcPct val="125000"/>
              </a:lnSpc>
              <a:buNone/>
            </a:pPr>
            <a:r>
              <a:rPr lang="en-US" sz="125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gpio_read_Expect(0);</a:t>
            </a:r>
            <a:endParaRPr lang="en-US" sz="1250" dirty="0"/>
          </a:p>
          <a:p>
            <a:pPr marL="0" indent="0">
              <a:lnSpc>
                <a:spcPct val="125000"/>
              </a:lnSpc>
              <a:buNone/>
            </a:pPr>
            <a:r>
              <a:rPr lang="en-US" sz="125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gpio_read_IgnoreArg_gpio_num();</a:t>
            </a:r>
            <a:endParaRPr lang="en-US" sz="1250" dirty="0"/>
          </a:p>
          <a:p>
            <a:pPr marL="0" indent="0">
              <a:lnSpc>
                <a:spcPct val="125000"/>
              </a:lnSpc>
              <a:buNone/>
            </a:pPr>
            <a:r>
              <a:rPr lang="en-US" sz="125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gpio_read_ReturnArrayThruPtr_gpio_num(</a:t>
            </a:r>
            <a:endParaRPr lang="en-US" sz="1250" dirty="0"/>
          </a:p>
          <a:p>
            <a:pPr marL="0" indent="0">
              <a:lnSpc>
                <a:spcPct val="125000"/>
              </a:lnSpc>
              <a:buNone/>
            </a:pPr>
            <a:r>
              <a:rPr lang="en-US" sz="125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    expected_data, 3);</a:t>
            </a:r>
            <a:endParaRPr lang="en-US" sz="1250" dirty="0"/>
          </a:p>
        </p:txBody>
      </p:sp>
      <p:sp>
        <p:nvSpPr>
          <p:cNvPr id="20" name="Text 16"/>
          <p:cNvSpPr/>
          <p:nvPr/>
        </p:nvSpPr>
        <p:spPr>
          <a:xfrm>
            <a:off x="457200" y="6473952"/>
            <a:ext cx="5486400" cy="274320"/>
          </a:xfrm>
          <a:prstGeom prst="rect">
            <a:avLst/>
          </a:prstGeom>
          <a:noFill/>
        </p:spPr>
        <p:txBody>
          <a:bodyPr wrap="square" lIns="0" tIns="0" rIns="0" bIns="0" rtlCol="0" anchor="ctr"/>
          <a:lstStyle/>
          <a:p>
            <a:pPr marL="0" indent="0" algn="l">
              <a:buNone/>
            </a:pPr>
            <a:r>
              <a:rPr lang="en-US" sz="1050" dirty="0">
                <a:solidFill>
                  <a:srgbClr val="5B6B79"/>
                </a:solidFill>
                <a:latin typeface="Calibri" panose="020F0502020204030204" pitchFamily="34" charset="0"/>
                <a:ea typeface="Calibri" panose="020F0502020204030204" pitchFamily="34" charset="-122"/>
                <a:cs typeface="Calibri" panose="020F0502020204030204" pitchFamily="34" charset="-120"/>
              </a:rPr>
              <a:t>Mocking in Embedded C  |  CMock</a:t>
            </a:r>
            <a:endParaRPr lang="en-US" sz="1050" dirty="0"/>
          </a:p>
        </p:txBody>
      </p:sp>
      <p:sp>
        <p:nvSpPr>
          <p:cNvPr id="21" name="Text 17"/>
          <p:cNvSpPr/>
          <p:nvPr/>
        </p:nvSpPr>
        <p:spPr>
          <a:xfrm>
            <a:off x="11247120" y="6473952"/>
            <a:ext cx="457200" cy="274320"/>
          </a:xfrm>
          <a:prstGeom prst="rect">
            <a:avLst/>
          </a:prstGeom>
          <a:noFill/>
        </p:spPr>
        <p:txBody>
          <a:bodyPr wrap="square" lIns="0" tIns="0" rIns="0" bIns="0" rtlCol="0" anchor="ctr"/>
          <a:lstStyle/>
          <a:p>
            <a:pPr marL="0" indent="0" algn="r">
              <a:buNone/>
            </a:pPr>
            <a:r>
              <a:rPr lang="en-US" sz="1050" dirty="0">
                <a:solidFill>
                  <a:srgbClr val="5B6B79"/>
                </a:solidFill>
                <a:latin typeface="Calibri" panose="020F0502020204030204" pitchFamily="34" charset="0"/>
                <a:ea typeface="Calibri" panose="020F0502020204030204" pitchFamily="34" charset="-122"/>
                <a:cs typeface="Calibri" panose="020F0502020204030204" pitchFamily="34" charset="-120"/>
              </a:rPr>
              <a:t>10</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07695" y="328930"/>
            <a:ext cx="10690225" cy="6138545"/>
          </a:xfrm>
          <a:prstGeom prst="rect">
            <a:avLst/>
          </a:prstGeom>
          <a:noFill/>
        </p:spPr>
        <p:txBody>
          <a:bodyPr wrap="square" rtlCol="0">
            <a:noAutofit/>
          </a:bodyPr>
          <a:p>
            <a:r>
              <a:rPr lang="en-US" altLang="en-US" sz="3200">
                <a:solidFill>
                  <a:srgbClr val="FF0000"/>
                </a:solidFill>
              </a:rPr>
              <a:t>Ignore</a:t>
            </a:r>
            <a:endParaRPr lang="en-US" altLang="en-US" sz="3200">
              <a:solidFill>
                <a:srgbClr val="FF0000"/>
              </a:solidFill>
            </a:endParaRPr>
          </a:p>
          <a:p>
            <a:r>
              <a:rPr lang="en-US" altLang="en-US"/>
              <a:t>If you don’t want to care about any functions then you can use this feature. This feature is enabled by default.</a:t>
            </a:r>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r>
              <a:rPr lang="en-US" altLang="en-US"/>
              <a:t>Note: These Ignore only needs to be called once per test. It will then ignore any further calls to that particular mock. </a:t>
            </a:r>
            <a:endParaRPr lang="en-US" altLang="en-US"/>
          </a:p>
          <a:p>
            <a:endParaRPr lang="en-US" altLang="en-US"/>
          </a:p>
          <a:p>
            <a:endParaRPr lang="en-US" altLang="en-US"/>
          </a:p>
          <a:p>
            <a:br>
              <a:rPr lang="en-US" altLang="en-US"/>
            </a:br>
            <a:br>
              <a:rPr lang="en-US" altLang="en-US"/>
            </a:br>
            <a:endParaRPr lang="en-US" altLang="en-US"/>
          </a:p>
        </p:txBody>
      </p:sp>
      <p:pic>
        <p:nvPicPr>
          <p:cNvPr id="3" name="Picture 2"/>
          <p:cNvPicPr>
            <a:picLocks noChangeAspect="1"/>
          </p:cNvPicPr>
          <p:nvPr/>
        </p:nvPicPr>
        <p:blipFill>
          <a:blip r:embed="rId1"/>
          <a:stretch>
            <a:fillRect/>
          </a:stretch>
        </p:blipFill>
        <p:spPr>
          <a:xfrm>
            <a:off x="781685" y="1455420"/>
            <a:ext cx="10479405" cy="352044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86385" y="432435"/>
            <a:ext cx="11278235" cy="6067425"/>
          </a:xfrm>
          <a:prstGeom prst="rect">
            <a:avLst/>
          </a:prstGeom>
          <a:noFill/>
        </p:spPr>
        <p:txBody>
          <a:bodyPr wrap="square" rtlCol="0">
            <a:noAutofit/>
          </a:bodyPr>
          <a:p>
            <a:r>
              <a:rPr lang="en-US" altLang="en-US"/>
              <a:t>Example:</a:t>
            </a:r>
            <a:endParaRPr lang="en-US" altLang="en-US"/>
          </a:p>
          <a:p>
            <a:r>
              <a:rPr lang="en-US" altLang="en-US"/>
              <a:t>Let’s assume I am going to test this function.</a:t>
            </a:r>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r>
              <a:rPr lang="en-US" altLang="en-US"/>
              <a:t>Here, gpio_read() takes one argument which is gpio_num. We are going to ignore these calls and return 1.  The test case will be as below.</a:t>
            </a:r>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r>
              <a:rPr lang="en-US" altLang="en-US"/>
              <a:t>So based on your arguments and return value, you can use the respective variant of the Ignore mock functions.</a:t>
            </a:r>
            <a:br>
              <a:rPr lang="en-US" altLang="en-US"/>
            </a:br>
            <a:endParaRPr lang="en-US" altLang="en-US"/>
          </a:p>
          <a:p>
            <a:br>
              <a:rPr lang="en-US" altLang="en-US"/>
            </a:br>
            <a:br>
              <a:rPr lang="en-US" altLang="en-US"/>
            </a:br>
            <a:endParaRPr lang="en-US" altLang="en-US"/>
          </a:p>
          <a:p>
            <a:endParaRPr lang="en-US" altLang="en-US"/>
          </a:p>
          <a:p>
            <a:endParaRPr lang="en-US" altLang="en-US"/>
          </a:p>
        </p:txBody>
      </p:sp>
      <p:pic>
        <p:nvPicPr>
          <p:cNvPr id="3" name="Picture 2"/>
          <p:cNvPicPr>
            <a:picLocks noChangeAspect="1"/>
          </p:cNvPicPr>
          <p:nvPr/>
        </p:nvPicPr>
        <p:blipFill>
          <a:blip r:embed="rId1"/>
          <a:stretch>
            <a:fillRect/>
          </a:stretch>
        </p:blipFill>
        <p:spPr>
          <a:xfrm>
            <a:off x="401955" y="1120775"/>
            <a:ext cx="7788275" cy="2188210"/>
          </a:xfrm>
          <a:prstGeom prst="rect">
            <a:avLst/>
          </a:prstGeom>
        </p:spPr>
      </p:pic>
      <p:pic>
        <p:nvPicPr>
          <p:cNvPr id="4" name="Picture 3"/>
          <p:cNvPicPr>
            <a:picLocks noChangeAspect="1"/>
          </p:cNvPicPr>
          <p:nvPr/>
        </p:nvPicPr>
        <p:blipFill>
          <a:blip r:embed="rId2"/>
          <a:stretch>
            <a:fillRect/>
          </a:stretch>
        </p:blipFill>
        <p:spPr>
          <a:xfrm>
            <a:off x="401955" y="4043680"/>
            <a:ext cx="10765790" cy="191325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39090" y="274320"/>
            <a:ext cx="11447780" cy="6369685"/>
          </a:xfrm>
          <a:prstGeom prst="rect">
            <a:avLst/>
          </a:prstGeom>
          <a:noFill/>
        </p:spPr>
        <p:txBody>
          <a:bodyPr wrap="square" rtlCol="0">
            <a:noAutofit/>
          </a:bodyPr>
          <a:p>
            <a:r>
              <a:rPr lang="en-US" altLang="en-US" sz="2800">
                <a:solidFill>
                  <a:srgbClr val="FF0000"/>
                </a:solidFill>
              </a:rPr>
              <a:t>ReturnThruPtr</a:t>
            </a:r>
            <a:endParaRPr lang="en-US" altLang="en-US" sz="2800">
              <a:solidFill>
                <a:srgbClr val="FF0000"/>
              </a:solidFill>
            </a:endParaRPr>
          </a:p>
          <a:p>
            <a:r>
              <a:rPr lang="en-US" altLang="en-US"/>
              <a:t>In embedded, sometimes you may need to pass a pointer to another module and get data from that pointer. In such a case, you can use this feature. This feature is not enabled by default. You have to add return_thru_ptr under plugin in the project.yml file. Please refer below.</a:t>
            </a:r>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r>
              <a:rPr lang="en-US" altLang="en-US"/>
              <a:t>Now, CMock provides an ReturnThruPtr function your each mocked function that contains pointer arguments.</a:t>
            </a:r>
            <a:endParaRPr lang="en-US" altLang="en-US"/>
          </a:p>
          <a:p>
            <a:endParaRPr lang="en-US" altLang="en-US"/>
          </a:p>
          <a:p>
            <a:br>
              <a:rPr lang="en-US" altLang="en-US"/>
            </a:br>
            <a:br>
              <a:rPr lang="en-US" altLang="en-US"/>
            </a:br>
            <a:endParaRPr lang="en-US" altLang="en-US"/>
          </a:p>
        </p:txBody>
      </p:sp>
      <p:pic>
        <p:nvPicPr>
          <p:cNvPr id="3" name="Picture 2"/>
          <p:cNvPicPr>
            <a:picLocks noChangeAspect="1"/>
          </p:cNvPicPr>
          <p:nvPr/>
        </p:nvPicPr>
        <p:blipFill>
          <a:blip r:embed="rId1"/>
          <a:stretch>
            <a:fillRect/>
          </a:stretch>
        </p:blipFill>
        <p:spPr>
          <a:xfrm>
            <a:off x="414655" y="1725930"/>
            <a:ext cx="10392410" cy="1702435"/>
          </a:xfrm>
          <a:prstGeom prst="rect">
            <a:avLst/>
          </a:prstGeom>
        </p:spPr>
      </p:pic>
      <p:pic>
        <p:nvPicPr>
          <p:cNvPr id="4" name="Picture 3"/>
          <p:cNvPicPr>
            <a:picLocks noChangeAspect="1"/>
          </p:cNvPicPr>
          <p:nvPr/>
        </p:nvPicPr>
        <p:blipFill>
          <a:blip r:embed="rId2"/>
          <a:stretch>
            <a:fillRect/>
          </a:stretch>
        </p:blipFill>
        <p:spPr>
          <a:xfrm>
            <a:off x="466090" y="3810000"/>
            <a:ext cx="10669270" cy="26035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43840" y="236220"/>
            <a:ext cx="11562080" cy="6282690"/>
          </a:xfrm>
          <a:prstGeom prst="rect">
            <a:avLst/>
          </a:prstGeom>
          <a:noFill/>
        </p:spPr>
        <p:txBody>
          <a:bodyPr wrap="square" rtlCol="0">
            <a:noAutofit/>
          </a:bodyPr>
          <a:p>
            <a:r>
              <a:rPr lang="en-US" altLang="en-US"/>
              <a:t>Example:</a:t>
            </a:r>
            <a:endParaRPr lang="en-US" altLang="en-US"/>
          </a:p>
          <a:p>
            <a:endParaRPr lang="en-US" altLang="en-US"/>
          </a:p>
          <a:p>
            <a:r>
              <a:rPr lang="en-US" altLang="en-US"/>
              <a:t>Let’s assume I am going to test this function</a:t>
            </a:r>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r>
              <a:rPr lang="en-US" altLang="en-US"/>
              <a:t>Here, gpio_read() takes one argument which is gpio_num (pointer).  In this case, we should not care about the argument. Because it is taking pointers. We don’t know which address it is passing.</a:t>
            </a:r>
            <a:endParaRPr lang="en-US" altLang="en-US"/>
          </a:p>
          <a:p>
            <a:endParaRPr lang="en-US" altLang="en-US"/>
          </a:p>
          <a:p>
            <a:endParaRPr lang="en-US" altLang="en-US"/>
          </a:p>
          <a:p>
            <a:endParaRPr lang="en-US" altLang="en-US"/>
          </a:p>
          <a:p>
            <a:endParaRPr lang="en-US" altLang="en-US"/>
          </a:p>
        </p:txBody>
      </p:sp>
      <p:pic>
        <p:nvPicPr>
          <p:cNvPr id="3" name="Picture 2"/>
          <p:cNvPicPr>
            <a:picLocks noChangeAspect="1"/>
          </p:cNvPicPr>
          <p:nvPr/>
        </p:nvPicPr>
        <p:blipFill>
          <a:blip r:embed="rId1"/>
          <a:stretch>
            <a:fillRect/>
          </a:stretch>
        </p:blipFill>
        <p:spPr>
          <a:xfrm>
            <a:off x="425450" y="1738630"/>
            <a:ext cx="10744200" cy="267779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41655" y="307975"/>
            <a:ext cx="11130280" cy="6265545"/>
          </a:xfrm>
          <a:prstGeom prst="rect">
            <a:avLst/>
          </a:prstGeom>
          <a:noFill/>
        </p:spPr>
        <p:txBody>
          <a:bodyPr wrap="square" rtlCol="0">
            <a:noAutofit/>
          </a:bodyPr>
          <a:p>
            <a:r>
              <a:rPr lang="en-US" altLang="en-US"/>
              <a:t>So we have to ignore that. But we need to write 3 elements in that pointer. Then only we can check that if else part. So we are going to use this feature and write data through the pointer. The test case will be as below.</a:t>
            </a:r>
            <a:endParaRPr lang="en-US" altLang="en-US"/>
          </a:p>
          <a:p>
            <a:endParaRPr lang="en-US" altLang="en-US"/>
          </a:p>
          <a:p>
            <a:endParaRPr lang="en-US" altLang="en-US"/>
          </a:p>
          <a:p>
            <a:r>
              <a:rPr lang="en-US" altLang="en-US"/>
              <a:t>/* </a:t>
            </a:r>
            <a:endParaRPr lang="en-US" altLang="en-US"/>
          </a:p>
          <a:p>
            <a:r>
              <a:rPr lang="en-US" altLang="en-US"/>
              <a:t>** We have told that ignore the arg and write the value. </a:t>
            </a:r>
            <a:endParaRPr lang="en-US" altLang="en-US"/>
          </a:p>
          <a:p>
            <a:r>
              <a:rPr lang="en-US" altLang="en-US"/>
              <a:t>** and it should return 1 using _ExpectWithArrayAndReturn.</a:t>
            </a:r>
            <a:endParaRPr lang="en-US" altLang="en-US"/>
          </a:p>
          <a:p>
            <a:r>
              <a:rPr lang="en-US" altLang="en-US"/>
              <a:t>** In our code we are passing the same value. So this test will pass.</a:t>
            </a:r>
            <a:endParaRPr lang="en-US" altLang="en-US"/>
          </a:p>
          <a:p>
            <a:r>
              <a:rPr lang="en-US" altLang="en-US"/>
              <a:t>*/</a:t>
            </a:r>
            <a:endParaRPr lang="en-US" altLang="en-US"/>
          </a:p>
          <a:p>
            <a:r>
              <a:rPr lang="en-US" altLang="en-US"/>
              <a:t>void test_test_gpio_0(void)</a:t>
            </a:r>
            <a:endParaRPr lang="en-US" altLang="en-US"/>
          </a:p>
          <a:p>
            <a:r>
              <a:rPr lang="en-US" altLang="en-US"/>
              <a:t>{</a:t>
            </a:r>
            <a:endParaRPr lang="en-US" altLang="en-US"/>
          </a:p>
          <a:p>
            <a:r>
              <a:rPr lang="en-US" altLang="en-US"/>
              <a:t>  int expected_data[] = {1, 2, 3};</a:t>
            </a:r>
            <a:endParaRPr lang="en-US" altLang="en-US"/>
          </a:p>
          <a:p>
            <a:r>
              <a:rPr lang="en-US" altLang="en-US"/>
              <a:t>  gpio_read_Expect(0);                                     </a:t>
            </a:r>
            <a:r>
              <a:rPr lang="en-IN" altLang="en-US"/>
              <a:t>             </a:t>
            </a:r>
            <a:r>
              <a:rPr lang="en-US" altLang="en-US"/>
              <a:t> //This will tell cmock to expect the function with 0 arg. </a:t>
            </a:r>
            <a:endParaRPr lang="en-US" altLang="en-US"/>
          </a:p>
          <a:p>
            <a:r>
              <a:rPr lang="en-US" altLang="en-US"/>
              <a:t>  gpio_read_IgnoreArg_gpio_num();                           //This will tell cmock to ignore the arg </a:t>
            </a:r>
            <a:endParaRPr lang="en-US" altLang="en-US"/>
          </a:p>
          <a:p>
            <a:r>
              <a:rPr lang="en-US" altLang="en-US"/>
              <a:t>  gpio_read_ReturnArrayThruPtr_gpio_num(expected_data, 3);  //This will write the 3 elements data to that pointer when this func called..</a:t>
            </a:r>
            <a:endParaRPr lang="en-US" altLang="en-US"/>
          </a:p>
          <a:p>
            <a:endParaRPr lang="en-US" altLang="en-US"/>
          </a:p>
          <a:p>
            <a:r>
              <a:rPr lang="en-US" altLang="en-US"/>
              <a:t>  Test_gpio();</a:t>
            </a:r>
            <a:endParaRPr lang="en-US" altLang="en-US"/>
          </a:p>
          <a:p>
            <a:r>
              <a:rPr lang="en-US" altLang="en-US"/>
              <a:t>}</a:t>
            </a:r>
            <a:endParaRPr lang="en-US" altLang="en-US"/>
          </a:p>
          <a:p>
            <a:endParaRPr lang="en-US" altLang="en-US"/>
          </a:p>
          <a:p>
            <a:r>
              <a:rPr lang="en-US" altLang="en-US"/>
              <a:t>So based on your arguments and return value, you can use the respective variant of the ReturnThruPtr mock functions.</a:t>
            </a:r>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p:spPr>
        <p:txBody>
          <a:bodyPr wrap="square" lIns="0" tIns="0" rIns="0" bIns="0" rtlCol="0" anchor="ctr"/>
          <a:lstStyle/>
          <a:p>
            <a:pPr marL="0" indent="0">
              <a:buNone/>
            </a:pPr>
            <a:r>
              <a:rPr lang="en-US" sz="1500" b="1" kern="0" spc="200" dirty="0">
                <a:solidFill>
                  <a:srgbClr val="1C7293"/>
                </a:solidFill>
                <a:latin typeface="Calibri" panose="020F0502020204030204" pitchFamily="34" charset="0"/>
                <a:ea typeface="Calibri" panose="020F0502020204030204" pitchFamily="34" charset="-122"/>
                <a:cs typeface="Calibri" panose="020F0502020204030204" pitchFamily="34" charset="-120"/>
              </a:rPr>
              <a:t>VARIANT 6 OF 6</a:t>
            </a:r>
            <a:endParaRPr lang="en-US" sz="1500" dirty="0"/>
          </a:p>
        </p:txBody>
      </p:sp>
      <p:sp>
        <p:nvSpPr>
          <p:cNvPr id="3" name="Text 1"/>
          <p:cNvSpPr/>
          <p:nvPr/>
        </p:nvSpPr>
        <p:spPr>
          <a:xfrm>
            <a:off x="548640" y="658368"/>
            <a:ext cx="10789920" cy="685800"/>
          </a:xfrm>
          <a:prstGeom prst="rect">
            <a:avLst/>
          </a:prstGeom>
          <a:noFill/>
        </p:spPr>
        <p:txBody>
          <a:bodyPr wrap="square" lIns="0" tIns="0" rIns="0" bIns="0" rtlCol="0" anchor="ctr"/>
          <a:lstStyle/>
          <a:p>
            <a:pPr marL="0" indent="0">
              <a:buNone/>
            </a:pPr>
            <a:r>
              <a:rPr lang="en-US" sz="3400" b="1" dirty="0">
                <a:solidFill>
                  <a:srgbClr val="1E2530"/>
                </a:solidFill>
                <a:latin typeface="Cambria" panose="02040503050406030204" pitchFamily="34" charset="0"/>
                <a:ea typeface="Cambria" panose="02040503050406030204" pitchFamily="34" charset="-122"/>
                <a:cs typeface="Cambria" panose="02040503050406030204" pitchFamily="34" charset="-120"/>
              </a:rPr>
              <a:t>Callback — For Complex Logic</a:t>
            </a:r>
            <a:endParaRPr lang="en-US" sz="3400" dirty="0"/>
          </a:p>
        </p:txBody>
      </p:sp>
      <p:sp>
        <p:nvSpPr>
          <p:cNvPr id="4" name="Shape 2"/>
          <p:cNvSpPr/>
          <p:nvPr/>
        </p:nvSpPr>
        <p:spPr>
          <a:xfrm>
            <a:off x="548640" y="1554480"/>
            <a:ext cx="5852160" cy="4434840"/>
          </a:xfrm>
          <a:prstGeom prst="roundRect">
            <a:avLst>
              <a:gd name="adj" fmla="val 1856"/>
            </a:avLst>
          </a:prstGeom>
          <a:solidFill>
            <a:srgbClr val="FFFFFF"/>
          </a:solidFill>
          <a:effectLst>
            <a:outerShdw blurRad="101600" dist="38100" dir="5400000" algn="bl" rotWithShape="0">
              <a:srgbClr val="000000">
                <a:alpha val="8000"/>
              </a:srgbClr>
            </a:outerShdw>
          </a:effectLst>
        </p:spPr>
      </p:sp>
      <p:sp>
        <p:nvSpPr>
          <p:cNvPr id="5" name="Shape 3"/>
          <p:cNvSpPr/>
          <p:nvPr/>
        </p:nvSpPr>
        <p:spPr>
          <a:xfrm>
            <a:off x="822960" y="1783080"/>
            <a:ext cx="548640" cy="548640"/>
          </a:xfrm>
          <a:prstGeom prst="ellipse">
            <a:avLst/>
          </a:prstGeom>
          <a:solidFill>
            <a:srgbClr val="1C7293"/>
          </a:solidFill>
        </p:spPr>
      </p:sp>
      <p:pic>
        <p:nvPicPr>
          <p:cNvPr id="6" name="Image 0" descr="preencoded.png"/>
          <p:cNvPicPr>
            <a:picLocks noChangeAspect="1"/>
          </p:cNvPicPr>
          <p:nvPr/>
        </p:nvPicPr>
        <p:blipFill>
          <a:blip r:embed="rId1"/>
          <a:stretch>
            <a:fillRect/>
          </a:stretch>
        </p:blipFill>
        <p:spPr>
          <a:xfrm>
            <a:off x="941832" y="1901952"/>
            <a:ext cx="310896" cy="310896"/>
          </a:xfrm>
          <a:prstGeom prst="rect">
            <a:avLst/>
          </a:prstGeom>
        </p:spPr>
      </p:pic>
      <p:sp>
        <p:nvSpPr>
          <p:cNvPr id="7" name="Text 4"/>
          <p:cNvSpPr/>
          <p:nvPr/>
        </p:nvSpPr>
        <p:spPr>
          <a:xfrm>
            <a:off x="1508760" y="1783080"/>
            <a:ext cx="4754880" cy="548640"/>
          </a:xfrm>
          <a:prstGeom prst="rect">
            <a:avLst/>
          </a:prstGeom>
          <a:noFill/>
        </p:spPr>
        <p:txBody>
          <a:bodyPr wrap="square" lIns="0" tIns="0" rIns="0" bIns="0" rtlCol="0" anchor="ctr"/>
          <a:lstStyle/>
          <a:p>
            <a:pPr marL="0" indent="0">
              <a:buNone/>
            </a:pPr>
            <a:r>
              <a:rPr lang="en-US" sz="2000" b="1" dirty="0">
                <a:solidFill>
                  <a:srgbClr val="1E2530"/>
                </a:solidFill>
                <a:latin typeface="Cambria" panose="02040503050406030204" pitchFamily="34" charset="0"/>
                <a:ea typeface="Cambria" panose="02040503050406030204" pitchFamily="34" charset="-122"/>
                <a:cs typeface="Cambria" panose="02040503050406030204" pitchFamily="34" charset="-120"/>
              </a:rPr>
              <a:t>StubWithCallback</a:t>
            </a:r>
            <a:endParaRPr lang="en-US" sz="2000" dirty="0"/>
          </a:p>
        </p:txBody>
      </p:sp>
      <p:sp>
        <p:nvSpPr>
          <p:cNvPr id="8" name="Text 5"/>
          <p:cNvSpPr/>
          <p:nvPr/>
        </p:nvSpPr>
        <p:spPr>
          <a:xfrm>
            <a:off x="822960" y="2423160"/>
            <a:ext cx="5120640" cy="320040"/>
          </a:xfrm>
          <a:prstGeom prst="rect">
            <a:avLst/>
          </a:prstGeom>
          <a:noFill/>
        </p:spPr>
        <p:txBody>
          <a:bodyPr wrap="square" lIns="0" tIns="0" rIns="0" bIns="0" rtlCol="0" anchor="ctr"/>
          <a:lstStyle/>
          <a:p>
            <a:pPr marL="0" indent="0">
              <a:buNone/>
            </a:pPr>
            <a:r>
              <a:rPr lang="en-US" sz="1400" i="1" dirty="0">
                <a:solidFill>
                  <a:srgbClr val="5B6B79"/>
                </a:solidFill>
              </a:rPr>
              <a:t>Enabled by default</a:t>
            </a:r>
            <a:endParaRPr lang="en-US" sz="1400" dirty="0"/>
          </a:p>
        </p:txBody>
      </p:sp>
      <p:sp>
        <p:nvSpPr>
          <p:cNvPr id="9" name="Text 6"/>
          <p:cNvSpPr/>
          <p:nvPr/>
        </p:nvSpPr>
        <p:spPr>
          <a:xfrm>
            <a:off x="822960" y="2880360"/>
            <a:ext cx="5303520" cy="2926080"/>
          </a:xfrm>
          <a:prstGeom prst="rect">
            <a:avLst/>
          </a:prstGeom>
          <a:noFill/>
        </p:spPr>
        <p:txBody>
          <a:bodyPr wrap="square" lIns="0" tIns="0" rIns="0" bIns="0" rtlCol="0" anchor="ctr"/>
          <a:lstStyle/>
          <a:p>
            <a:pPr marL="177800" indent="-177800">
              <a:lnSpc>
                <a:spcPct val="115000"/>
              </a:lnSpc>
              <a:spcAft>
                <a:spcPts val="900"/>
              </a:spcAft>
              <a:buSzPct val="100000"/>
              <a:buChar char="•"/>
            </a:pPr>
            <a:r>
              <a:rPr lang="en-US" sz="1500" dirty="0">
                <a:solidFill>
                  <a:srgbClr val="1E2530"/>
                </a:solidFill>
                <a:latin typeface="Calibri" panose="020F0502020204030204" pitchFamily="34" charset="0"/>
                <a:ea typeface="Calibri" panose="020F0502020204030204" pitchFamily="34" charset="-122"/>
                <a:cs typeface="Calibri" panose="020F0502020204030204" pitchFamily="34" charset="-120"/>
              </a:rPr>
              <a:t>Register your own callback function to run in place of the mock</a:t>
            </a:r>
            <a:endParaRPr lang="en-US" sz="1500" dirty="0"/>
          </a:p>
          <a:p>
            <a:pPr marL="177800" indent="-177800">
              <a:lnSpc>
                <a:spcPct val="115000"/>
              </a:lnSpc>
              <a:spcAft>
                <a:spcPts val="900"/>
              </a:spcAft>
              <a:buSzPct val="100000"/>
              <a:buChar char="•"/>
            </a:pPr>
            <a:r>
              <a:rPr lang="en-US" sz="1500" dirty="0">
                <a:solidFill>
                  <a:srgbClr val="1E2530"/>
                </a:solidFill>
                <a:latin typeface="Calibri" panose="020F0502020204030204" pitchFamily="34" charset="0"/>
                <a:ea typeface="Calibri" panose="020F0502020204030204" pitchFamily="34" charset="-122"/>
                <a:cs typeface="Calibri" panose="020F0502020204030204" pitchFamily="34" charset="-120"/>
              </a:rPr>
              <a:t>Your callback signature = original function's args + an extra call_count parameter</a:t>
            </a:r>
            <a:endParaRPr lang="en-US" sz="1500" dirty="0"/>
          </a:p>
          <a:p>
            <a:pPr marL="177800" indent="-177800">
              <a:lnSpc>
                <a:spcPct val="115000"/>
              </a:lnSpc>
              <a:spcAft>
                <a:spcPts val="900"/>
              </a:spcAft>
              <a:buSzPct val="100000"/>
              <a:buChar char="•"/>
            </a:pPr>
            <a:r>
              <a:rPr lang="en-US" sz="1500" dirty="0">
                <a:solidFill>
                  <a:srgbClr val="1E2530"/>
                </a:solidFill>
                <a:latin typeface="Calibri" panose="020F0502020204030204" pitchFamily="34" charset="0"/>
                <a:ea typeface="Calibri" panose="020F0502020204030204" pitchFamily="34" charset="-122"/>
                <a:cs typeface="Calibri" panose="020F0502020204030204" pitchFamily="34" charset="-120"/>
              </a:rPr>
              <a:t>Whatever the callback returns is passed back to the code under test</a:t>
            </a:r>
            <a:endParaRPr lang="en-US" sz="1500" dirty="0"/>
          </a:p>
          <a:p>
            <a:pPr marL="177800" indent="-177800">
              <a:lnSpc>
                <a:spcPct val="115000"/>
              </a:lnSpc>
              <a:spcAft>
                <a:spcPts val="900"/>
              </a:spcAft>
              <a:buSzPct val="100000"/>
              <a:buChar char="•"/>
            </a:pPr>
            <a:r>
              <a:rPr lang="en-US" sz="1500" dirty="0">
                <a:solidFill>
                  <a:srgbClr val="1E2530"/>
                </a:solidFill>
                <a:latin typeface="Calibri" panose="020F0502020204030204" pitchFamily="34" charset="0"/>
                <a:ea typeface="Calibri" panose="020F0502020204030204" pitchFamily="34" charset="-122"/>
                <a:cs typeface="Calibri" panose="020F0502020204030204" pitchFamily="34" charset="-120"/>
              </a:rPr>
              <a:t>Best for conditional or multi-step mock behavior</a:t>
            </a:r>
            <a:endParaRPr lang="en-US" sz="1500" dirty="0"/>
          </a:p>
        </p:txBody>
      </p:sp>
      <p:sp>
        <p:nvSpPr>
          <p:cNvPr id="10" name="Shape 7"/>
          <p:cNvSpPr/>
          <p:nvPr/>
        </p:nvSpPr>
        <p:spPr>
          <a:xfrm>
            <a:off x="6720840" y="1554480"/>
            <a:ext cx="4892040" cy="4434840"/>
          </a:xfrm>
          <a:prstGeom prst="roundRect">
            <a:avLst>
              <a:gd name="adj" fmla="val 1856"/>
            </a:avLst>
          </a:prstGeom>
          <a:solidFill>
            <a:srgbClr val="1B2436"/>
          </a:solidFill>
        </p:spPr>
      </p:sp>
      <p:sp>
        <p:nvSpPr>
          <p:cNvPr id="11" name="Text 8"/>
          <p:cNvSpPr/>
          <p:nvPr/>
        </p:nvSpPr>
        <p:spPr>
          <a:xfrm>
            <a:off x="6995160" y="1737360"/>
            <a:ext cx="3657600" cy="365760"/>
          </a:xfrm>
          <a:prstGeom prst="rect">
            <a:avLst/>
          </a:prstGeom>
          <a:noFill/>
        </p:spPr>
        <p:txBody>
          <a:bodyPr wrap="square" lIns="0" tIns="0" rIns="0" bIns="0" rtlCol="0" anchor="ctr"/>
          <a:lstStyle/>
          <a:p>
            <a:pPr marL="0" indent="0">
              <a:buNone/>
            </a:pPr>
            <a:r>
              <a:rPr lang="en-US" sz="1600" b="1" dirty="0">
                <a:solidFill>
                  <a:srgbClr val="F2A93B"/>
                </a:solidFill>
                <a:latin typeface="Cambria" panose="02040503050406030204" pitchFamily="34" charset="0"/>
                <a:ea typeface="Cambria" panose="02040503050406030204" pitchFamily="34" charset="-122"/>
                <a:cs typeface="Cambria" panose="02040503050406030204" pitchFamily="34" charset="-120"/>
              </a:rPr>
              <a:t>Example</a:t>
            </a:r>
            <a:endParaRPr lang="en-US" sz="1600" dirty="0"/>
          </a:p>
        </p:txBody>
      </p:sp>
      <p:sp>
        <p:nvSpPr>
          <p:cNvPr id="12" name="Text 9"/>
          <p:cNvSpPr/>
          <p:nvPr/>
        </p:nvSpPr>
        <p:spPr>
          <a:xfrm>
            <a:off x="6995160" y="2148840"/>
            <a:ext cx="4434840" cy="3566160"/>
          </a:xfrm>
          <a:prstGeom prst="rect">
            <a:avLst/>
          </a:prstGeom>
          <a:noFill/>
        </p:spPr>
        <p:txBody>
          <a:bodyPr wrap="square" lIns="0" tIns="0" rIns="0" bIns="0" rtlCol="0" anchor="ctr"/>
          <a:lstStyle/>
          <a:p>
            <a:pPr marL="0" indent="0">
              <a:lnSpc>
                <a:spcPct val="125000"/>
              </a:lnSpc>
              <a:buNone/>
            </a:pPr>
            <a:r>
              <a:rPr lang="en-US" sz="130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int custom_cb(int gpio_num,</a:t>
            </a:r>
            <a:endParaRPr lang="en-US" sz="1300" dirty="0"/>
          </a:p>
          <a:p>
            <a:pPr marL="0" indent="0">
              <a:lnSpc>
                <a:spcPct val="125000"/>
              </a:lnSpc>
              <a:buNone/>
            </a:pPr>
            <a:r>
              <a:rPr lang="en-US" sz="130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              int call_count) {</a:t>
            </a:r>
            <a:endParaRPr lang="en-US" sz="1300" dirty="0"/>
          </a:p>
          <a:p>
            <a:pPr marL="0" indent="0">
              <a:lnSpc>
                <a:spcPct val="125000"/>
              </a:lnSpc>
              <a:buNone/>
            </a:pPr>
            <a:r>
              <a:rPr lang="en-US" sz="130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  if (gpio_num == 1) return gpio_num;</a:t>
            </a:r>
            <a:endParaRPr lang="en-US" sz="1300" dirty="0"/>
          </a:p>
          <a:p>
            <a:pPr marL="0" indent="0">
              <a:lnSpc>
                <a:spcPct val="125000"/>
              </a:lnSpc>
              <a:buNone/>
            </a:pPr>
            <a:r>
              <a:rPr lang="en-US" sz="130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  return 0;</a:t>
            </a:r>
            <a:endParaRPr lang="en-US" sz="1300" dirty="0"/>
          </a:p>
          <a:p>
            <a:pPr marL="0" indent="0">
              <a:lnSpc>
                <a:spcPct val="125000"/>
              </a:lnSpc>
              <a:buNone/>
            </a:pPr>
            <a:r>
              <a:rPr lang="en-US" sz="130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a:p>
            <a:pPr marL="0" indent="0">
              <a:lnSpc>
                <a:spcPct val="125000"/>
              </a:lnSpc>
              <a:buNone/>
            </a:pPr>
            <a:endParaRPr lang="en-US" sz="1300" dirty="0"/>
          </a:p>
          <a:p>
            <a:pPr marL="0" indent="0">
              <a:lnSpc>
                <a:spcPct val="125000"/>
              </a:lnSpc>
              <a:buNone/>
            </a:pPr>
            <a:r>
              <a:rPr lang="en-US" sz="130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void test_gpio(void) {</a:t>
            </a:r>
            <a:endParaRPr lang="en-US" sz="1300" dirty="0"/>
          </a:p>
          <a:p>
            <a:pPr marL="0" indent="0">
              <a:lnSpc>
                <a:spcPct val="125000"/>
              </a:lnSpc>
              <a:buNone/>
            </a:pPr>
            <a:r>
              <a:rPr lang="en-US" sz="130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  gpio_read_StubWithCallback(custom_cb);</a:t>
            </a:r>
            <a:endParaRPr lang="en-US" sz="1300" dirty="0"/>
          </a:p>
          <a:p>
            <a:pPr marL="0" indent="0">
              <a:lnSpc>
                <a:spcPct val="125000"/>
              </a:lnSpc>
              <a:buNone/>
            </a:pPr>
            <a:r>
              <a:rPr lang="en-US" sz="130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  Test_gpio();</a:t>
            </a:r>
            <a:endParaRPr lang="en-US" sz="1300" dirty="0"/>
          </a:p>
          <a:p>
            <a:pPr marL="0" indent="0">
              <a:lnSpc>
                <a:spcPct val="125000"/>
              </a:lnSpc>
              <a:buNone/>
            </a:pPr>
            <a:r>
              <a:rPr lang="en-US" sz="1300" dirty="0">
                <a:solidFill>
                  <a:srgbClr val="DCE6F5"/>
                </a:solidFill>
                <a:latin typeface="Courier New" panose="02070309020205020404" pitchFamily="34" charset="0"/>
                <a:ea typeface="Courier New" panose="02070309020205020404" pitchFamily="34" charset="-122"/>
                <a:cs typeface="Courier New" panose="02070309020205020404" pitchFamily="34" charset="-120"/>
              </a:rPr>
              <a:t>}</a:t>
            </a:r>
            <a:endParaRPr lang="en-US" sz="1300" dirty="0"/>
          </a:p>
        </p:txBody>
      </p:sp>
      <p:sp>
        <p:nvSpPr>
          <p:cNvPr id="13" name="Text 10"/>
          <p:cNvSpPr/>
          <p:nvPr/>
        </p:nvSpPr>
        <p:spPr>
          <a:xfrm>
            <a:off x="457200" y="6473952"/>
            <a:ext cx="5486400" cy="274320"/>
          </a:xfrm>
          <a:prstGeom prst="rect">
            <a:avLst/>
          </a:prstGeom>
          <a:noFill/>
        </p:spPr>
        <p:txBody>
          <a:bodyPr wrap="square" lIns="0" tIns="0" rIns="0" bIns="0" rtlCol="0" anchor="ctr"/>
          <a:lstStyle/>
          <a:p>
            <a:pPr marL="0" indent="0" algn="l">
              <a:buNone/>
            </a:pPr>
            <a:r>
              <a:rPr lang="en-US" sz="1050" dirty="0">
                <a:solidFill>
                  <a:srgbClr val="5B6B79"/>
                </a:solidFill>
                <a:latin typeface="Calibri" panose="020F0502020204030204" pitchFamily="34" charset="0"/>
                <a:ea typeface="Calibri" panose="020F0502020204030204" pitchFamily="34" charset="-122"/>
                <a:cs typeface="Calibri" panose="020F0502020204030204" pitchFamily="34" charset="-120"/>
              </a:rPr>
              <a:t>Mocking in Embedded C  |  CMock</a:t>
            </a:r>
            <a:endParaRPr lang="en-US" sz="1050" dirty="0"/>
          </a:p>
        </p:txBody>
      </p:sp>
      <p:sp>
        <p:nvSpPr>
          <p:cNvPr id="14" name="Text 11"/>
          <p:cNvSpPr/>
          <p:nvPr/>
        </p:nvSpPr>
        <p:spPr>
          <a:xfrm>
            <a:off x="11247120" y="6473952"/>
            <a:ext cx="457200" cy="274320"/>
          </a:xfrm>
          <a:prstGeom prst="rect">
            <a:avLst/>
          </a:prstGeom>
          <a:noFill/>
        </p:spPr>
        <p:txBody>
          <a:bodyPr wrap="square" lIns="0" tIns="0" rIns="0" bIns="0" rtlCol="0" anchor="ctr"/>
          <a:lstStyle/>
          <a:p>
            <a:pPr marL="0" indent="0" algn="r">
              <a:buNone/>
            </a:pPr>
            <a:r>
              <a:rPr lang="en-US" sz="1050" dirty="0">
                <a:solidFill>
                  <a:srgbClr val="5B6B79"/>
                </a:solidFill>
                <a:latin typeface="Calibri" panose="020F0502020204030204" pitchFamily="34" charset="0"/>
                <a:ea typeface="Calibri" panose="020F0502020204030204" pitchFamily="34" charset="-122"/>
                <a:cs typeface="Calibri" panose="020F0502020204030204" pitchFamily="34" charset="-120"/>
              </a:rPr>
              <a:t>11</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01320" y="249555"/>
            <a:ext cx="11174095" cy="6162675"/>
          </a:xfrm>
          <a:prstGeom prst="rect">
            <a:avLst/>
          </a:prstGeom>
          <a:noFill/>
        </p:spPr>
        <p:txBody>
          <a:bodyPr wrap="square" rtlCol="0">
            <a:noAutofit/>
          </a:bodyPr>
          <a:p>
            <a:r>
              <a:rPr lang="en-IN" altLang="en-US" b="1"/>
              <a:t>CallBack</a:t>
            </a:r>
            <a:endParaRPr lang="en-IN" altLang="en-US" b="1"/>
          </a:p>
          <a:p>
            <a:endParaRPr lang="en-IN" altLang="en-US" b="1"/>
          </a:p>
          <a:p>
            <a:endParaRPr lang="en-IN" altLang="en-US" b="1"/>
          </a:p>
          <a:p>
            <a:endParaRPr lang="en-IN" altLang="en-US" b="1"/>
          </a:p>
          <a:p>
            <a:endParaRPr lang="en-IN" altLang="en-US" b="1"/>
          </a:p>
          <a:p>
            <a:endParaRPr lang="en-IN" altLang="en-US" b="1"/>
          </a:p>
          <a:p>
            <a:endParaRPr lang="en-IN" altLang="en-US" b="1"/>
          </a:p>
          <a:p>
            <a:endParaRPr lang="en-IN" altLang="en-US" b="1"/>
          </a:p>
          <a:p>
            <a:endParaRPr lang="en-IN" altLang="en-US" b="1"/>
          </a:p>
          <a:p>
            <a:endParaRPr lang="en-IN" altLang="en-US" b="1"/>
          </a:p>
          <a:p>
            <a:endParaRPr lang="en-IN" altLang="en-US" b="1"/>
          </a:p>
          <a:p>
            <a:endParaRPr lang="en-IN" altLang="en-US" b="1"/>
          </a:p>
          <a:p>
            <a:r>
              <a:rPr lang="en-US" altLang="en-US"/>
              <a:t>So if you have a function that looks like this:</a:t>
            </a:r>
            <a:br>
              <a:rPr lang="en-US" altLang="en-US"/>
            </a:br>
            <a:br>
              <a:rPr lang="en-US" altLang="en-US"/>
            </a:br>
            <a:r>
              <a:rPr lang="en-US" altLang="en-US"/>
              <a:t>bool org_function (uint8_t a_value);</a:t>
            </a:r>
            <a:endParaRPr lang="en-US" altLang="en-US"/>
          </a:p>
          <a:p>
            <a:endParaRPr lang="en-US" altLang="en-US"/>
          </a:p>
          <a:p>
            <a:r>
              <a:rPr lang="en-US" altLang="en-US"/>
              <a:t>Your callback function needs to look like this:</a:t>
            </a:r>
            <a:endParaRPr lang="en-US" altLang="en-US"/>
          </a:p>
          <a:p>
            <a:endParaRPr lang="en-US" altLang="en-US"/>
          </a:p>
          <a:p>
            <a:r>
              <a:rPr lang="en-US" altLang="en-US"/>
              <a:t>bool callback_function_mock (uint8_t a_value, int call_count);</a:t>
            </a:r>
            <a:endParaRPr lang="en-US" altLang="en-US"/>
          </a:p>
          <a:p>
            <a:endParaRPr lang="en-US" altLang="en-US"/>
          </a:p>
          <a:p>
            <a:r>
              <a:rPr lang="en-US" altLang="en-US"/>
              <a:t>You need to provide one more extra argument like the above. That will be used to track how many times the callback is called.</a:t>
            </a:r>
            <a:endParaRPr lang="en-US" altLang="en-US"/>
          </a:p>
        </p:txBody>
      </p:sp>
      <p:pic>
        <p:nvPicPr>
          <p:cNvPr id="3" name="Picture 2"/>
          <p:cNvPicPr>
            <a:picLocks noChangeAspect="1"/>
          </p:cNvPicPr>
          <p:nvPr/>
        </p:nvPicPr>
        <p:blipFill>
          <a:blip r:embed="rId1"/>
          <a:stretch>
            <a:fillRect/>
          </a:stretch>
        </p:blipFill>
        <p:spPr>
          <a:xfrm>
            <a:off x="659130" y="890270"/>
            <a:ext cx="9777095" cy="224472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64795" y="449580"/>
            <a:ext cx="11689715" cy="6011545"/>
          </a:xfrm>
          <a:prstGeom prst="rect">
            <a:avLst/>
          </a:prstGeom>
          <a:noFill/>
        </p:spPr>
        <p:txBody>
          <a:bodyPr wrap="square" rtlCol="0">
            <a:noAutofit/>
          </a:bodyPr>
          <a:p>
            <a:r>
              <a:rPr lang="en-US" altLang="en-US"/>
              <a:t>Note: The name of the callback function can be anything. But it should not match with original name.Whatever you return from your callback is what is provided to the calling function during your test — just like the custom callback was called instead of the mock function.</a:t>
            </a:r>
            <a:endParaRPr lang="en-US" altLang="en-US"/>
          </a:p>
          <a:p>
            <a:endParaRPr lang="en-US" altLang="en-US"/>
          </a:p>
          <a:p>
            <a:r>
              <a:rPr lang="en-US" altLang="en-US"/>
              <a:t>You will understand that better way If you see the example below.</a:t>
            </a:r>
            <a:endParaRPr lang="en-US" altLang="en-US"/>
          </a:p>
          <a:p>
            <a:endParaRPr lang="en-US" altLang="en-US"/>
          </a:p>
          <a:p>
            <a:r>
              <a:rPr lang="en-US" altLang="en-US"/>
              <a:t>Example:</a:t>
            </a:r>
            <a:endParaRPr lang="en-US" altLang="en-US"/>
          </a:p>
          <a:p>
            <a:endParaRPr lang="en-US" altLang="en-US"/>
          </a:p>
          <a:p>
            <a:r>
              <a:rPr lang="en-US" altLang="en-US"/>
              <a:t>Let’s assume I am going to test this function.</a:t>
            </a:r>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r>
              <a:rPr lang="en-US" altLang="en-US"/>
              <a:t>Here, gpio_read() takes one argument which is gpio number. To test this case we are going to create the custom callback and register that using gpio_read_StubWithCallback. </a:t>
            </a:r>
            <a:endParaRPr lang="en-US" altLang="en-US"/>
          </a:p>
        </p:txBody>
      </p:sp>
      <p:pic>
        <p:nvPicPr>
          <p:cNvPr id="3" name="Picture 2"/>
          <p:cNvPicPr>
            <a:picLocks noChangeAspect="1"/>
          </p:cNvPicPr>
          <p:nvPr/>
        </p:nvPicPr>
        <p:blipFill>
          <a:blip r:embed="rId1"/>
          <a:stretch>
            <a:fillRect/>
          </a:stretch>
        </p:blipFill>
        <p:spPr>
          <a:xfrm>
            <a:off x="814705" y="3232785"/>
            <a:ext cx="8363585" cy="154178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95935" y="379730"/>
            <a:ext cx="11258550" cy="6229985"/>
          </a:xfrm>
          <a:prstGeom prst="rect">
            <a:avLst/>
          </a:prstGeom>
          <a:noFill/>
        </p:spPr>
        <p:txBody>
          <a:bodyPr wrap="square" rtlCol="0">
            <a:noAutofit/>
          </a:bodyPr>
          <a:p>
            <a:r>
              <a:rPr lang="en-US" altLang="en-US"/>
              <a:t>So this callback function will be called when you call the gpio_read function in the code. That custom callback function should match with the original function of arg and return type.</a:t>
            </a:r>
            <a:endParaRPr lang="en-US" altLang="en-US"/>
          </a:p>
          <a:p>
            <a:endParaRPr lang="en-US" altLang="en-US"/>
          </a:p>
          <a:p>
            <a:r>
              <a:rPr lang="en-US" altLang="en-US"/>
              <a:t>The test case will be as below.</a:t>
            </a:r>
            <a:endParaRPr lang="en-US" altLang="en-US"/>
          </a:p>
          <a:p>
            <a:endParaRPr lang="en-US" altLang="en-US"/>
          </a:p>
          <a:p>
            <a:endParaRPr lang="en-US" altLang="en-US"/>
          </a:p>
        </p:txBody>
      </p:sp>
      <p:pic>
        <p:nvPicPr>
          <p:cNvPr id="3" name="Picture 2"/>
          <p:cNvPicPr>
            <a:picLocks noChangeAspect="1"/>
          </p:cNvPicPr>
          <p:nvPr/>
        </p:nvPicPr>
        <p:blipFill>
          <a:blip r:embed="rId1"/>
          <a:stretch>
            <a:fillRect/>
          </a:stretch>
        </p:blipFill>
        <p:spPr>
          <a:xfrm>
            <a:off x="594995" y="1821180"/>
            <a:ext cx="10076180" cy="385445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065A82">
              <a:alpha val="45000"/>
            </a:srgbClr>
          </a:solidFill>
        </p:spPr>
      </p:sp>
      <p:pic>
        <p:nvPicPr>
          <p:cNvPr id="3" name="Image 0" descr="preencoded.png"/>
          <p:cNvPicPr>
            <a:picLocks noChangeAspect="1"/>
          </p:cNvPicPr>
          <p:nvPr/>
        </p:nvPicPr>
        <p:blipFill>
          <a:blip r:embed="rId1"/>
          <a:stretch>
            <a:fillRect/>
          </a:stretch>
        </p:blipFill>
        <p:spPr>
          <a:xfrm>
            <a:off x="640080" y="640080"/>
            <a:ext cx="502920" cy="502920"/>
          </a:xfrm>
          <a:prstGeom prst="rect">
            <a:avLst/>
          </a:prstGeom>
        </p:spPr>
      </p:pic>
      <p:sp>
        <p:nvSpPr>
          <p:cNvPr id="4" name="Text 1"/>
          <p:cNvSpPr/>
          <p:nvPr/>
        </p:nvSpPr>
        <p:spPr>
          <a:xfrm>
            <a:off x="1280160" y="640080"/>
            <a:ext cx="5486400" cy="502920"/>
          </a:xfrm>
          <a:prstGeom prst="rect">
            <a:avLst/>
          </a:prstGeom>
          <a:noFill/>
        </p:spPr>
        <p:txBody>
          <a:bodyPr wrap="square" lIns="0" tIns="0" rIns="0" bIns="0" rtlCol="0" anchor="ctr"/>
          <a:lstStyle/>
          <a:p>
            <a:pPr marL="0" indent="0">
              <a:buNone/>
            </a:pPr>
            <a:r>
              <a:rPr lang="en-US" sz="1500" b="1" kern="0" spc="200" dirty="0">
                <a:solidFill>
                  <a:srgbClr val="F2A93B"/>
                </a:solidFill>
                <a:latin typeface="Calibri" panose="020F0502020204030204" pitchFamily="34" charset="0"/>
                <a:ea typeface="Calibri" panose="020F0502020204030204" pitchFamily="34" charset="-122"/>
                <a:cs typeface="Calibri" panose="020F0502020204030204" pitchFamily="34" charset="-120"/>
              </a:rPr>
              <a:t>KEY TAKEAWAYS</a:t>
            </a:r>
            <a:endParaRPr lang="en-US" sz="1500" dirty="0"/>
          </a:p>
        </p:txBody>
      </p:sp>
      <p:sp>
        <p:nvSpPr>
          <p:cNvPr id="5" name="Text 2"/>
          <p:cNvSpPr/>
          <p:nvPr/>
        </p:nvSpPr>
        <p:spPr>
          <a:xfrm>
            <a:off x="640080" y="1188720"/>
            <a:ext cx="10058400" cy="73152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Mocking with CMock, in Short</a:t>
            </a:r>
            <a:endParaRPr lang="en-US" sz="3400" dirty="0"/>
          </a:p>
        </p:txBody>
      </p:sp>
      <p:sp>
        <p:nvSpPr>
          <p:cNvPr id="6" name="Shape 3"/>
          <p:cNvSpPr/>
          <p:nvPr/>
        </p:nvSpPr>
        <p:spPr>
          <a:xfrm>
            <a:off x="640080" y="2286000"/>
            <a:ext cx="10881360" cy="822960"/>
          </a:xfrm>
          <a:prstGeom prst="roundRect">
            <a:avLst>
              <a:gd name="adj" fmla="val 8889"/>
            </a:avLst>
          </a:prstGeom>
          <a:solidFill>
            <a:srgbClr val="FFFFFF">
              <a:alpha val="8000"/>
            </a:srgbClr>
          </a:solidFill>
        </p:spPr>
      </p:sp>
      <p:sp>
        <p:nvSpPr>
          <p:cNvPr id="7" name="Shape 4"/>
          <p:cNvSpPr/>
          <p:nvPr/>
        </p:nvSpPr>
        <p:spPr>
          <a:xfrm>
            <a:off x="868680" y="2468880"/>
            <a:ext cx="457200" cy="457200"/>
          </a:xfrm>
          <a:prstGeom prst="ellipse">
            <a:avLst/>
          </a:prstGeom>
          <a:solidFill>
            <a:srgbClr val="1C7293"/>
          </a:solidFill>
        </p:spPr>
      </p:sp>
      <p:pic>
        <p:nvPicPr>
          <p:cNvPr id="8" name="Image 1" descr="preencoded.png"/>
          <p:cNvPicPr>
            <a:picLocks noChangeAspect="1"/>
          </p:cNvPicPr>
          <p:nvPr/>
        </p:nvPicPr>
        <p:blipFill>
          <a:blip r:embed="rId2"/>
          <a:stretch>
            <a:fillRect/>
          </a:stretch>
        </p:blipFill>
        <p:spPr>
          <a:xfrm>
            <a:off x="978408" y="2578608"/>
            <a:ext cx="237744" cy="237744"/>
          </a:xfrm>
          <a:prstGeom prst="rect">
            <a:avLst/>
          </a:prstGeom>
        </p:spPr>
      </p:pic>
      <p:sp>
        <p:nvSpPr>
          <p:cNvPr id="9" name="Text 5"/>
          <p:cNvSpPr/>
          <p:nvPr/>
        </p:nvSpPr>
        <p:spPr>
          <a:xfrm>
            <a:off x="1600200" y="2286000"/>
            <a:ext cx="9738360" cy="822960"/>
          </a:xfrm>
          <a:prstGeom prst="rect">
            <a:avLst/>
          </a:prstGeom>
          <a:noFill/>
        </p:spPr>
        <p:txBody>
          <a:bodyPr wrap="square" lIns="0" tIns="0" rIns="0" bIns="0" rtlCol="0" anchor="ctr"/>
          <a:lstStyle/>
          <a:p>
            <a:pPr marL="0" indent="0">
              <a:buNone/>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Mocking isolates the code under test by replacing real dependencies with controlled fakes</a:t>
            </a:r>
            <a:endParaRPr lang="en-US" sz="1600" dirty="0"/>
          </a:p>
        </p:txBody>
      </p:sp>
      <p:sp>
        <p:nvSpPr>
          <p:cNvPr id="10" name="Shape 6"/>
          <p:cNvSpPr/>
          <p:nvPr/>
        </p:nvSpPr>
        <p:spPr>
          <a:xfrm>
            <a:off x="640080" y="3273552"/>
            <a:ext cx="10881360" cy="822960"/>
          </a:xfrm>
          <a:prstGeom prst="roundRect">
            <a:avLst>
              <a:gd name="adj" fmla="val 8889"/>
            </a:avLst>
          </a:prstGeom>
          <a:solidFill>
            <a:srgbClr val="FFFFFF">
              <a:alpha val="8000"/>
            </a:srgbClr>
          </a:solidFill>
        </p:spPr>
      </p:sp>
      <p:sp>
        <p:nvSpPr>
          <p:cNvPr id="11" name="Shape 7"/>
          <p:cNvSpPr/>
          <p:nvPr/>
        </p:nvSpPr>
        <p:spPr>
          <a:xfrm>
            <a:off x="868680" y="3456432"/>
            <a:ext cx="457200" cy="457200"/>
          </a:xfrm>
          <a:prstGeom prst="ellipse">
            <a:avLst/>
          </a:prstGeom>
          <a:solidFill>
            <a:srgbClr val="1C7293"/>
          </a:solidFill>
        </p:spPr>
      </p:sp>
      <p:pic>
        <p:nvPicPr>
          <p:cNvPr id="12" name="Image 2" descr="preencoded.png"/>
          <p:cNvPicPr>
            <a:picLocks noChangeAspect="1"/>
          </p:cNvPicPr>
          <p:nvPr/>
        </p:nvPicPr>
        <p:blipFill>
          <a:blip r:embed="rId2"/>
          <a:stretch>
            <a:fillRect/>
          </a:stretch>
        </p:blipFill>
        <p:spPr>
          <a:xfrm>
            <a:off x="978408" y="3566160"/>
            <a:ext cx="237744" cy="237744"/>
          </a:xfrm>
          <a:prstGeom prst="rect">
            <a:avLst/>
          </a:prstGeom>
        </p:spPr>
      </p:pic>
      <p:sp>
        <p:nvSpPr>
          <p:cNvPr id="13" name="Text 8"/>
          <p:cNvSpPr/>
          <p:nvPr/>
        </p:nvSpPr>
        <p:spPr>
          <a:xfrm>
            <a:off x="1600200" y="3273552"/>
            <a:ext cx="9738360" cy="822960"/>
          </a:xfrm>
          <a:prstGeom prst="rect">
            <a:avLst/>
          </a:prstGeom>
          <a:noFill/>
        </p:spPr>
        <p:txBody>
          <a:bodyPr wrap="square" lIns="0" tIns="0" rIns="0" bIns="0" rtlCol="0" anchor="ctr"/>
          <a:lstStyle/>
          <a:p>
            <a:pPr marL="0" indent="0">
              <a:buNone/>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CMock auto-generates mocks straight from your header files — just #include "mock_x.h"</a:t>
            </a:r>
            <a:endParaRPr lang="en-US" sz="1600" dirty="0"/>
          </a:p>
        </p:txBody>
      </p:sp>
      <p:sp>
        <p:nvSpPr>
          <p:cNvPr id="14" name="Shape 9"/>
          <p:cNvSpPr/>
          <p:nvPr/>
        </p:nvSpPr>
        <p:spPr>
          <a:xfrm>
            <a:off x="640080" y="4261104"/>
            <a:ext cx="10881360" cy="822960"/>
          </a:xfrm>
          <a:prstGeom prst="roundRect">
            <a:avLst>
              <a:gd name="adj" fmla="val 8889"/>
            </a:avLst>
          </a:prstGeom>
          <a:solidFill>
            <a:srgbClr val="FFFFFF">
              <a:alpha val="8000"/>
            </a:srgbClr>
          </a:solidFill>
        </p:spPr>
      </p:sp>
      <p:sp>
        <p:nvSpPr>
          <p:cNvPr id="15" name="Shape 10"/>
          <p:cNvSpPr/>
          <p:nvPr/>
        </p:nvSpPr>
        <p:spPr>
          <a:xfrm>
            <a:off x="868680" y="4443984"/>
            <a:ext cx="457200" cy="457200"/>
          </a:xfrm>
          <a:prstGeom prst="ellipse">
            <a:avLst/>
          </a:prstGeom>
          <a:solidFill>
            <a:srgbClr val="1C7293"/>
          </a:solidFill>
        </p:spPr>
      </p:sp>
      <p:pic>
        <p:nvPicPr>
          <p:cNvPr id="16" name="Image 3" descr="preencoded.png"/>
          <p:cNvPicPr>
            <a:picLocks noChangeAspect="1"/>
          </p:cNvPicPr>
          <p:nvPr/>
        </p:nvPicPr>
        <p:blipFill>
          <a:blip r:embed="rId2"/>
          <a:stretch>
            <a:fillRect/>
          </a:stretch>
        </p:blipFill>
        <p:spPr>
          <a:xfrm>
            <a:off x="978408" y="4553712"/>
            <a:ext cx="237744" cy="237744"/>
          </a:xfrm>
          <a:prstGeom prst="rect">
            <a:avLst/>
          </a:prstGeom>
        </p:spPr>
      </p:pic>
      <p:sp>
        <p:nvSpPr>
          <p:cNvPr id="17" name="Text 11"/>
          <p:cNvSpPr/>
          <p:nvPr/>
        </p:nvSpPr>
        <p:spPr>
          <a:xfrm>
            <a:off x="1600200" y="4261104"/>
            <a:ext cx="9738360" cy="822960"/>
          </a:xfrm>
          <a:prstGeom prst="rect">
            <a:avLst/>
          </a:prstGeom>
          <a:noFill/>
        </p:spPr>
        <p:txBody>
          <a:bodyPr wrap="square" lIns="0" tIns="0" rIns="0" bIns="0" rtlCol="0" anchor="ctr"/>
          <a:lstStyle/>
          <a:p>
            <a:pPr marL="0" indent="0">
              <a:buNone/>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Six variants cover every need: Expect, Ignore Arguments, Array, Ignore, ReturnThruPtr, Callback</a:t>
            </a:r>
            <a:endParaRPr lang="en-US" sz="1600" dirty="0"/>
          </a:p>
        </p:txBody>
      </p:sp>
      <p:sp>
        <p:nvSpPr>
          <p:cNvPr id="18" name="Shape 12"/>
          <p:cNvSpPr/>
          <p:nvPr/>
        </p:nvSpPr>
        <p:spPr>
          <a:xfrm>
            <a:off x="640080" y="5248656"/>
            <a:ext cx="10881360" cy="822960"/>
          </a:xfrm>
          <a:prstGeom prst="roundRect">
            <a:avLst>
              <a:gd name="adj" fmla="val 8889"/>
            </a:avLst>
          </a:prstGeom>
          <a:solidFill>
            <a:srgbClr val="FFFFFF">
              <a:alpha val="8000"/>
            </a:srgbClr>
          </a:solidFill>
        </p:spPr>
      </p:sp>
      <p:sp>
        <p:nvSpPr>
          <p:cNvPr id="19" name="Shape 13"/>
          <p:cNvSpPr/>
          <p:nvPr/>
        </p:nvSpPr>
        <p:spPr>
          <a:xfrm>
            <a:off x="868680" y="5431536"/>
            <a:ext cx="457200" cy="457200"/>
          </a:xfrm>
          <a:prstGeom prst="ellipse">
            <a:avLst/>
          </a:prstGeom>
          <a:solidFill>
            <a:srgbClr val="1C7293"/>
          </a:solidFill>
        </p:spPr>
      </p:sp>
      <p:pic>
        <p:nvPicPr>
          <p:cNvPr id="20" name="Image 4" descr="preencoded.png"/>
          <p:cNvPicPr>
            <a:picLocks noChangeAspect="1"/>
          </p:cNvPicPr>
          <p:nvPr/>
        </p:nvPicPr>
        <p:blipFill>
          <a:blip r:embed="rId2"/>
          <a:stretch>
            <a:fillRect/>
          </a:stretch>
        </p:blipFill>
        <p:spPr>
          <a:xfrm>
            <a:off x="978408" y="5541264"/>
            <a:ext cx="237744" cy="237744"/>
          </a:xfrm>
          <a:prstGeom prst="rect">
            <a:avLst/>
          </a:prstGeom>
        </p:spPr>
      </p:pic>
      <p:sp>
        <p:nvSpPr>
          <p:cNvPr id="21" name="Text 14"/>
          <p:cNvSpPr/>
          <p:nvPr/>
        </p:nvSpPr>
        <p:spPr>
          <a:xfrm>
            <a:off x="1600200" y="5248656"/>
            <a:ext cx="9738360" cy="822960"/>
          </a:xfrm>
          <a:prstGeom prst="rect">
            <a:avLst/>
          </a:prstGeom>
          <a:noFill/>
        </p:spPr>
        <p:txBody>
          <a:bodyPr wrap="square" lIns="0" tIns="0" rIns="0" bIns="0" rtlCol="0" anchor="ctr"/>
          <a:lstStyle/>
          <a:p>
            <a:pPr marL="0" indent="0">
              <a:buNone/>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Goal: use these mocks to drive your unit tests toward 100% code coverage</a:t>
            </a:r>
            <a:endParaRPr lang="en-US" sz="1600" dirty="0"/>
          </a:p>
        </p:txBody>
      </p:sp>
      <p:sp>
        <p:nvSpPr>
          <p:cNvPr id="22" name="Text 15"/>
          <p:cNvSpPr/>
          <p:nvPr/>
        </p:nvSpPr>
        <p:spPr>
          <a:xfrm>
            <a:off x="640080" y="6263640"/>
            <a:ext cx="9144000" cy="320040"/>
          </a:xfrm>
          <a:prstGeom prst="rect">
            <a:avLst/>
          </a:prstGeom>
          <a:noFill/>
        </p:spPr>
        <p:txBody>
          <a:bodyPr wrap="square" lIns="0" tIns="0" rIns="0" bIns="0" rtlCol="0" anchor="ctr"/>
          <a:lstStyle/>
          <a:p>
            <a:pPr marL="0" indent="0">
              <a:buNone/>
            </a:pPr>
            <a:r>
              <a:rPr lang="en-US" sz="1250" dirty="0">
                <a:solidFill>
                  <a:srgbClr val="9FB3D6"/>
                </a:solidFill>
                <a:latin typeface="Calibri" panose="020F0502020204030204" pitchFamily="34" charset="0"/>
                <a:ea typeface="Calibri" panose="020F0502020204030204" pitchFamily="34" charset="-122"/>
                <a:cs typeface="Calibri" panose="020F0502020204030204" pitchFamily="34" charset="-120"/>
              </a:rPr>
              <a:t>Source: EmbeTronicX — “Unit Testing in C: Mock using CMock in Embedded”</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15092</Words>
  <Application>WPS Presentation</Application>
  <PresentationFormat>On-screen Show (16:9)</PresentationFormat>
  <Paragraphs>704</Paragraphs>
  <Slides>38</Slides>
  <Notes>12</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38</vt:i4>
      </vt:variant>
    </vt:vector>
  </HeadingPairs>
  <TitlesOfParts>
    <vt:vector size="56" baseType="lpstr">
      <vt:lpstr>Arial</vt:lpstr>
      <vt:lpstr>SimSun</vt:lpstr>
      <vt:lpstr>Wingdings</vt:lpstr>
      <vt:lpstr>Calibri</vt:lpstr>
      <vt:lpstr>Calibri</vt:lpstr>
      <vt:lpstr>Calibri</vt:lpstr>
      <vt:lpstr>Cambria</vt:lpstr>
      <vt:lpstr>Cambria</vt:lpstr>
      <vt:lpstr>Cambria</vt:lpstr>
      <vt:lpstr>Courier New</vt:lpstr>
      <vt:lpstr>Courier New</vt:lpstr>
      <vt:lpstr>Courier New</vt:lpstr>
      <vt:lpstr>Microsoft YaHei</vt:lpstr>
      <vt:lpstr>Arial Unicode MS</vt:lpstr>
      <vt:lpstr>Calibri Light</vt:lpstr>
      <vt:lpstr>Times New Roman</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Mocking in Embedded C using CMock</dc:title>
  <dc:creator>EmbeTronicX Study Notes</dc:creator>
  <dc:subject>PptxGenJS Presentation</dc:subject>
  <cp:lastModifiedBy>Indira Priyadharshini</cp:lastModifiedBy>
  <cp:revision>4</cp:revision>
  <dcterms:created xsi:type="dcterms:W3CDTF">2026-07-01T05:32:00Z</dcterms:created>
  <dcterms:modified xsi:type="dcterms:W3CDTF">2026-07-01T07:27:15Z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A6171FD8AD1845D6905E994605A0F685_12</vt:lpwstr>
  </property>
  <property fmtid="{D5CDD505-2E9C-101B-9397-08002B2CF9AE}" pid="3" name="KSOProductBuildVer">
    <vt:lpwstr>1033-12.1.0.26880</vt:lpwstr>
  </property>
</Properties>
</file>